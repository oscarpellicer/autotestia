
<file path=[Content_Types].xml><?xml version="1.0" encoding="utf-8"?>
<Types xmlns="http://schemas.openxmlformats.org/package/2006/content-types">
  <Default Extension="docx" ContentType="application/vnd.openxmlformats-officedocument.wordprocessingml.documen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94" r:id="rId4"/>
    <p:sldId id="258" r:id="rId5"/>
    <p:sldId id="259" r:id="rId6"/>
    <p:sldId id="260" r:id="rId7"/>
    <p:sldId id="261" r:id="rId8"/>
    <p:sldId id="262" r:id="rId9"/>
    <p:sldId id="301" r:id="rId10"/>
    <p:sldId id="263" r:id="rId11"/>
    <p:sldId id="264" r:id="rId12"/>
    <p:sldId id="265" r:id="rId13"/>
    <p:sldId id="266" r:id="rId14"/>
    <p:sldId id="267" r:id="rId15"/>
    <p:sldId id="268" r:id="rId16"/>
    <p:sldId id="269" r:id="rId17"/>
    <p:sldId id="300" r:id="rId18"/>
    <p:sldId id="271" r:id="rId19"/>
    <p:sldId id="272" r:id="rId20"/>
    <p:sldId id="273" r:id="rId21"/>
    <p:sldId id="281" r:id="rId22"/>
    <p:sldId id="274" r:id="rId23"/>
    <p:sldId id="275" r:id="rId24"/>
    <p:sldId id="298" r:id="rId25"/>
    <p:sldId id="277" r:id="rId26"/>
    <p:sldId id="278" r:id="rId27"/>
    <p:sldId id="279" r:id="rId28"/>
    <p:sldId id="280" r:id="rId29"/>
    <p:sldId id="282" r:id="rId30"/>
    <p:sldId id="284" r:id="rId31"/>
    <p:sldId id="285" r:id="rId32"/>
    <p:sldId id="297" r:id="rId33"/>
    <p:sldId id="295" r:id="rId34"/>
    <p:sldId id="286" r:id="rId35"/>
    <p:sldId id="283" r:id="rId36"/>
    <p:sldId id="287" r:id="rId37"/>
    <p:sldId id="296" r:id="rId38"/>
    <p:sldId id="288" r:id="rId39"/>
    <p:sldId id="289" r:id="rId40"/>
    <p:sldId id="290" r:id="rId41"/>
    <p:sldId id="291" r:id="rId42"/>
    <p:sldId id="292" r:id="rId43"/>
    <p:sldId id="293"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E910F2-7112-4805-A401-9DA72798B6D0}" v="4" dt="2025-03-09T20:05:46.37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79" autoAdjust="0"/>
    <p:restoredTop sz="94660"/>
  </p:normalViewPr>
  <p:slideViewPr>
    <p:cSldViewPr>
      <p:cViewPr varScale="1">
        <p:scale>
          <a:sx n="148" d="100"/>
          <a:sy n="148" d="100"/>
        </p:scale>
        <p:origin x="2220" y="150"/>
      </p:cViewPr>
      <p:guideLst>
        <p:guide orient="horz" pos="2160"/>
        <p:guide pos="2880"/>
      </p:guideLst>
    </p:cSldViewPr>
  </p:slideViewPr>
  <p:notesTextViewPr>
    <p:cViewPr>
      <p:scale>
        <a:sx n="1" d="1"/>
        <a:sy n="1" d="1"/>
      </p:scale>
      <p:origin x="0" y="0"/>
    </p:cViewPr>
  </p:notesTextViewPr>
  <p:sorterViewPr>
    <p:cViewPr>
      <p:scale>
        <a:sx n="100" d="100"/>
        <a:sy n="100" d="100"/>
      </p:scale>
      <p:origin x="0" y="-168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ac.Suarez@uv.es" userId="3e4bb9f1-952d-4d13-9b2e-21f04a21d71c" providerId="ADAL" clId="{42813116-537C-43AF-9ABF-4C91FBE3EAD6}"/>
    <pc:docChg chg="undo custSel addSld delSld modSld">
      <pc:chgData name="Isaac.Suarez@uv.es" userId="3e4bb9f1-952d-4d13-9b2e-21f04a21d71c" providerId="ADAL" clId="{42813116-537C-43AF-9ABF-4C91FBE3EAD6}" dt="2020-02-19T17:49:07.896" v="2240" actId="20577"/>
      <pc:docMkLst>
        <pc:docMk/>
      </pc:docMkLst>
      <pc:sldChg chg="modSp">
        <pc:chgData name="Isaac.Suarez@uv.es" userId="3e4bb9f1-952d-4d13-9b2e-21f04a21d71c" providerId="ADAL" clId="{42813116-537C-43AF-9ABF-4C91FBE3EAD6}" dt="2020-02-19T10:27:13.076" v="1" actId="2711"/>
        <pc:sldMkLst>
          <pc:docMk/>
          <pc:sldMk cId="1545038678" sldId="261"/>
        </pc:sldMkLst>
      </pc:sldChg>
      <pc:sldChg chg="modSp">
        <pc:chgData name="Isaac.Suarez@uv.es" userId="3e4bb9f1-952d-4d13-9b2e-21f04a21d71c" providerId="ADAL" clId="{42813116-537C-43AF-9ABF-4C91FBE3EAD6}" dt="2020-02-19T10:45:56.146" v="44" actId="20577"/>
        <pc:sldMkLst>
          <pc:docMk/>
          <pc:sldMk cId="2833267819" sldId="274"/>
        </pc:sldMkLst>
      </pc:sldChg>
      <pc:sldChg chg="modSp">
        <pc:chgData name="Isaac.Suarez@uv.es" userId="3e4bb9f1-952d-4d13-9b2e-21f04a21d71c" providerId="ADAL" clId="{42813116-537C-43AF-9ABF-4C91FBE3EAD6}" dt="2020-02-19T10:48:28.976" v="51" actId="113"/>
        <pc:sldMkLst>
          <pc:docMk/>
          <pc:sldMk cId="1185233292" sldId="275"/>
        </pc:sldMkLst>
      </pc:sldChg>
      <pc:sldChg chg="del">
        <pc:chgData name="Isaac.Suarez@uv.es" userId="3e4bb9f1-952d-4d13-9b2e-21f04a21d71c" providerId="ADAL" clId="{42813116-537C-43AF-9ABF-4C91FBE3EAD6}" dt="2020-02-19T10:27:36.320" v="2" actId="47"/>
        <pc:sldMkLst>
          <pc:docMk/>
          <pc:sldMk cId="3693237955" sldId="276"/>
        </pc:sldMkLst>
      </pc:sldChg>
      <pc:sldChg chg="modSp">
        <pc:chgData name="Isaac.Suarez@uv.es" userId="3e4bb9f1-952d-4d13-9b2e-21f04a21d71c" providerId="ADAL" clId="{42813116-537C-43AF-9ABF-4C91FBE3EAD6}" dt="2020-02-19T10:53:04.304" v="52" actId="113"/>
        <pc:sldMkLst>
          <pc:docMk/>
          <pc:sldMk cId="2111901612" sldId="277"/>
        </pc:sldMkLst>
      </pc:sldChg>
      <pc:sldChg chg="modSp">
        <pc:chgData name="Isaac.Suarez@uv.es" userId="3e4bb9f1-952d-4d13-9b2e-21f04a21d71c" providerId="ADAL" clId="{42813116-537C-43AF-9ABF-4C91FBE3EAD6}" dt="2020-02-19T16:26:55.553" v="54" actId="113"/>
        <pc:sldMkLst>
          <pc:docMk/>
          <pc:sldMk cId="673808692" sldId="280"/>
        </pc:sldMkLst>
      </pc:sldChg>
      <pc:sldChg chg="modSp">
        <pc:chgData name="Isaac.Suarez@uv.es" userId="3e4bb9f1-952d-4d13-9b2e-21f04a21d71c" providerId="ADAL" clId="{42813116-537C-43AF-9ABF-4C91FBE3EAD6}" dt="2020-02-19T10:28:10.118" v="3" actId="113"/>
        <pc:sldMkLst>
          <pc:docMk/>
          <pc:sldMk cId="732973315" sldId="281"/>
        </pc:sldMkLst>
      </pc:sldChg>
      <pc:sldChg chg="addSp delSp modSp">
        <pc:chgData name="Isaac.Suarez@uv.es" userId="3e4bb9f1-952d-4d13-9b2e-21f04a21d71c" providerId="ADAL" clId="{42813116-537C-43AF-9ABF-4C91FBE3EAD6}" dt="2020-02-19T16:45:42.385" v="231" actId="1076"/>
        <pc:sldMkLst>
          <pc:docMk/>
          <pc:sldMk cId="114158014" sldId="285"/>
        </pc:sldMkLst>
      </pc:sldChg>
      <pc:sldChg chg="modSp">
        <pc:chgData name="Isaac.Suarez@uv.es" userId="3e4bb9f1-952d-4d13-9b2e-21f04a21d71c" providerId="ADAL" clId="{42813116-537C-43AF-9ABF-4C91FBE3EAD6}" dt="2020-02-19T16:30:18.684" v="75" actId="20577"/>
        <pc:sldMkLst>
          <pc:docMk/>
          <pc:sldMk cId="849288303" sldId="286"/>
        </pc:sldMkLst>
      </pc:sldChg>
      <pc:sldChg chg="addSp delSp modSp">
        <pc:chgData name="Isaac.Suarez@uv.es" userId="3e4bb9f1-952d-4d13-9b2e-21f04a21d71c" providerId="ADAL" clId="{42813116-537C-43AF-9ABF-4C91FBE3EAD6}" dt="2020-02-19T17:47:27.439" v="2237" actId="123"/>
        <pc:sldMkLst>
          <pc:docMk/>
          <pc:sldMk cId="3403326588" sldId="287"/>
        </pc:sldMkLst>
      </pc:sldChg>
      <pc:sldChg chg="modSp">
        <pc:chgData name="Isaac.Suarez@uv.es" userId="3e4bb9f1-952d-4d13-9b2e-21f04a21d71c" providerId="ADAL" clId="{42813116-537C-43AF-9ABF-4C91FBE3EAD6}" dt="2020-02-19T17:49:07.896" v="2240" actId="20577"/>
        <pc:sldMkLst>
          <pc:docMk/>
          <pc:sldMk cId="3747410074" sldId="292"/>
        </pc:sldMkLst>
      </pc:sldChg>
      <pc:sldChg chg="addSp delSp modSp add">
        <pc:chgData name="Isaac.Suarez@uv.es" userId="3e4bb9f1-952d-4d13-9b2e-21f04a21d71c" providerId="ADAL" clId="{42813116-537C-43AF-9ABF-4C91FBE3EAD6}" dt="2020-02-19T17:33:06.946" v="2137" actId="1076"/>
        <pc:sldMkLst>
          <pc:docMk/>
          <pc:sldMk cId="1821251035" sldId="295"/>
        </pc:sldMkLst>
      </pc:sldChg>
      <pc:sldChg chg="add del">
        <pc:chgData name="Isaac.Suarez@uv.es" userId="3e4bb9f1-952d-4d13-9b2e-21f04a21d71c" providerId="ADAL" clId="{42813116-537C-43AF-9ABF-4C91FBE3EAD6}" dt="2020-02-19T17:45:09.095" v="2139"/>
        <pc:sldMkLst>
          <pc:docMk/>
          <pc:sldMk cId="605849258" sldId="296"/>
        </pc:sldMkLst>
      </pc:sldChg>
      <pc:sldChg chg="add">
        <pc:chgData name="Isaac.Suarez@uv.es" userId="3e4bb9f1-952d-4d13-9b2e-21f04a21d71c" providerId="ADAL" clId="{42813116-537C-43AF-9ABF-4C91FBE3EAD6}" dt="2020-02-19T17:45:10.872" v="2140"/>
        <pc:sldMkLst>
          <pc:docMk/>
          <pc:sldMk cId="3389022272" sldId="296"/>
        </pc:sldMkLst>
      </pc:sldChg>
    </pc:docChg>
  </pc:docChgLst>
  <pc:docChgLst>
    <pc:chgData name="Isaac Suarez Alvarez" userId="3e4bb9f1-952d-4d13-9b2e-21f04a21d71c" providerId="ADAL" clId="{F71B5689-4453-4455-9903-CD3D2919EEBF}"/>
    <pc:docChg chg="undo custSel addSld delSld modSld sldOrd">
      <pc:chgData name="Isaac Suarez Alvarez" userId="3e4bb9f1-952d-4d13-9b2e-21f04a21d71c" providerId="ADAL" clId="{F71B5689-4453-4455-9903-CD3D2919EEBF}" dt="2021-03-25T14:52:40.320" v="829" actId="1076"/>
      <pc:docMkLst>
        <pc:docMk/>
      </pc:docMkLst>
      <pc:sldChg chg="modSp mod">
        <pc:chgData name="Isaac Suarez Alvarez" userId="3e4bb9f1-952d-4d13-9b2e-21f04a21d71c" providerId="ADAL" clId="{F71B5689-4453-4455-9903-CD3D2919EEBF}" dt="2021-02-25T11:19:12.700" v="0" actId="113"/>
        <pc:sldMkLst>
          <pc:docMk/>
          <pc:sldMk cId="318787635" sldId="258"/>
        </pc:sldMkLst>
      </pc:sldChg>
      <pc:sldChg chg="addSp delSp modSp mod">
        <pc:chgData name="Isaac Suarez Alvarez" userId="3e4bb9f1-952d-4d13-9b2e-21f04a21d71c" providerId="ADAL" clId="{F71B5689-4453-4455-9903-CD3D2919EEBF}" dt="2021-03-25T14:30:45.872" v="406" actId="1037"/>
        <pc:sldMkLst>
          <pc:docMk/>
          <pc:sldMk cId="3128624876" sldId="269"/>
        </pc:sldMkLst>
      </pc:sldChg>
      <pc:sldChg chg="addSp delSp modSp mod">
        <pc:chgData name="Isaac Suarez Alvarez" userId="3e4bb9f1-952d-4d13-9b2e-21f04a21d71c" providerId="ADAL" clId="{F71B5689-4453-4455-9903-CD3D2919EEBF}" dt="2021-03-25T14:42:01.066" v="821" actId="1076"/>
        <pc:sldMkLst>
          <pc:docMk/>
          <pc:sldMk cId="2088646867" sldId="271"/>
        </pc:sldMkLst>
      </pc:sldChg>
      <pc:sldChg chg="addSp delSp modSp mod">
        <pc:chgData name="Isaac Suarez Alvarez" userId="3e4bb9f1-952d-4d13-9b2e-21f04a21d71c" providerId="ADAL" clId="{F71B5689-4453-4455-9903-CD3D2919EEBF}" dt="2021-03-25T14:49:41.040" v="825" actId="1076"/>
        <pc:sldMkLst>
          <pc:docMk/>
          <pc:sldMk cId="2111901612" sldId="277"/>
        </pc:sldMkLst>
      </pc:sldChg>
      <pc:sldChg chg="addSp delSp modSp mod">
        <pc:chgData name="Isaac Suarez Alvarez" userId="3e4bb9f1-952d-4d13-9b2e-21f04a21d71c" providerId="ADAL" clId="{F71B5689-4453-4455-9903-CD3D2919EEBF}" dt="2021-03-25T14:52:40.320" v="829" actId="1076"/>
        <pc:sldMkLst>
          <pc:docMk/>
          <pc:sldMk cId="1679902157" sldId="279"/>
        </pc:sldMkLst>
      </pc:sldChg>
      <pc:sldChg chg="addSp delSp modSp">
        <pc:chgData name="Isaac Suarez Alvarez" userId="3e4bb9f1-952d-4d13-9b2e-21f04a21d71c" providerId="ADAL" clId="{F71B5689-4453-4455-9903-CD3D2919EEBF}" dt="2021-02-25T12:42:46.707" v="3"/>
        <pc:sldMkLst>
          <pc:docMk/>
          <pc:sldMk cId="1821251035" sldId="295"/>
        </pc:sldMkLst>
      </pc:sldChg>
      <pc:sldChg chg="addSp delSp modSp add mod">
        <pc:chgData name="Isaac Suarez Alvarez" userId="3e4bb9f1-952d-4d13-9b2e-21f04a21d71c" providerId="ADAL" clId="{F71B5689-4453-4455-9903-CD3D2919EEBF}" dt="2021-02-25T12:43:46.392" v="20" actId="1076"/>
        <pc:sldMkLst>
          <pc:docMk/>
          <pc:sldMk cId="239047483" sldId="297"/>
        </pc:sldMkLst>
      </pc:sldChg>
      <pc:sldChg chg="addSp delSp modSp add mod ord">
        <pc:chgData name="Isaac Suarez Alvarez" userId="3e4bb9f1-952d-4d13-9b2e-21f04a21d71c" providerId="ADAL" clId="{F71B5689-4453-4455-9903-CD3D2919EEBF}" dt="2021-02-25T13:06:18.965" v="46" actId="20577"/>
        <pc:sldMkLst>
          <pc:docMk/>
          <pc:sldMk cId="3220492339" sldId="298"/>
        </pc:sldMkLst>
      </pc:sldChg>
      <pc:sldChg chg="add del">
        <pc:chgData name="Isaac Suarez Alvarez" userId="3e4bb9f1-952d-4d13-9b2e-21f04a21d71c" providerId="ADAL" clId="{F71B5689-4453-4455-9903-CD3D2919EEBF}" dt="2021-03-25T14:35:16.163" v="413" actId="47"/>
        <pc:sldMkLst>
          <pc:docMk/>
          <pc:sldMk cId="4099065938" sldId="299"/>
        </pc:sldMkLst>
      </pc:sldChg>
      <pc:sldChg chg="addSp modSp add mod">
        <pc:chgData name="Isaac Suarez Alvarez" userId="3e4bb9f1-952d-4d13-9b2e-21f04a21d71c" providerId="ADAL" clId="{F71B5689-4453-4455-9903-CD3D2919EEBF}" dt="2021-03-25T14:37:17.193" v="426" actId="20577"/>
        <pc:sldMkLst>
          <pc:docMk/>
          <pc:sldMk cId="1149424193" sldId="300"/>
        </pc:sldMkLst>
      </pc:sldChg>
    </pc:docChg>
  </pc:docChgLst>
  <pc:docChgLst>
    <pc:chgData name="Alejandro Laguna Sanz" userId="92051962-273e-4f79-a025-120ab1605eec" providerId="ADAL" clId="{1592F823-5951-3B4D-8D6C-106BDCCF7A8F}"/>
    <pc:docChg chg="modSld">
      <pc:chgData name="Alejandro Laguna Sanz" userId="92051962-273e-4f79-a025-120ab1605eec" providerId="ADAL" clId="{1592F823-5951-3B4D-8D6C-106BDCCF7A8F}" dt="2024-02-27T09:00:40.725" v="4" actId="1076"/>
      <pc:docMkLst>
        <pc:docMk/>
      </pc:docMkLst>
      <pc:sldChg chg="modSp">
        <pc:chgData name="Alejandro Laguna Sanz" userId="92051962-273e-4f79-a025-120ab1605eec" providerId="ADAL" clId="{1592F823-5951-3B4D-8D6C-106BDCCF7A8F}" dt="2024-02-27T09:00:40.725" v="4" actId="1076"/>
        <pc:sldMkLst>
          <pc:docMk/>
          <pc:sldMk cId="318787635" sldId="258"/>
        </pc:sldMkLst>
      </pc:sldChg>
    </pc:docChg>
  </pc:docChgLst>
  <pc:docChgLst>
    <pc:chgData name="Alejandro Laguna Sanz" userId="92051962-273e-4f79-a025-120ab1605eec" providerId="ADAL" clId="{DCE910F2-7112-4805-A401-9DA72798B6D0}"/>
    <pc:docChg chg="modSld">
      <pc:chgData name="Alejandro Laguna Sanz" userId="92051962-273e-4f79-a025-120ab1605eec" providerId="ADAL" clId="{DCE910F2-7112-4805-A401-9DA72798B6D0}" dt="2025-03-09T20:06:40.710" v="19" actId="14100"/>
      <pc:docMkLst>
        <pc:docMk/>
      </pc:docMkLst>
      <pc:sldChg chg="addSp modSp mod">
        <pc:chgData name="Alejandro Laguna Sanz" userId="92051962-273e-4f79-a025-120ab1605eec" providerId="ADAL" clId="{DCE910F2-7112-4805-A401-9DA72798B6D0}" dt="2025-03-09T20:05:58.941" v="17" actId="1076"/>
        <pc:sldMkLst>
          <pc:docMk/>
          <pc:sldMk cId="849288303" sldId="286"/>
        </pc:sldMkLst>
        <pc:spChg chg="add mod">
          <ac:chgData name="Alejandro Laguna Sanz" userId="92051962-273e-4f79-a025-120ab1605eec" providerId="ADAL" clId="{DCE910F2-7112-4805-A401-9DA72798B6D0}" dt="2025-03-09T20:05:34.674" v="10" actId="207"/>
          <ac:spMkLst>
            <pc:docMk/>
            <pc:sldMk cId="849288303" sldId="286"/>
            <ac:spMk id="5" creationId="{96B35A71-778E-ED26-D242-DF224D5E8BA9}"/>
          </ac:spMkLst>
        </pc:spChg>
        <pc:spChg chg="add mod">
          <ac:chgData name="Alejandro Laguna Sanz" userId="92051962-273e-4f79-a025-120ab1605eec" providerId="ADAL" clId="{DCE910F2-7112-4805-A401-9DA72798B6D0}" dt="2025-03-09T20:05:29.418" v="9" actId="207"/>
          <ac:spMkLst>
            <pc:docMk/>
            <pc:sldMk cId="849288303" sldId="286"/>
            <ac:spMk id="6" creationId="{FA975EEF-F637-325B-8667-C8F0E0CF5031}"/>
          </ac:spMkLst>
        </pc:spChg>
        <pc:spChg chg="add mod">
          <ac:chgData name="Alejandro Laguna Sanz" userId="92051962-273e-4f79-a025-120ab1605eec" providerId="ADAL" clId="{DCE910F2-7112-4805-A401-9DA72798B6D0}" dt="2025-03-09T20:05:58.941" v="17" actId="1076"/>
          <ac:spMkLst>
            <pc:docMk/>
            <pc:sldMk cId="849288303" sldId="286"/>
            <ac:spMk id="8" creationId="{F7E14C21-8318-CB6E-52DF-2CE614E1639F}"/>
          </ac:spMkLst>
        </pc:spChg>
        <pc:spChg chg="add mod">
          <ac:chgData name="Alejandro Laguna Sanz" userId="92051962-273e-4f79-a025-120ab1605eec" providerId="ADAL" clId="{DCE910F2-7112-4805-A401-9DA72798B6D0}" dt="2025-03-09T20:05:49.993" v="14" actId="1076"/>
          <ac:spMkLst>
            <pc:docMk/>
            <pc:sldMk cId="849288303" sldId="286"/>
            <ac:spMk id="9" creationId="{D59A0125-99AD-6CF6-E834-F2C4DD324A18}"/>
          </ac:spMkLst>
        </pc:spChg>
        <pc:spChg chg="mod">
          <ac:chgData name="Alejandro Laguna Sanz" userId="92051962-273e-4f79-a025-120ab1605eec" providerId="ADAL" clId="{DCE910F2-7112-4805-A401-9DA72798B6D0}" dt="2025-03-09T20:05:53.234" v="16" actId="20577"/>
          <ac:spMkLst>
            <pc:docMk/>
            <pc:sldMk cId="849288303" sldId="286"/>
            <ac:spMk id="164" creationId="{00000000-0000-0000-0000-000000000000}"/>
          </ac:spMkLst>
        </pc:spChg>
      </pc:sldChg>
      <pc:sldChg chg="modSp mod">
        <pc:chgData name="Alejandro Laguna Sanz" userId="92051962-273e-4f79-a025-120ab1605eec" providerId="ADAL" clId="{DCE910F2-7112-4805-A401-9DA72798B6D0}" dt="2025-03-08T14:32:53.768" v="0" actId="20577"/>
        <pc:sldMkLst>
          <pc:docMk/>
          <pc:sldMk cId="3403326588" sldId="287"/>
        </pc:sldMkLst>
        <pc:spChg chg="mod">
          <ac:chgData name="Alejandro Laguna Sanz" userId="92051962-273e-4f79-a025-120ab1605eec" providerId="ADAL" clId="{DCE910F2-7112-4805-A401-9DA72798B6D0}" dt="2025-03-08T14:32:53.768" v="0" actId="20577"/>
          <ac:spMkLst>
            <pc:docMk/>
            <pc:sldMk cId="3403326588" sldId="287"/>
            <ac:spMk id="14" creationId="{D6FBB8DF-0784-4EF9-9ECB-EAC34B4AA22F}"/>
          </ac:spMkLst>
        </pc:spChg>
      </pc:sldChg>
      <pc:sldChg chg="modSp mod">
        <pc:chgData name="Alejandro Laguna Sanz" userId="92051962-273e-4f79-a025-120ab1605eec" providerId="ADAL" clId="{DCE910F2-7112-4805-A401-9DA72798B6D0}" dt="2025-03-09T20:06:40.710" v="19" actId="14100"/>
        <pc:sldMkLst>
          <pc:docMk/>
          <pc:sldMk cId="2190108486" sldId="288"/>
        </pc:sldMkLst>
        <pc:spChg chg="mod">
          <ac:chgData name="Alejandro Laguna Sanz" userId="92051962-273e-4f79-a025-120ab1605eec" providerId="ADAL" clId="{DCE910F2-7112-4805-A401-9DA72798B6D0}" dt="2025-03-09T20:06:40.710" v="19" actId="14100"/>
          <ac:spMkLst>
            <pc:docMk/>
            <pc:sldMk cId="2190108486" sldId="288"/>
            <ac:spMk id="9" creationId="{00000000-0000-0000-0000-000000000000}"/>
          </ac:spMkLst>
        </pc:spChg>
        <pc:spChg chg="mod">
          <ac:chgData name="Alejandro Laguna Sanz" userId="92051962-273e-4f79-a025-120ab1605eec" providerId="ADAL" clId="{DCE910F2-7112-4805-A401-9DA72798B6D0}" dt="2025-03-09T20:06:25.638" v="18" actId="20577"/>
          <ac:spMkLst>
            <pc:docMk/>
            <pc:sldMk cId="2190108486" sldId="288"/>
            <ac:spMk id="10" creationId="{00000000-0000-0000-0000-000000000000}"/>
          </ac:spMkLst>
        </pc:spChg>
      </pc:sldChg>
    </pc:docChg>
  </pc:docChgLst>
  <pc:docChgLst>
    <pc:chgData name="Alejandro Laguna Sanz" userId="92051962-273e-4f79-a025-120ab1605eec" providerId="ADAL" clId="{813BD706-B771-434A-8E60-31522043AFD1}"/>
    <pc:docChg chg="custSel addSld modSld">
      <pc:chgData name="Alejandro Laguna Sanz" userId="92051962-273e-4f79-a025-120ab1605eec" providerId="ADAL" clId="{813BD706-B771-434A-8E60-31522043AFD1}" dt="2024-03-03T19:46:17.359" v="121" actId="20577"/>
      <pc:docMkLst>
        <pc:docMk/>
      </pc:docMkLst>
      <pc:sldChg chg="delSp mod">
        <pc:chgData name="Alejandro Laguna Sanz" userId="92051962-273e-4f79-a025-120ab1605eec" providerId="ADAL" clId="{813BD706-B771-434A-8E60-31522043AFD1}" dt="2024-03-01T16:02:13.282" v="2" actId="478"/>
        <pc:sldMkLst>
          <pc:docMk/>
          <pc:sldMk cId="250151916" sldId="256"/>
        </pc:sldMkLst>
      </pc:sldChg>
      <pc:sldChg chg="modSp mod">
        <pc:chgData name="Alejandro Laguna Sanz" userId="92051962-273e-4f79-a025-120ab1605eec" providerId="ADAL" clId="{813BD706-B771-434A-8E60-31522043AFD1}" dt="2024-03-01T16:02:02.009" v="1" actId="6549"/>
        <pc:sldMkLst>
          <pc:docMk/>
          <pc:sldMk cId="38311976" sldId="260"/>
        </pc:sldMkLst>
      </pc:sldChg>
      <pc:sldChg chg="modSp mod">
        <pc:chgData name="Alejandro Laguna Sanz" userId="92051962-273e-4f79-a025-120ab1605eec" providerId="ADAL" clId="{813BD706-B771-434A-8E60-31522043AFD1}" dt="2024-03-03T19:41:46.233" v="99" actId="20577"/>
        <pc:sldMkLst>
          <pc:docMk/>
          <pc:sldMk cId="3128624876" sldId="269"/>
        </pc:sldMkLst>
      </pc:sldChg>
      <pc:sldChg chg="modSp mod">
        <pc:chgData name="Alejandro Laguna Sanz" userId="92051962-273e-4f79-a025-120ab1605eec" providerId="ADAL" clId="{813BD706-B771-434A-8E60-31522043AFD1}" dt="2024-03-01T16:04:46.955" v="4" actId="113"/>
        <pc:sldMkLst>
          <pc:docMk/>
          <pc:sldMk cId="2088646867" sldId="271"/>
        </pc:sldMkLst>
      </pc:sldChg>
      <pc:sldChg chg="modSp mod">
        <pc:chgData name="Alejandro Laguna Sanz" userId="92051962-273e-4f79-a025-120ab1605eec" providerId="ADAL" clId="{813BD706-B771-434A-8E60-31522043AFD1}" dt="2024-03-01T16:12:49.486" v="11" actId="20577"/>
        <pc:sldMkLst>
          <pc:docMk/>
          <pc:sldMk cId="2111901612" sldId="277"/>
        </pc:sldMkLst>
      </pc:sldChg>
      <pc:sldChg chg="modSp mod">
        <pc:chgData name="Alejandro Laguna Sanz" userId="92051962-273e-4f79-a025-120ab1605eec" providerId="ADAL" clId="{813BD706-B771-434A-8E60-31522043AFD1}" dt="2024-03-01T16:13:02.612" v="13" actId="1076"/>
        <pc:sldMkLst>
          <pc:docMk/>
          <pc:sldMk cId="1561615923" sldId="278"/>
        </pc:sldMkLst>
      </pc:sldChg>
      <pc:sldChg chg="modSp mod">
        <pc:chgData name="Alejandro Laguna Sanz" userId="92051962-273e-4f79-a025-120ab1605eec" providerId="ADAL" clId="{813BD706-B771-434A-8E60-31522043AFD1}" dt="2024-03-03T19:44:18.220" v="100" actId="33524"/>
        <pc:sldMkLst>
          <pc:docMk/>
          <pc:sldMk cId="673808692" sldId="280"/>
        </pc:sldMkLst>
      </pc:sldChg>
      <pc:sldChg chg="modSp mod">
        <pc:chgData name="Alejandro Laguna Sanz" userId="92051962-273e-4f79-a025-120ab1605eec" providerId="ADAL" clId="{813BD706-B771-434A-8E60-31522043AFD1}" dt="2024-03-03T19:45:02.531" v="102" actId="20577"/>
        <pc:sldMkLst>
          <pc:docMk/>
          <pc:sldMk cId="254437651" sldId="284"/>
        </pc:sldMkLst>
      </pc:sldChg>
      <pc:sldChg chg="modSp mod">
        <pc:chgData name="Alejandro Laguna Sanz" userId="92051962-273e-4f79-a025-120ab1605eec" providerId="ADAL" clId="{813BD706-B771-434A-8E60-31522043AFD1}" dt="2024-03-03T19:46:17.359" v="121" actId="20577"/>
        <pc:sldMkLst>
          <pc:docMk/>
          <pc:sldMk cId="114158014" sldId="285"/>
        </pc:sldMkLst>
      </pc:sldChg>
      <pc:sldChg chg="modSp add mod">
        <pc:chgData name="Alejandro Laguna Sanz" userId="92051962-273e-4f79-a025-120ab1605eec" providerId="ADAL" clId="{813BD706-B771-434A-8E60-31522043AFD1}" dt="2024-03-03T19:38:44.466" v="58" actId="20577"/>
        <pc:sldMkLst>
          <pc:docMk/>
          <pc:sldMk cId="2271051370"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99E574-76BA-4D98-8F0F-815AB964155D}" type="datetimeFigureOut">
              <a:rPr lang="en-US" smtClean="0"/>
              <a:t>3/9/2025</a:t>
            </a:fld>
            <a:endParaRPr lang="en-U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5F6C05-11A6-4EEE-8D4F-17AE97F9D728}" type="slidenum">
              <a:rPr lang="en-US" smtClean="0"/>
              <a:t>‹Nº›</a:t>
            </a:fld>
            <a:endParaRPr lang="en-US"/>
          </a:p>
        </p:txBody>
      </p:sp>
    </p:spTree>
    <p:extLst>
      <p:ext uri="{BB962C8B-B14F-4D97-AF65-F5344CB8AC3E}">
        <p14:creationId xmlns:p14="http://schemas.microsoft.com/office/powerpoint/2010/main" val="3105962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4</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5</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6</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7</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8</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4A5F6C05-11A6-4EEE-8D4F-17AE97F9D728}" type="slidenum">
              <a:rPr lang="en-US" smtClean="0"/>
              <a:t>9</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10</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11</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12</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13</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14</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15</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16</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17</a:t>
            </a:fld>
            <a:endParaRPr lang="en-US"/>
          </a:p>
        </p:txBody>
      </p:sp>
    </p:spTree>
    <p:extLst>
      <p:ext uri="{BB962C8B-B14F-4D97-AF65-F5344CB8AC3E}">
        <p14:creationId xmlns:p14="http://schemas.microsoft.com/office/powerpoint/2010/main" val="26452456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18</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19</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20</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21</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22</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23</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24</a:t>
            </a:fld>
            <a:endParaRPr lang="en-US"/>
          </a:p>
        </p:txBody>
      </p:sp>
    </p:spTree>
    <p:extLst>
      <p:ext uri="{BB962C8B-B14F-4D97-AF65-F5344CB8AC3E}">
        <p14:creationId xmlns:p14="http://schemas.microsoft.com/office/powerpoint/2010/main" val="37910830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25</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26</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27</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28</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29</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30</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31</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32</a:t>
            </a:fld>
            <a:endParaRPr lang="en-US"/>
          </a:p>
        </p:txBody>
      </p:sp>
    </p:spTree>
    <p:extLst>
      <p:ext uri="{BB962C8B-B14F-4D97-AF65-F5344CB8AC3E}">
        <p14:creationId xmlns:p14="http://schemas.microsoft.com/office/powerpoint/2010/main" val="20518154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33</a:t>
            </a:fld>
            <a:endParaRPr lang="en-US"/>
          </a:p>
        </p:txBody>
      </p:sp>
    </p:spTree>
    <p:extLst>
      <p:ext uri="{BB962C8B-B14F-4D97-AF65-F5344CB8AC3E}">
        <p14:creationId xmlns:p14="http://schemas.microsoft.com/office/powerpoint/2010/main" val="22465476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34</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35</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36</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37</a:t>
            </a:fld>
            <a:endParaRPr lang="en-US"/>
          </a:p>
        </p:txBody>
      </p:sp>
    </p:spTree>
    <p:extLst>
      <p:ext uri="{BB962C8B-B14F-4D97-AF65-F5344CB8AC3E}">
        <p14:creationId xmlns:p14="http://schemas.microsoft.com/office/powerpoint/2010/main" val="531473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38</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39</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40</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41</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42</a:t>
            </a:fld>
            <a:endParaRPr lang="en-US"/>
          </a:p>
        </p:txBody>
      </p:sp>
    </p:spTree>
    <p:extLst>
      <p:ext uri="{BB962C8B-B14F-4D97-AF65-F5344CB8AC3E}">
        <p14:creationId xmlns:p14="http://schemas.microsoft.com/office/powerpoint/2010/main" val="6150873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4A5F6C05-11A6-4EEE-8D4F-17AE97F9D728}" type="slidenum">
              <a:rPr lang="en-US" smtClean="0"/>
              <a:t>43</a:t>
            </a:fld>
            <a:endParaRPr lang="en-US"/>
          </a:p>
        </p:txBody>
      </p:sp>
    </p:spTree>
    <p:extLst>
      <p:ext uri="{BB962C8B-B14F-4D97-AF65-F5344CB8AC3E}">
        <p14:creationId xmlns:p14="http://schemas.microsoft.com/office/powerpoint/2010/main" val="615087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a:p>
        </p:txBody>
      </p:sp>
      <p:sp>
        <p:nvSpPr>
          <p:cNvPr id="4" name="3 Marcador de fecha"/>
          <p:cNvSpPr>
            <a:spLocks noGrp="1"/>
          </p:cNvSpPr>
          <p:nvPr>
            <p:ph type="dt" sz="half" idx="10"/>
          </p:nvPr>
        </p:nvSpPr>
        <p:spPr/>
        <p:txBody>
          <a:bodyPr/>
          <a:lstStyle/>
          <a:p>
            <a:fld id="{3D424890-30F2-4EB1-85AD-E441636E2FBF}" type="datetime1">
              <a:rPr lang="en-US" smtClean="0"/>
              <a:t>3/9/2025</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70675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fecha"/>
          <p:cNvSpPr>
            <a:spLocks noGrp="1"/>
          </p:cNvSpPr>
          <p:nvPr>
            <p:ph type="dt" sz="half" idx="10"/>
          </p:nvPr>
        </p:nvSpPr>
        <p:spPr/>
        <p:txBody>
          <a:bodyPr/>
          <a:lstStyle/>
          <a:p>
            <a:fld id="{92A415BC-8B61-4B15-A398-EFFF7C90C550}" type="datetime1">
              <a:rPr lang="en-US" smtClean="0"/>
              <a:t>3/9/2025</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1807466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2A91767D-CE15-4FD9-A493-39F045178E84}" type="datetime1">
              <a:rPr lang="en-US" smtClean="0"/>
              <a:t>3/9/2025</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3008375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4 Marcador de fecha"/>
          <p:cNvSpPr>
            <a:spLocks noGrp="1"/>
          </p:cNvSpPr>
          <p:nvPr>
            <p:ph type="dt" sz="half" idx="10"/>
          </p:nvPr>
        </p:nvSpPr>
        <p:spPr/>
        <p:txBody>
          <a:bodyPr/>
          <a:lstStyle/>
          <a:p>
            <a:fld id="{EFBA3F95-100B-441E-81A3-0BE10D13E522}" type="datetime1">
              <a:rPr lang="en-US" smtClean="0"/>
              <a:t>3/9/2025</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3842523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6 Marcador de fecha"/>
          <p:cNvSpPr>
            <a:spLocks noGrp="1"/>
          </p:cNvSpPr>
          <p:nvPr>
            <p:ph type="dt" sz="half" idx="10"/>
          </p:nvPr>
        </p:nvSpPr>
        <p:spPr/>
        <p:txBody>
          <a:bodyPr/>
          <a:lstStyle/>
          <a:p>
            <a:fld id="{C47CA2F9-CEE8-430D-817C-69E642D4B597}" type="datetime1">
              <a:rPr lang="en-US" smtClean="0"/>
              <a:t>3/9/2025</a:t>
            </a:fld>
            <a:endParaRPr lang="en-US"/>
          </a:p>
        </p:txBody>
      </p:sp>
      <p:sp>
        <p:nvSpPr>
          <p:cNvPr id="8" name="7 Marcador de pie de página"/>
          <p:cNvSpPr>
            <a:spLocks noGrp="1"/>
          </p:cNvSpPr>
          <p:nvPr>
            <p:ph type="ftr" sz="quarter" idx="11"/>
          </p:nvPr>
        </p:nvSpPr>
        <p:spPr/>
        <p:txBody>
          <a:bodyPr/>
          <a:lstStyle/>
          <a:p>
            <a:endParaRPr lang="en-US"/>
          </a:p>
        </p:txBody>
      </p:sp>
      <p:sp>
        <p:nvSpPr>
          <p:cNvPr id="9" name="8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203418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fecha"/>
          <p:cNvSpPr>
            <a:spLocks noGrp="1"/>
          </p:cNvSpPr>
          <p:nvPr>
            <p:ph type="dt" sz="half" idx="10"/>
          </p:nvPr>
        </p:nvSpPr>
        <p:spPr/>
        <p:txBody>
          <a:bodyPr/>
          <a:lstStyle/>
          <a:p>
            <a:fld id="{82474D4D-E29B-4356-ACF3-B556209977C9}" type="datetime1">
              <a:rPr lang="en-US" smtClean="0"/>
              <a:t>3/9/2025</a:t>
            </a:fld>
            <a:endParaRPr lang="en-US"/>
          </a:p>
        </p:txBody>
      </p:sp>
      <p:sp>
        <p:nvSpPr>
          <p:cNvPr id="4" name="3 Marcador de pie de página"/>
          <p:cNvSpPr>
            <a:spLocks noGrp="1"/>
          </p:cNvSpPr>
          <p:nvPr>
            <p:ph type="ftr" sz="quarter" idx="11"/>
          </p:nvPr>
        </p:nvSpPr>
        <p:spPr/>
        <p:txBody>
          <a:bodyPr/>
          <a:lstStyle/>
          <a:p>
            <a:endParaRPr lang="en-US"/>
          </a:p>
        </p:txBody>
      </p:sp>
      <p:sp>
        <p:nvSpPr>
          <p:cNvPr id="5" name="4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324196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03DBCEA-7F7A-41BC-B95F-605E22FCF2C9}" type="datetime1">
              <a:rPr lang="en-US" smtClean="0"/>
              <a:t>3/9/2025</a:t>
            </a:fld>
            <a:endParaRPr lang="en-US"/>
          </a:p>
        </p:txBody>
      </p:sp>
      <p:sp>
        <p:nvSpPr>
          <p:cNvPr id="3" name="2 Marcador de pie de página"/>
          <p:cNvSpPr>
            <a:spLocks noGrp="1"/>
          </p:cNvSpPr>
          <p:nvPr>
            <p:ph type="ftr" sz="quarter" idx="11"/>
          </p:nvPr>
        </p:nvSpPr>
        <p:spPr/>
        <p:txBody>
          <a:bodyPr/>
          <a:lstStyle/>
          <a:p>
            <a:endParaRPr lang="en-US"/>
          </a:p>
        </p:txBody>
      </p:sp>
      <p:sp>
        <p:nvSpPr>
          <p:cNvPr id="4" name="3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3686723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F678C53B-B3D9-4A63-A634-D510D89FB675}" type="datetime1">
              <a:rPr lang="en-US" smtClean="0"/>
              <a:t>3/9/2025</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1806634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79E82AC-06B5-4153-A47E-F0BB440320F0}" type="datetime1">
              <a:rPr lang="en-US" smtClean="0"/>
              <a:t>3/9/2025</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1385498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fecha"/>
          <p:cNvSpPr>
            <a:spLocks noGrp="1"/>
          </p:cNvSpPr>
          <p:nvPr>
            <p:ph type="dt" sz="half" idx="10"/>
          </p:nvPr>
        </p:nvSpPr>
        <p:spPr/>
        <p:txBody>
          <a:bodyPr/>
          <a:lstStyle/>
          <a:p>
            <a:fld id="{F6FA895C-0E32-4D7E-94C5-9863A5040D55}" type="datetime1">
              <a:rPr lang="en-US" smtClean="0"/>
              <a:t>3/9/2025</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4250709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fecha"/>
          <p:cNvSpPr>
            <a:spLocks noGrp="1"/>
          </p:cNvSpPr>
          <p:nvPr>
            <p:ph type="dt" sz="half" idx="10"/>
          </p:nvPr>
        </p:nvSpPr>
        <p:spPr/>
        <p:txBody>
          <a:bodyPr/>
          <a:lstStyle/>
          <a:p>
            <a:fld id="{FDF68D0D-7365-451A-AEA1-67638F8276A3}" type="datetime1">
              <a:rPr lang="en-US" smtClean="0"/>
              <a:t>3/9/2025</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DAD8BA2F-E335-4939-99DC-A7E50E548284}" type="slidenum">
              <a:rPr lang="en-US" smtClean="0"/>
              <a:t>‹Nº›</a:t>
            </a:fld>
            <a:endParaRPr lang="en-US"/>
          </a:p>
        </p:txBody>
      </p:sp>
    </p:spTree>
    <p:extLst>
      <p:ext uri="{BB962C8B-B14F-4D97-AF65-F5344CB8AC3E}">
        <p14:creationId xmlns:p14="http://schemas.microsoft.com/office/powerpoint/2010/main" val="1118050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0E0F29-3F4C-4FC3-B208-82219A678748}" type="datetime1">
              <a:rPr lang="en-US" smtClean="0"/>
              <a:t>3/9/2025</a:t>
            </a:fld>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8BA2F-E335-4939-99DC-A7E50E548284}" type="slidenum">
              <a:rPr lang="en-US" smtClean="0"/>
              <a:t>‹Nº›</a:t>
            </a:fld>
            <a:endParaRPr lang="en-US"/>
          </a:p>
        </p:txBody>
      </p:sp>
    </p:spTree>
    <p:extLst>
      <p:ext uri="{BB962C8B-B14F-4D97-AF65-F5344CB8AC3E}">
        <p14:creationId xmlns:p14="http://schemas.microsoft.com/office/powerpoint/2010/main" val="3687023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package" Target="../embeddings/Microsoft_Word_Document.docx"/></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3.emf"/></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5.png"/><Relationship Id="rId5" Type="http://schemas.microsoft.com/office/2007/relationships/hdphoto" Target="../media/hdphoto1.wdp"/><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17.emf"/></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1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2" name="Picture 18" descr="Image result for logo ingenieros telecomunicacion&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1975" y="4622557"/>
            <a:ext cx="1136515" cy="1398731"/>
          </a:xfrm>
          <a:prstGeom prst="rect">
            <a:avLst/>
          </a:prstGeom>
          <a:noFill/>
          <a:extLst>
            <a:ext uri="{909E8E84-426E-40DD-AFC4-6F175D3DCCD1}">
              <a14:hiddenFill xmlns:a14="http://schemas.microsoft.com/office/drawing/2010/main">
                <a:solidFill>
                  <a:srgbClr val="FFFFFF"/>
                </a:solidFill>
              </a14:hiddenFill>
            </a:ext>
          </a:extLst>
        </p:spPr>
      </p:pic>
      <p:sp>
        <p:nvSpPr>
          <p:cNvPr id="9" name="8 Rectángulo"/>
          <p:cNvSpPr/>
          <p:nvPr/>
        </p:nvSpPr>
        <p:spPr>
          <a:xfrm>
            <a:off x="236885" y="1897926"/>
            <a:ext cx="8655595" cy="1099026"/>
          </a:xfrm>
          <a:prstGeom prst="rect">
            <a:avLst/>
          </a:prstGeom>
          <a:solidFill>
            <a:srgbClr val="83A62A"/>
          </a:solidFill>
          <a:ln>
            <a:noFill/>
          </a:ln>
          <a:effectLst>
            <a:innerShdw blurRad="63500" dist="50800" dir="2700000">
              <a:prstClr val="black">
                <a:alpha val="50000"/>
              </a:prstClr>
            </a:inn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bg1"/>
              </a:solidFill>
            </a:endParaRPr>
          </a:p>
        </p:txBody>
      </p:sp>
      <p:sp>
        <p:nvSpPr>
          <p:cNvPr id="4" name="3 CuadroTexto"/>
          <p:cNvSpPr txBox="1"/>
          <p:nvPr/>
        </p:nvSpPr>
        <p:spPr>
          <a:xfrm>
            <a:off x="2586375" y="2103949"/>
            <a:ext cx="3916265" cy="646331"/>
          </a:xfrm>
          <a:prstGeom prst="rect">
            <a:avLst/>
          </a:prstGeom>
          <a:noFill/>
        </p:spPr>
        <p:txBody>
          <a:bodyPr wrap="none" rtlCol="0">
            <a:spAutoFit/>
          </a:bodyPr>
          <a:lstStyle/>
          <a:p>
            <a:pPr algn="ctr"/>
            <a:r>
              <a:rPr lang="es-ES" sz="3600" b="1" dirty="0">
                <a:solidFill>
                  <a:schemeClr val="bg1"/>
                </a:solidFill>
                <a:effectLst>
                  <a:outerShdw blurRad="38100" dist="38100" dir="2700000" algn="tl">
                    <a:srgbClr val="000000">
                      <a:alpha val="43137"/>
                    </a:srgbClr>
                  </a:outerShdw>
                </a:effectLst>
              </a:rPr>
              <a:t>Tema 3: El proyecto</a:t>
            </a:r>
          </a:p>
        </p:txBody>
      </p:sp>
      <p:sp>
        <p:nvSpPr>
          <p:cNvPr id="6" name="5 CuadroTexto"/>
          <p:cNvSpPr txBox="1"/>
          <p:nvPr/>
        </p:nvSpPr>
        <p:spPr>
          <a:xfrm>
            <a:off x="2123728" y="4797152"/>
            <a:ext cx="4888530" cy="830997"/>
          </a:xfrm>
          <a:prstGeom prst="rect">
            <a:avLst/>
          </a:prstGeom>
          <a:noFill/>
        </p:spPr>
        <p:txBody>
          <a:bodyPr wrap="square" rtlCol="0">
            <a:spAutoFit/>
          </a:bodyPr>
          <a:lstStyle/>
          <a:p>
            <a:r>
              <a:rPr lang="es-ES" sz="2400" b="1" dirty="0">
                <a:latin typeface="Arial" panose="020B0604020202020204" pitchFamily="34" charset="0"/>
                <a:cs typeface="Arial" panose="020B0604020202020204" pitchFamily="34" charset="0"/>
              </a:rPr>
              <a:t>Grado en Ingeniería Electrónica de Telecomunicación</a:t>
            </a:r>
          </a:p>
        </p:txBody>
      </p:sp>
      <p:sp>
        <p:nvSpPr>
          <p:cNvPr id="7" name="AutoShape 8" descr="Logo del port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0" descr="Logo del portal"/>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8" name="Picture 14" descr="https://www.uv.es/fatwireed/userfiles/file/logo_UV_ETSEUV_2linea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290" y="44624"/>
            <a:ext cx="5703030" cy="792088"/>
          </a:xfrm>
          <a:prstGeom prst="rect">
            <a:avLst/>
          </a:prstGeom>
          <a:noFill/>
          <a:extLst>
            <a:ext uri="{909E8E84-426E-40DD-AFC4-6F175D3DCCD1}">
              <a14:hiddenFill xmlns:a14="http://schemas.microsoft.com/office/drawing/2010/main">
                <a:solidFill>
                  <a:srgbClr val="FFFFFF"/>
                </a:solidFill>
              </a14:hiddenFill>
            </a:ext>
          </a:extLst>
        </p:spPr>
      </p:pic>
      <p:sp>
        <p:nvSpPr>
          <p:cNvPr id="8" name="7 CuadroTexto"/>
          <p:cNvSpPr txBox="1"/>
          <p:nvPr/>
        </p:nvSpPr>
        <p:spPr>
          <a:xfrm>
            <a:off x="2699792" y="3140968"/>
            <a:ext cx="3329758" cy="461665"/>
          </a:xfrm>
          <a:prstGeom prst="rect">
            <a:avLst/>
          </a:prstGeom>
          <a:noFill/>
        </p:spPr>
        <p:txBody>
          <a:bodyPr wrap="none" rtlCol="0">
            <a:spAutoFit/>
          </a:bodyPr>
          <a:lstStyle/>
          <a:p>
            <a:r>
              <a:rPr lang="es-ES" sz="2400" b="1" dirty="0">
                <a:latin typeface="Arial" panose="020B0604020202020204" pitchFamily="34" charset="0"/>
                <a:cs typeface="Arial" panose="020B0604020202020204" pitchFamily="34" charset="0"/>
              </a:rPr>
              <a:t>Gestión de proyectos</a:t>
            </a:r>
          </a:p>
        </p:txBody>
      </p:sp>
    </p:spTree>
    <p:extLst>
      <p:ext uri="{BB962C8B-B14F-4D97-AF65-F5344CB8AC3E}">
        <p14:creationId xmlns:p14="http://schemas.microsoft.com/office/powerpoint/2010/main" val="250151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3705168" y="-33159"/>
            <a:ext cx="1518364"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Índice</a:t>
            </a:r>
          </a:p>
        </p:txBody>
      </p:sp>
      <p:sp>
        <p:nvSpPr>
          <p:cNvPr id="4" name="3 CuadroTexto"/>
          <p:cNvSpPr txBox="1"/>
          <p:nvPr/>
        </p:nvSpPr>
        <p:spPr>
          <a:xfrm>
            <a:off x="954023" y="1052736"/>
            <a:ext cx="3553152"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Tema 3. 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5 Rectángulo"/>
          <p:cNvSpPr/>
          <p:nvPr/>
        </p:nvSpPr>
        <p:spPr>
          <a:xfrm>
            <a:off x="1259632" y="1916832"/>
            <a:ext cx="7992888" cy="1723549"/>
          </a:xfrm>
          <a:prstGeom prst="rect">
            <a:avLst/>
          </a:prstGeom>
        </p:spPr>
        <p:txBody>
          <a:bodyPr wrap="square">
            <a:spAutoFit/>
          </a:bodyPr>
          <a:lstStyle/>
          <a:p>
            <a:pPr lvl="0">
              <a:spcBef>
                <a:spcPts val="400"/>
              </a:spcBef>
            </a:pPr>
            <a:r>
              <a:rPr lang="es-ES" sz="2400" dirty="0">
                <a:latin typeface="Arial" panose="020B0604020202020204" pitchFamily="34" charset="0"/>
                <a:cs typeface="Arial" panose="020B0604020202020204" pitchFamily="34" charset="0"/>
              </a:rPr>
              <a:t>3.1. La ejecución de proyectos industriales</a:t>
            </a:r>
          </a:p>
          <a:p>
            <a:pPr lvl="0">
              <a:spcBef>
                <a:spcPts val="400"/>
              </a:spcBef>
            </a:pPr>
            <a:r>
              <a:rPr lang="es-ES" sz="2400" dirty="0">
                <a:latin typeface="Arial" panose="020B0604020202020204" pitchFamily="34" charset="0"/>
                <a:cs typeface="Arial" panose="020B0604020202020204" pitchFamily="34" charset="0"/>
              </a:rPr>
              <a:t>3.2. La validación de proyectos industriales</a:t>
            </a:r>
          </a:p>
          <a:p>
            <a:pPr lvl="0">
              <a:spcBef>
                <a:spcPts val="400"/>
              </a:spcBef>
            </a:pPr>
            <a:r>
              <a:rPr lang="es-ES" sz="2400" dirty="0">
                <a:latin typeface="Arial" panose="020B0604020202020204" pitchFamily="34" charset="0"/>
                <a:cs typeface="Arial" panose="020B0604020202020204" pitchFamily="34" charset="0"/>
              </a:rPr>
              <a:t>3.3. El control de proyectos</a:t>
            </a:r>
          </a:p>
          <a:p>
            <a:pPr lvl="0">
              <a:spcBef>
                <a:spcPts val="400"/>
              </a:spcBef>
            </a:pPr>
            <a:r>
              <a:rPr lang="es-ES" sz="2400" dirty="0">
                <a:latin typeface="Arial" panose="020B0604020202020204" pitchFamily="34" charset="0"/>
                <a:cs typeface="Arial" panose="020B0604020202020204" pitchFamily="34" charset="0"/>
              </a:rPr>
              <a:t>3.4. El cierre del proyecto</a:t>
            </a:r>
          </a:p>
        </p:txBody>
      </p:sp>
      <p:sp>
        <p:nvSpPr>
          <p:cNvPr id="7" name="6 Marcador de número de diapositiva"/>
          <p:cNvSpPr>
            <a:spLocks noGrp="1"/>
          </p:cNvSpPr>
          <p:nvPr>
            <p:ph type="sldNum" sz="quarter" idx="12"/>
          </p:nvPr>
        </p:nvSpPr>
        <p:spPr>
          <a:xfrm>
            <a:off x="16178" y="6309320"/>
            <a:ext cx="37038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a:t>
            </a:fld>
            <a:endParaRPr lang="en-US"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9363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3705168" y="-33159"/>
            <a:ext cx="1518364"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Índice</a:t>
            </a:r>
          </a:p>
        </p:txBody>
      </p:sp>
      <p:sp>
        <p:nvSpPr>
          <p:cNvPr id="4" name="3 CuadroTexto"/>
          <p:cNvSpPr txBox="1"/>
          <p:nvPr/>
        </p:nvSpPr>
        <p:spPr>
          <a:xfrm>
            <a:off x="954023" y="1052736"/>
            <a:ext cx="3553152"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Tema 3. 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5 Rectángulo"/>
          <p:cNvSpPr/>
          <p:nvPr/>
        </p:nvSpPr>
        <p:spPr>
          <a:xfrm>
            <a:off x="1259632" y="1916832"/>
            <a:ext cx="7992888" cy="1723549"/>
          </a:xfrm>
          <a:prstGeom prst="rect">
            <a:avLst/>
          </a:prstGeom>
        </p:spPr>
        <p:txBody>
          <a:bodyPr wrap="square">
            <a:spAutoFit/>
          </a:bodyPr>
          <a:lstStyle/>
          <a:p>
            <a:pPr lvl="0">
              <a:spcBef>
                <a:spcPts val="400"/>
              </a:spcBef>
            </a:pPr>
            <a:r>
              <a:rPr lang="es-ES" sz="2400" dirty="0">
                <a:latin typeface="Arial" panose="020B0604020202020204" pitchFamily="34" charset="0"/>
                <a:cs typeface="Arial" panose="020B0604020202020204" pitchFamily="34" charset="0"/>
              </a:rPr>
              <a:t>3.1. La ejecución de proyectos industriales</a:t>
            </a:r>
          </a:p>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3.2. La validación de proyectos industriales</a:t>
            </a:r>
          </a:p>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3.3. El control de proyectos</a:t>
            </a:r>
          </a:p>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3.4. El cierre del proyecto</a:t>
            </a:r>
          </a:p>
        </p:txBody>
      </p:sp>
      <p:sp>
        <p:nvSpPr>
          <p:cNvPr id="7" name="6 Marcador de número de diapositiva"/>
          <p:cNvSpPr>
            <a:spLocks noGrp="1"/>
          </p:cNvSpPr>
          <p:nvPr>
            <p:ph type="sldNum" sz="quarter" idx="12"/>
          </p:nvPr>
        </p:nvSpPr>
        <p:spPr>
          <a:xfrm>
            <a:off x="16178" y="6309320"/>
            <a:ext cx="37038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a:t>
            </a:fld>
            <a:endParaRPr lang="en-US"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695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37038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4</a:t>
            </a:fld>
            <a:endParaRPr lang="en-US" sz="1600" dirty="0">
              <a:solidFill>
                <a:schemeClr val="bg1"/>
              </a:solidFill>
              <a:latin typeface="Arial" panose="020B0604020202020204" pitchFamily="34" charset="0"/>
              <a:cs typeface="Arial" panose="020B0604020202020204" pitchFamily="34" charset="0"/>
            </a:endParaRPr>
          </a:p>
        </p:txBody>
      </p:sp>
      <p:sp>
        <p:nvSpPr>
          <p:cNvPr id="10" name="Rectángulo 2"/>
          <p:cNvSpPr/>
          <p:nvPr/>
        </p:nvSpPr>
        <p:spPr>
          <a:xfrm>
            <a:off x="848816" y="836712"/>
            <a:ext cx="7467600" cy="2308324"/>
          </a:xfrm>
          <a:prstGeom prst="rect">
            <a:avLst/>
          </a:prstGeom>
        </p:spPr>
        <p:txBody>
          <a:bodyPr wrap="square">
            <a:spAutoFit/>
          </a:bodyPr>
          <a:lstStyle/>
          <a:p>
            <a:r>
              <a:rPr lang="es-ES_tradnl" dirty="0">
                <a:latin typeface="Arial" panose="020B0604020202020204" pitchFamily="34" charset="0"/>
                <a:cs typeface="Arial" panose="020B0604020202020204" pitchFamily="34" charset="0"/>
              </a:rPr>
              <a:t>Tipos de proyectos industriales:</a:t>
            </a:r>
          </a:p>
          <a:p>
            <a:endParaRPr lang="es-ES_tradnl" dirty="0">
              <a:latin typeface="Arial" panose="020B0604020202020204" pitchFamily="34" charset="0"/>
              <a:cs typeface="Arial" panose="020B0604020202020204" pitchFamily="34" charset="0"/>
            </a:endParaRPr>
          </a:p>
          <a:p>
            <a:pPr marL="742950" lvl="1" indent="-285750">
              <a:buClr>
                <a:srgbClr val="008000"/>
              </a:buClr>
              <a:buFont typeface="Wingdings" charset="2"/>
              <a:buChar char="Ø"/>
            </a:pPr>
            <a:r>
              <a:rPr lang="es-ES_tradnl" dirty="0">
                <a:latin typeface="Arial" panose="020B0604020202020204" pitchFamily="34" charset="0"/>
                <a:cs typeface="Arial" panose="020B0604020202020204" pitchFamily="34" charset="0"/>
              </a:rPr>
              <a:t>Proyectos de oficina técnica o de producto</a:t>
            </a:r>
          </a:p>
          <a:p>
            <a:pPr marL="742950" lvl="1" indent="-285750">
              <a:buClr>
                <a:srgbClr val="008000"/>
              </a:buClr>
              <a:buFont typeface="Wingdings" charset="2"/>
              <a:buChar char="Ø"/>
            </a:pPr>
            <a:r>
              <a:rPr lang="es-ES_tradnl" dirty="0">
                <a:latin typeface="Arial" panose="020B0604020202020204" pitchFamily="34" charset="0"/>
                <a:cs typeface="Arial" panose="020B0604020202020204" pitchFamily="34" charset="0"/>
              </a:rPr>
              <a:t>Proyectos de </a:t>
            </a:r>
            <a:r>
              <a:rPr lang="es-ES_tradnl" dirty="0" err="1">
                <a:latin typeface="Arial" panose="020B0604020202020204" pitchFamily="34" charset="0"/>
                <a:cs typeface="Arial" panose="020B0604020202020204" pitchFamily="34" charset="0"/>
              </a:rPr>
              <a:t>infraest</a:t>
            </a:r>
            <a:r>
              <a:rPr lang="ca-ES" dirty="0">
                <a:latin typeface="Arial" panose="020B0604020202020204" pitchFamily="34" charset="0"/>
                <a:cs typeface="Arial" panose="020B0604020202020204" pitchFamily="34" charset="0"/>
              </a:rPr>
              <a:t>r</a:t>
            </a:r>
            <a:r>
              <a:rPr lang="es-ES_tradnl" dirty="0">
                <a:latin typeface="Arial" panose="020B0604020202020204" pitchFamily="34" charset="0"/>
                <a:cs typeface="Arial" panose="020B0604020202020204" pitchFamily="34" charset="0"/>
              </a:rPr>
              <a:t>u</a:t>
            </a:r>
            <a:r>
              <a:rPr lang="ca-ES" dirty="0">
                <a:latin typeface="Arial" panose="020B0604020202020204" pitchFamily="34" charset="0"/>
                <a:cs typeface="Arial" panose="020B0604020202020204" pitchFamily="34" charset="0"/>
              </a:rPr>
              <a:t>c</a:t>
            </a:r>
            <a:r>
              <a:rPr lang="es-ES_tradnl" dirty="0" err="1">
                <a:latin typeface="Arial" panose="020B0604020202020204" pitchFamily="34" charset="0"/>
                <a:cs typeface="Arial" panose="020B0604020202020204" pitchFamily="34" charset="0"/>
              </a:rPr>
              <a:t>tura</a:t>
            </a:r>
            <a:r>
              <a:rPr lang="es-ES_tradnl" dirty="0">
                <a:latin typeface="Arial" panose="020B0604020202020204" pitchFamily="34" charset="0"/>
                <a:cs typeface="Arial" panose="020B0604020202020204" pitchFamily="34" charset="0"/>
              </a:rPr>
              <a:t> o de servicio</a:t>
            </a:r>
          </a:p>
          <a:p>
            <a:pPr marL="742950" lvl="1" indent="-285750">
              <a:buClr>
                <a:srgbClr val="008000"/>
              </a:buClr>
              <a:buFont typeface="Wingdings" charset="2"/>
              <a:buChar char="Ø"/>
            </a:pPr>
            <a:r>
              <a:rPr lang="es-ES_tradnl" dirty="0">
                <a:latin typeface="Arial" panose="020B0604020202020204" pitchFamily="34" charset="0"/>
                <a:cs typeface="Arial" panose="020B0604020202020204" pitchFamily="34" charset="0"/>
              </a:rPr>
              <a:t>Proyectos de </a:t>
            </a:r>
            <a:r>
              <a:rPr lang="es-ES_tradnl" dirty="0" err="1">
                <a:latin typeface="Arial" panose="020B0604020202020204" pitchFamily="34" charset="0"/>
                <a:cs typeface="Arial" panose="020B0604020202020204" pitchFamily="34" charset="0"/>
              </a:rPr>
              <a:t>I+D+i</a:t>
            </a:r>
            <a:endParaRPr lang="es-ES_tradnl" dirty="0">
              <a:latin typeface="Arial" panose="020B0604020202020204" pitchFamily="34" charset="0"/>
              <a:cs typeface="Arial" panose="020B0604020202020204" pitchFamily="34" charset="0"/>
            </a:endParaRPr>
          </a:p>
          <a:p>
            <a:pPr marL="742950" lvl="1" indent="-285750">
              <a:buClr>
                <a:srgbClr val="008000"/>
              </a:buClr>
              <a:buFont typeface="Wingdings" charset="2"/>
              <a:buChar char="Ø"/>
            </a:pPr>
            <a:endParaRPr lang="es-ES_tradnl" dirty="0">
              <a:latin typeface="Arial" panose="020B0604020202020204" pitchFamily="34" charset="0"/>
              <a:cs typeface="Arial" panose="020B0604020202020204" pitchFamily="34" charset="0"/>
            </a:endParaRPr>
          </a:p>
          <a:p>
            <a:pPr algn="just">
              <a:buClr>
                <a:srgbClr val="008000"/>
              </a:buClr>
            </a:pPr>
            <a:r>
              <a:rPr lang="es-ES_tradnl" dirty="0">
                <a:latin typeface="Arial" panose="020B0604020202020204" pitchFamily="34" charset="0"/>
                <a:cs typeface="Arial" panose="020B0604020202020204" pitchFamily="34" charset="0"/>
              </a:rPr>
              <a:t>La estructura organizativa habitual en empresas desarrolladoras de producto es la </a:t>
            </a:r>
            <a:r>
              <a:rPr lang="es-ES_tradnl" b="1" dirty="0">
                <a:latin typeface="Arial" panose="020B0604020202020204" pitchFamily="34" charset="0"/>
                <a:cs typeface="Arial" panose="020B0604020202020204" pitchFamily="34" charset="0"/>
              </a:rPr>
              <a:t>organización matricial</a:t>
            </a:r>
          </a:p>
        </p:txBody>
      </p:sp>
      <p:pic>
        <p:nvPicPr>
          <p:cNvPr id="11" name="Imagen 6"/>
          <p:cNvPicPr>
            <a:picLocks noChangeAspect="1"/>
          </p:cNvPicPr>
          <p:nvPr/>
        </p:nvPicPr>
        <p:blipFill>
          <a:blip r:embed="rId4"/>
          <a:stretch>
            <a:fillRect/>
          </a:stretch>
        </p:blipFill>
        <p:spPr>
          <a:xfrm>
            <a:off x="827584" y="3145036"/>
            <a:ext cx="8256649" cy="3314824"/>
          </a:xfrm>
          <a:prstGeom prst="rect">
            <a:avLst/>
          </a:prstGeom>
        </p:spPr>
      </p:pic>
    </p:spTree>
    <p:extLst>
      <p:ext uri="{BB962C8B-B14F-4D97-AF65-F5344CB8AC3E}">
        <p14:creationId xmlns:p14="http://schemas.microsoft.com/office/powerpoint/2010/main" val="318787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37038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5</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1331640" y="903040"/>
            <a:ext cx="7318029"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Gestión de un proyecto de oficina técnica</a:t>
            </a:r>
          </a:p>
        </p:txBody>
      </p:sp>
      <p:sp>
        <p:nvSpPr>
          <p:cNvPr id="4" name="3 Rectángulo"/>
          <p:cNvSpPr/>
          <p:nvPr/>
        </p:nvSpPr>
        <p:spPr>
          <a:xfrm>
            <a:off x="1115616" y="1472439"/>
            <a:ext cx="8028384" cy="5447645"/>
          </a:xfrm>
          <a:prstGeom prst="rect">
            <a:avLst/>
          </a:prstGeom>
        </p:spPr>
        <p:txBody>
          <a:bodyPr wrap="square">
            <a:spAutoFit/>
          </a:bodyPr>
          <a:lstStyle/>
          <a:p>
            <a:pPr>
              <a:spcAft>
                <a:spcPts val="600"/>
              </a:spcAft>
              <a:buClr>
                <a:srgbClr val="008000"/>
              </a:buClr>
            </a:pPr>
            <a:r>
              <a:rPr lang="es-ES_tradnl" b="1" dirty="0">
                <a:latin typeface="Arial" panose="020B0604020202020204" pitchFamily="34" charset="0"/>
                <a:cs typeface="Arial" panose="020B0604020202020204" pitchFamily="34" charset="0"/>
              </a:rPr>
              <a:t>1. Nombramiento del director del proyecto</a:t>
            </a:r>
          </a:p>
          <a:p>
            <a:pPr>
              <a:spcAft>
                <a:spcPts val="600"/>
              </a:spcAft>
            </a:pPr>
            <a:r>
              <a:rPr lang="es-ES_tradnl" b="1" dirty="0">
                <a:latin typeface="Arial" panose="020B0604020202020204" pitchFamily="34" charset="0"/>
                <a:cs typeface="Arial" panose="020B0604020202020204" pitchFamily="34" charset="0"/>
              </a:rPr>
              <a:t>2. Transferencia del proyecto de comercial al director de proyecto</a:t>
            </a:r>
            <a:endParaRPr lang="es-ES" b="1" dirty="0">
              <a:latin typeface="Arial" panose="020B0604020202020204" pitchFamily="34" charset="0"/>
              <a:cs typeface="Arial" panose="020B0604020202020204" pitchFamily="34" charset="0"/>
            </a:endParaRPr>
          </a:p>
          <a:p>
            <a:pPr>
              <a:spcAft>
                <a:spcPts val="600"/>
              </a:spcAft>
            </a:pPr>
            <a:r>
              <a:rPr lang="es-ES_tradnl" b="1" dirty="0">
                <a:latin typeface="Arial" panose="020B0604020202020204" pitchFamily="34" charset="0"/>
                <a:cs typeface="Arial" panose="020B0604020202020204" pitchFamily="34" charset="0"/>
              </a:rPr>
              <a:t>3. Estudio y planificación del proyecto</a:t>
            </a:r>
          </a:p>
          <a:p>
            <a:pPr>
              <a:spcAft>
                <a:spcPts val="600"/>
              </a:spcAft>
            </a:pPr>
            <a:r>
              <a:rPr lang="es-ES_tradnl" b="1" dirty="0">
                <a:latin typeface="Arial" panose="020B0604020202020204" pitchFamily="34" charset="0"/>
                <a:cs typeface="Arial" panose="020B0604020202020204" pitchFamily="34" charset="0"/>
              </a:rPr>
              <a:t>4. Reunión de lanzamiento</a:t>
            </a:r>
          </a:p>
          <a:p>
            <a:pPr>
              <a:spcAft>
                <a:spcPts val="600"/>
              </a:spcAft>
            </a:pPr>
            <a:r>
              <a:rPr lang="es-ES_tradnl" b="1" dirty="0">
                <a:latin typeface="Arial" panose="020B0604020202020204" pitchFamily="34" charset="0"/>
                <a:cs typeface="Arial" panose="020B0604020202020204" pitchFamily="34" charset="0"/>
              </a:rPr>
              <a:t>5. Acuse de recibo</a:t>
            </a:r>
          </a:p>
          <a:p>
            <a:pPr>
              <a:spcAft>
                <a:spcPts val="600"/>
              </a:spcAft>
              <a:buClr>
                <a:srgbClr val="008000"/>
              </a:buClr>
            </a:pPr>
            <a:r>
              <a:rPr lang="es-ES_tradnl" b="1" dirty="0">
                <a:latin typeface="Arial" panose="020B0604020202020204" pitchFamily="34" charset="0"/>
                <a:cs typeface="Arial" panose="020B0604020202020204" pitchFamily="34" charset="0"/>
              </a:rPr>
              <a:t>6. Planificación de mejoras</a:t>
            </a:r>
          </a:p>
          <a:p>
            <a:pPr>
              <a:spcAft>
                <a:spcPts val="600"/>
              </a:spcAft>
            </a:pPr>
            <a:r>
              <a:rPr lang="es-ES_tradnl" b="1" dirty="0">
                <a:latin typeface="Arial" panose="020B0604020202020204" pitchFamily="34" charset="0"/>
                <a:cs typeface="Arial" panose="020B0604020202020204" pitchFamily="34" charset="0"/>
              </a:rPr>
              <a:t>7. Negociación con los departamentos</a:t>
            </a:r>
            <a:endParaRPr lang="es-ES" b="1" dirty="0">
              <a:latin typeface="Arial" panose="020B0604020202020204" pitchFamily="34" charset="0"/>
              <a:cs typeface="Arial" panose="020B0604020202020204" pitchFamily="34" charset="0"/>
            </a:endParaRPr>
          </a:p>
          <a:p>
            <a:pPr>
              <a:spcAft>
                <a:spcPts val="600"/>
              </a:spcAft>
            </a:pPr>
            <a:r>
              <a:rPr lang="es-ES_tradnl" b="1" dirty="0">
                <a:latin typeface="Arial" panose="020B0604020202020204" pitchFamily="34" charset="0"/>
                <a:cs typeface="Arial" panose="020B0604020202020204" pitchFamily="34" charset="0"/>
              </a:rPr>
              <a:t>8. Planificación del proyecto</a:t>
            </a:r>
          </a:p>
          <a:p>
            <a:pPr>
              <a:spcAft>
                <a:spcPts val="600"/>
              </a:spcAft>
            </a:pPr>
            <a:r>
              <a:rPr lang="es-ES_tradnl" b="1" dirty="0">
                <a:latin typeface="Arial" panose="020B0604020202020204" pitchFamily="34" charset="0"/>
                <a:cs typeface="Arial" panose="020B0604020202020204" pitchFamily="34" charset="0"/>
              </a:rPr>
              <a:t>9. Realización y verificación diseño</a:t>
            </a:r>
            <a:endParaRPr lang="es-ES" b="1" dirty="0">
              <a:latin typeface="Arial" panose="020B0604020202020204" pitchFamily="34" charset="0"/>
              <a:cs typeface="Arial" panose="020B0604020202020204" pitchFamily="34" charset="0"/>
            </a:endParaRPr>
          </a:p>
          <a:p>
            <a:pPr algn="just">
              <a:spcAft>
                <a:spcPts val="600"/>
              </a:spcAft>
            </a:pPr>
            <a:r>
              <a:rPr lang="es-ES_tradnl" b="1" dirty="0">
                <a:latin typeface="Arial" panose="020B0604020202020204" pitchFamily="34" charset="0"/>
                <a:cs typeface="Arial" panose="020B0604020202020204" pitchFamily="34" charset="0"/>
              </a:rPr>
              <a:t>10. Fabricación</a:t>
            </a:r>
            <a:endParaRPr lang="es-ES" b="1" dirty="0">
              <a:latin typeface="Arial" panose="020B0604020202020204" pitchFamily="34" charset="0"/>
              <a:cs typeface="Arial" panose="020B0604020202020204" pitchFamily="34" charset="0"/>
            </a:endParaRPr>
          </a:p>
          <a:p>
            <a:pPr>
              <a:spcAft>
                <a:spcPts val="600"/>
              </a:spcAft>
            </a:pPr>
            <a:r>
              <a:rPr lang="es-ES_tradnl" b="1" dirty="0">
                <a:latin typeface="Arial" panose="020B0604020202020204" pitchFamily="34" charset="0"/>
                <a:cs typeface="Arial" panose="020B0604020202020204" pitchFamily="34" charset="0"/>
              </a:rPr>
              <a:t>11. Pruebas</a:t>
            </a:r>
          </a:p>
          <a:p>
            <a:pPr>
              <a:spcAft>
                <a:spcPts val="600"/>
              </a:spcAft>
            </a:pPr>
            <a:r>
              <a:rPr lang="es-ES_tradnl" b="1" dirty="0">
                <a:latin typeface="Arial" panose="020B0604020202020204" pitchFamily="34" charset="0"/>
                <a:cs typeface="Arial" panose="020B0604020202020204" pitchFamily="34" charset="0"/>
              </a:rPr>
              <a:t>12. Recepción por parte del cliente</a:t>
            </a:r>
            <a:endParaRPr lang="es-ES" b="1" dirty="0">
              <a:latin typeface="Arial" panose="020B0604020202020204" pitchFamily="34" charset="0"/>
              <a:cs typeface="Arial" panose="020B0604020202020204" pitchFamily="34" charset="0"/>
            </a:endParaRPr>
          </a:p>
          <a:p>
            <a:endParaRPr lang="es-ES" dirty="0">
              <a:solidFill>
                <a:srgbClr val="953735"/>
              </a:solidFill>
              <a:latin typeface="Arial" panose="020B0604020202020204" pitchFamily="34" charset="0"/>
              <a:cs typeface="Arial" panose="020B0604020202020204" pitchFamily="34" charset="0"/>
            </a:endParaRPr>
          </a:p>
          <a:p>
            <a:endParaRPr lang="es-ES" dirty="0">
              <a:solidFill>
                <a:srgbClr val="953735"/>
              </a:solidFill>
              <a:latin typeface="Arial" panose="020B0604020202020204" pitchFamily="34" charset="0"/>
              <a:cs typeface="Arial" panose="020B0604020202020204" pitchFamily="34" charset="0"/>
            </a:endParaRPr>
          </a:p>
          <a:p>
            <a:endParaRPr lang="es-ES_tradnl" b="1" dirty="0">
              <a:solidFill>
                <a:srgbClr val="953735"/>
              </a:solidFill>
              <a:latin typeface="Arial" panose="020B0604020202020204" pitchFamily="34" charset="0"/>
              <a:cs typeface="Arial" panose="020B0604020202020204" pitchFamily="34" charset="0"/>
            </a:endParaRPr>
          </a:p>
          <a:p>
            <a:endParaRPr lang="es-ES" dirty="0">
              <a:solidFill>
                <a:srgbClr val="95373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5437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37038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6</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1259632" y="692696"/>
            <a:ext cx="7358105"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Gestión de un proyecto de infraestructura</a:t>
            </a:r>
          </a:p>
        </p:txBody>
      </p:sp>
      <p:pic>
        <p:nvPicPr>
          <p:cNvPr id="9" name="Imagen 1"/>
          <p:cNvPicPr>
            <a:picLocks noChangeAspect="1"/>
          </p:cNvPicPr>
          <p:nvPr/>
        </p:nvPicPr>
        <p:blipFill>
          <a:blip r:embed="rId4"/>
          <a:stretch>
            <a:fillRect/>
          </a:stretch>
        </p:blipFill>
        <p:spPr>
          <a:xfrm>
            <a:off x="1341083" y="2420888"/>
            <a:ext cx="6710399" cy="4002881"/>
          </a:xfrm>
          <a:prstGeom prst="rect">
            <a:avLst/>
          </a:prstGeom>
        </p:spPr>
      </p:pic>
      <p:sp>
        <p:nvSpPr>
          <p:cNvPr id="10" name="CuadroTexto 1"/>
          <p:cNvSpPr txBox="1"/>
          <p:nvPr/>
        </p:nvSpPr>
        <p:spPr>
          <a:xfrm>
            <a:off x="840676" y="1196752"/>
            <a:ext cx="8051804" cy="1077218"/>
          </a:xfrm>
          <a:prstGeom prst="rect">
            <a:avLst/>
          </a:prstGeom>
          <a:noFill/>
          <a:ln>
            <a:noFill/>
          </a:ln>
        </p:spPr>
        <p:txBody>
          <a:bodyPr wrap="square" rtlCol="0">
            <a:spAutoFit/>
          </a:bodyPr>
          <a:lstStyle/>
          <a:p>
            <a:pPr algn="just"/>
            <a:r>
              <a:rPr lang="es-ES_tradnl" sz="1600" dirty="0">
                <a:latin typeface="Arial" panose="020B0604020202020204" pitchFamily="34" charset="0"/>
                <a:cs typeface="Arial" panose="020B0604020202020204" pitchFamily="34" charset="0"/>
              </a:rPr>
              <a:t>Proyecto para generar una </a:t>
            </a:r>
            <a:r>
              <a:rPr lang="es-ES_tradnl" sz="1600" b="1" dirty="0">
                <a:latin typeface="Arial" panose="020B0604020202020204" pitchFamily="34" charset="0"/>
                <a:cs typeface="Arial" panose="020B0604020202020204" pitchFamily="34" charset="0"/>
              </a:rPr>
              <a:t>infraestructura determinada </a:t>
            </a:r>
            <a:r>
              <a:rPr lang="es-ES_tradnl" sz="1600" dirty="0">
                <a:latin typeface="Arial" panose="020B0604020202020204" pitchFamily="34" charset="0"/>
                <a:cs typeface="Arial" panose="020B0604020202020204" pitchFamily="34" charset="0"/>
              </a:rPr>
              <a:t>y es entendido como un proyecto de </a:t>
            </a:r>
            <a:r>
              <a:rPr lang="es-ES_tradnl" sz="1600" b="1" dirty="0">
                <a:latin typeface="Arial" panose="020B0604020202020204" pitchFamily="34" charset="0"/>
                <a:cs typeface="Arial" panose="020B0604020202020204" pitchFamily="34" charset="0"/>
              </a:rPr>
              <a:t>gran envergadura </a:t>
            </a:r>
            <a:r>
              <a:rPr lang="es-ES_tradnl" sz="1600" dirty="0">
                <a:latin typeface="Arial" panose="020B0604020202020204" pitchFamily="34" charset="0"/>
                <a:cs typeface="Arial" panose="020B0604020202020204" pitchFamily="34" charset="0"/>
              </a:rPr>
              <a:t>y que en general requiere una estructura de tipo “orientada a proyecto” con una organización jerárquica funcional exclusivamente para acometer ese proyecto.  </a:t>
            </a:r>
          </a:p>
        </p:txBody>
      </p:sp>
    </p:spTree>
    <p:extLst>
      <p:ext uri="{BB962C8B-B14F-4D97-AF65-F5344CB8AC3E}">
        <p14:creationId xmlns:p14="http://schemas.microsoft.com/office/powerpoint/2010/main" val="38311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37038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7</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1259632" y="692696"/>
            <a:ext cx="7358105"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Gestión de un proyecto de infraestructura</a:t>
            </a:r>
          </a:p>
        </p:txBody>
      </p:sp>
      <p:sp>
        <p:nvSpPr>
          <p:cNvPr id="12" name="Rectángulo 2"/>
          <p:cNvSpPr/>
          <p:nvPr/>
        </p:nvSpPr>
        <p:spPr>
          <a:xfrm>
            <a:off x="1115616" y="1585248"/>
            <a:ext cx="7831534" cy="5262979"/>
          </a:xfrm>
          <a:prstGeom prst="rect">
            <a:avLst/>
          </a:prstGeom>
          <a:noFill/>
        </p:spPr>
        <p:txBody>
          <a:bodyPr wrap="square">
            <a:spAutoFit/>
          </a:bodyPr>
          <a:lstStyle/>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Edificio:</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donde instalar lo equipo de telefonía y terminar los cables de conexión de los usuarios.</a:t>
            </a:r>
            <a:endParaRPr lang="es-ES" sz="1400" dirty="0">
              <a:latin typeface="Arial" panose="020B0604020202020204" pitchFamily="34" charset="0"/>
              <a:cs typeface="Arial" panose="020B0604020202020204" pitchFamily="34" charset="0"/>
            </a:endParaRP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Equipo de conmutación digital:</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al que se conectarán los usuarios, que se instala en el edificio.</a:t>
            </a:r>
            <a:endParaRPr lang="es-ES" sz="1400" dirty="0">
              <a:latin typeface="Arial" panose="020B0604020202020204" pitchFamily="34" charset="0"/>
              <a:cs typeface="Arial" panose="020B0604020202020204" pitchFamily="34" charset="0"/>
            </a:endParaRP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Red urbana de cables de pares de cobre:</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desde los domicilios de los futuros usuarios hasta un lugar en el edificio, donde se prepara su conexión a equipo de conmutación.</a:t>
            </a: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Equipo de aire acondicionado:</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por ser un equipo digital, gobernado mediante ordenadores, la sala del edificio en que se instala debe poseer aire acondicionado.</a:t>
            </a:r>
            <a:endParaRPr lang="es-ES" sz="1400" dirty="0">
              <a:latin typeface="Arial" panose="020B0604020202020204" pitchFamily="34" charset="0"/>
              <a:cs typeface="Arial" panose="020B0604020202020204" pitchFamily="34" charset="0"/>
            </a:endParaRP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Baterías acumuladores o de respaldo:</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Los equipos de conmutación se alimentan de corriente continua, por lo que será necesario instalar bancadas de baterías de respaldo para el caso de un fallo en la acometida eléctrica.</a:t>
            </a:r>
            <a:endParaRPr lang="es-ES" sz="1400" dirty="0">
              <a:latin typeface="Arial" panose="020B0604020202020204" pitchFamily="34" charset="0"/>
              <a:cs typeface="Arial" panose="020B0604020202020204" pitchFamily="34" charset="0"/>
            </a:endParaRP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Rectificadores de corriente continua:</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Para alimentar los equipos de conmutación, transmisión etc. Así como recarga de las baterías, es necesario disponer de corriente continua.</a:t>
            </a:r>
            <a:endParaRPr lang="es-ES" sz="1400" dirty="0">
              <a:latin typeface="Arial" panose="020B0604020202020204" pitchFamily="34" charset="0"/>
              <a:cs typeface="Arial" panose="020B0604020202020204" pitchFamily="34" charset="0"/>
            </a:endParaRP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Transformadores de suministro:</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El suministro de corriente alterna es en alta tensión por lo que es necesario la instalación de transformadores de alta para pasar de la alta tensión ( 20 </a:t>
            </a:r>
            <a:r>
              <a:rPr lang="es-ES_tradnl" sz="1400" dirty="0" err="1">
                <a:latin typeface="Arial" panose="020B0604020202020204" pitchFamily="34" charset="0"/>
                <a:cs typeface="Arial" panose="020B0604020202020204" pitchFamily="34" charset="0"/>
              </a:rPr>
              <a:t>kV</a:t>
            </a:r>
            <a:r>
              <a:rPr lang="es-ES_tradnl" sz="1400" dirty="0">
                <a:latin typeface="Arial" panose="020B0604020202020204" pitchFamily="34" charset="0"/>
                <a:cs typeface="Arial" panose="020B0604020202020204" pitchFamily="34" charset="0"/>
              </a:rPr>
              <a:t>) a la baja tensión ( 380 V).</a:t>
            </a:r>
            <a:endParaRPr lang="es-ES" sz="1400" dirty="0">
              <a:latin typeface="Arial" panose="020B0604020202020204" pitchFamily="34" charset="0"/>
              <a:cs typeface="Arial" panose="020B0604020202020204" pitchFamily="34" charset="0"/>
            </a:endParaRP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Grupo electrógeno:</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Es necesario para el caso de un fallo prolongado del suministro eléctrico. </a:t>
            </a: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Radioenlace de microondas:</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los usuarios además de conectarse con otros de la misma central deben alcanzar la red provincial, nacional e internacional</a:t>
            </a: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Antena parabólica:</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El radioenlace requerirá de una antena para la transmisión de las señales.</a:t>
            </a:r>
            <a:endParaRPr lang="es-ES" sz="1400" dirty="0">
              <a:latin typeface="Arial" panose="020B0604020202020204" pitchFamily="34" charset="0"/>
              <a:cs typeface="Arial" panose="020B0604020202020204" pitchFamily="34" charset="0"/>
            </a:endParaRPr>
          </a:p>
          <a:p>
            <a:pPr marL="285750" indent="-285750" algn="just">
              <a:buClr>
                <a:srgbClr val="008000"/>
              </a:buClr>
              <a:buFont typeface="Wingdings" charset="2"/>
              <a:buChar char=""/>
            </a:pPr>
            <a:r>
              <a:rPr lang="es-ES_tradnl" sz="1400" b="1" i="1" u="sng" dirty="0">
                <a:solidFill>
                  <a:srgbClr val="008000"/>
                </a:solidFill>
                <a:latin typeface="Arial" panose="020B0604020202020204" pitchFamily="34" charset="0"/>
                <a:cs typeface="Arial" panose="020B0604020202020204" pitchFamily="34" charset="0"/>
              </a:rPr>
              <a:t>Torre:</a:t>
            </a:r>
            <a:r>
              <a:rPr lang="es-ES_tradnl" sz="1400" b="1" dirty="0">
                <a:solidFill>
                  <a:srgbClr val="008000"/>
                </a:solidFill>
                <a:latin typeface="Arial" panose="020B0604020202020204" pitchFamily="34" charset="0"/>
                <a:cs typeface="Arial" panose="020B0604020202020204" pitchFamily="34" charset="0"/>
              </a:rPr>
              <a:t> </a:t>
            </a:r>
            <a:r>
              <a:rPr lang="es-ES_tradnl" sz="1400" dirty="0">
                <a:latin typeface="Arial" panose="020B0604020202020204" pitchFamily="34" charset="0"/>
                <a:cs typeface="Arial" panose="020B0604020202020204" pitchFamily="34" charset="0"/>
              </a:rPr>
              <a:t>Donde se ubica la antena.</a:t>
            </a:r>
            <a:endParaRPr lang="es-ES" sz="1400" dirty="0">
              <a:latin typeface="Arial" panose="020B0604020202020204" pitchFamily="34" charset="0"/>
              <a:cs typeface="Arial" panose="020B0604020202020204" pitchFamily="34" charset="0"/>
            </a:endParaRPr>
          </a:p>
        </p:txBody>
      </p:sp>
      <p:sp>
        <p:nvSpPr>
          <p:cNvPr id="4" name="3 Rectángulo"/>
          <p:cNvSpPr/>
          <p:nvPr/>
        </p:nvSpPr>
        <p:spPr>
          <a:xfrm>
            <a:off x="1115616" y="1215916"/>
            <a:ext cx="7831534" cy="369332"/>
          </a:xfrm>
          <a:prstGeom prst="rect">
            <a:avLst/>
          </a:prstGeom>
        </p:spPr>
        <p:txBody>
          <a:bodyPr wrap="square">
            <a:spAutoFit/>
          </a:bodyPr>
          <a:lstStyle/>
          <a:p>
            <a:r>
              <a:rPr lang="es-ES_tradnl" b="1" dirty="0">
                <a:solidFill>
                  <a:srgbClr val="953735"/>
                </a:solidFill>
                <a:latin typeface="Arial" panose="020B0604020202020204" pitchFamily="34" charset="0"/>
                <a:cs typeface="Arial" panose="020B0604020202020204" pitchFamily="34" charset="0"/>
              </a:rPr>
              <a:t>Proyecto de despliegue de una central de telecomunicación</a:t>
            </a:r>
          </a:p>
        </p:txBody>
      </p:sp>
    </p:spTree>
    <p:extLst>
      <p:ext uri="{BB962C8B-B14F-4D97-AF65-F5344CB8AC3E}">
        <p14:creationId xmlns:p14="http://schemas.microsoft.com/office/powerpoint/2010/main" val="1545038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37038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8</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1503382" y="692696"/>
            <a:ext cx="5876930"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Ejecución de un proyecto interno</a:t>
            </a:r>
          </a:p>
        </p:txBody>
      </p:sp>
      <p:sp>
        <p:nvSpPr>
          <p:cNvPr id="23" name="CuadroTexto 7"/>
          <p:cNvSpPr txBox="1"/>
          <p:nvPr/>
        </p:nvSpPr>
        <p:spPr>
          <a:xfrm>
            <a:off x="1298250" y="2020899"/>
            <a:ext cx="3921822" cy="369332"/>
          </a:xfrm>
          <a:prstGeom prst="rect">
            <a:avLst/>
          </a:prstGeom>
          <a:noFill/>
        </p:spPr>
        <p:txBody>
          <a:bodyPr wrap="square" rtlCol="0">
            <a:spAutoFit/>
          </a:bodyPr>
          <a:lstStyle/>
          <a:p>
            <a:r>
              <a:rPr lang="es-ES" b="1" dirty="0">
                <a:latin typeface="Arial" panose="020B0604020202020204" pitchFamily="34" charset="0"/>
                <a:cs typeface="Arial" panose="020B0604020202020204" pitchFamily="34" charset="0"/>
              </a:rPr>
              <a:t>2. Evaluación alternativas diseño</a:t>
            </a:r>
          </a:p>
        </p:txBody>
      </p:sp>
      <p:sp>
        <p:nvSpPr>
          <p:cNvPr id="24" name="CuadroTexto 8"/>
          <p:cNvSpPr txBox="1"/>
          <p:nvPr/>
        </p:nvSpPr>
        <p:spPr>
          <a:xfrm>
            <a:off x="1259632" y="1588851"/>
            <a:ext cx="4861322" cy="369332"/>
          </a:xfrm>
          <a:prstGeom prst="rect">
            <a:avLst/>
          </a:prstGeom>
          <a:noFill/>
        </p:spPr>
        <p:txBody>
          <a:bodyPr wrap="square" rtlCol="0">
            <a:spAutoFit/>
          </a:bodyPr>
          <a:lstStyle/>
          <a:p>
            <a:r>
              <a:rPr lang="es-ES" b="1" dirty="0">
                <a:latin typeface="Arial" panose="020B0604020202020204" pitchFamily="34" charset="0"/>
                <a:cs typeface="Arial" panose="020B0604020202020204" pitchFamily="34" charset="0"/>
              </a:rPr>
              <a:t>1. Diseño del producto  o sistema</a:t>
            </a:r>
          </a:p>
        </p:txBody>
      </p:sp>
      <p:sp>
        <p:nvSpPr>
          <p:cNvPr id="25" name="CuadroTexto 9"/>
          <p:cNvSpPr txBox="1"/>
          <p:nvPr/>
        </p:nvSpPr>
        <p:spPr>
          <a:xfrm>
            <a:off x="1294738" y="2483604"/>
            <a:ext cx="3925334" cy="369332"/>
          </a:xfrm>
          <a:prstGeom prst="rect">
            <a:avLst/>
          </a:prstGeom>
          <a:noFill/>
        </p:spPr>
        <p:txBody>
          <a:bodyPr wrap="square" rtlCol="0">
            <a:spAutoFit/>
          </a:bodyPr>
          <a:lstStyle/>
          <a:p>
            <a:r>
              <a:rPr lang="es-ES" b="1" dirty="0">
                <a:latin typeface="Arial" panose="020B0604020202020204" pitchFamily="34" charset="0"/>
                <a:cs typeface="Arial" panose="020B0604020202020204" pitchFamily="34" charset="0"/>
              </a:rPr>
              <a:t>3. Documentación para prototipos</a:t>
            </a:r>
          </a:p>
        </p:txBody>
      </p:sp>
      <p:sp>
        <p:nvSpPr>
          <p:cNvPr id="26" name="CuadroTexto 27"/>
          <p:cNvSpPr txBox="1"/>
          <p:nvPr/>
        </p:nvSpPr>
        <p:spPr>
          <a:xfrm>
            <a:off x="1236106" y="2915652"/>
            <a:ext cx="1722690" cy="369332"/>
          </a:xfrm>
          <a:prstGeom prst="rect">
            <a:avLst/>
          </a:prstGeom>
          <a:noFill/>
        </p:spPr>
        <p:txBody>
          <a:bodyPr wrap="square" rtlCol="0">
            <a:spAutoFit/>
          </a:bodyPr>
          <a:lstStyle/>
          <a:p>
            <a:pPr algn="ctr"/>
            <a:r>
              <a:rPr lang="es-ES" b="1" dirty="0">
                <a:latin typeface="Arial" panose="020B0604020202020204" pitchFamily="34" charset="0"/>
                <a:cs typeface="Arial" panose="020B0604020202020204" pitchFamily="34" charset="0"/>
              </a:rPr>
              <a:t>4. Prototipos</a:t>
            </a:r>
          </a:p>
        </p:txBody>
      </p:sp>
      <p:sp>
        <p:nvSpPr>
          <p:cNvPr id="27" name="CuadroTexto 28"/>
          <p:cNvSpPr txBox="1"/>
          <p:nvPr/>
        </p:nvSpPr>
        <p:spPr>
          <a:xfrm>
            <a:off x="1043608" y="3356992"/>
            <a:ext cx="3604362" cy="369332"/>
          </a:xfrm>
          <a:prstGeom prst="rect">
            <a:avLst/>
          </a:prstGeom>
          <a:noFill/>
        </p:spPr>
        <p:txBody>
          <a:bodyPr wrap="square" rtlCol="0">
            <a:spAutoFit/>
          </a:bodyPr>
          <a:lstStyle/>
          <a:p>
            <a:pPr algn="ctr"/>
            <a:r>
              <a:rPr lang="es-ES" b="1" dirty="0">
                <a:latin typeface="Arial" panose="020B0604020202020204" pitchFamily="34" charset="0"/>
                <a:cs typeface="Arial" panose="020B0604020202020204" pitchFamily="34" charset="0"/>
              </a:rPr>
              <a:t>5. Pruebas de subsistemas</a:t>
            </a:r>
          </a:p>
        </p:txBody>
      </p:sp>
      <p:sp>
        <p:nvSpPr>
          <p:cNvPr id="28" name="CuadroTexto 29"/>
          <p:cNvSpPr txBox="1"/>
          <p:nvPr/>
        </p:nvSpPr>
        <p:spPr>
          <a:xfrm>
            <a:off x="1217053" y="3861048"/>
            <a:ext cx="3138923" cy="369332"/>
          </a:xfrm>
          <a:prstGeom prst="rect">
            <a:avLst/>
          </a:prstGeom>
          <a:noFill/>
        </p:spPr>
        <p:txBody>
          <a:bodyPr wrap="square" rtlCol="0">
            <a:spAutoFit/>
          </a:bodyPr>
          <a:lstStyle/>
          <a:p>
            <a:pPr algn="ctr"/>
            <a:r>
              <a:rPr lang="es-ES" b="1" dirty="0">
                <a:latin typeface="Arial" panose="020B0604020202020204" pitchFamily="34" charset="0"/>
                <a:cs typeface="Arial" panose="020B0604020202020204" pitchFamily="34" charset="0"/>
              </a:rPr>
              <a:t>6. Pruebas de integración</a:t>
            </a:r>
          </a:p>
        </p:txBody>
      </p:sp>
    </p:spTree>
    <p:extLst>
      <p:ext uri="{BB962C8B-B14F-4D97-AF65-F5344CB8AC3E}">
        <p14:creationId xmlns:p14="http://schemas.microsoft.com/office/powerpoint/2010/main" val="1422277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683568" y="-33159"/>
            <a:ext cx="854592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dirección de un proyecto industrial</a:t>
            </a:r>
          </a:p>
        </p:txBody>
      </p:sp>
      <p:sp>
        <p:nvSpPr>
          <p:cNvPr id="7" name="6 Marcador de número de diapositiva"/>
          <p:cNvSpPr>
            <a:spLocks noGrp="1"/>
          </p:cNvSpPr>
          <p:nvPr>
            <p:ph type="sldNum" sz="quarter" idx="12"/>
          </p:nvPr>
        </p:nvSpPr>
        <p:spPr>
          <a:xfrm>
            <a:off x="8607183" y="6491463"/>
            <a:ext cx="523374" cy="365125"/>
          </a:xfrm>
        </p:spPr>
        <p:txBody>
          <a:bodyPr/>
          <a:lstStyle/>
          <a:p>
            <a:fld id="{DAD8BA2F-E335-4939-99DC-A7E50E548284}" type="slidenum">
              <a:rPr lang="en-US" sz="1600" smtClean="0">
                <a:solidFill>
                  <a:schemeClr val="tx1"/>
                </a:solidFill>
                <a:latin typeface="Arial" panose="020B0604020202020204" pitchFamily="34" charset="0"/>
                <a:cs typeface="Arial" panose="020B0604020202020204" pitchFamily="34" charset="0"/>
              </a:rPr>
              <a:t>9</a:t>
            </a:fld>
            <a:endParaRPr lang="en-US" sz="1600" dirty="0">
              <a:solidFill>
                <a:schemeClr val="tx1"/>
              </a:solidFill>
              <a:latin typeface="Arial" panose="020B0604020202020204" pitchFamily="34" charset="0"/>
              <a:cs typeface="Arial" panose="020B0604020202020204" pitchFamily="34" charset="0"/>
            </a:endParaRPr>
          </a:p>
        </p:txBody>
      </p:sp>
      <p:sp>
        <p:nvSpPr>
          <p:cNvPr id="28" name="27 CuadroTexto"/>
          <p:cNvSpPr txBox="1"/>
          <p:nvPr/>
        </p:nvSpPr>
        <p:spPr>
          <a:xfrm>
            <a:off x="1617125" y="585075"/>
            <a:ext cx="3882794"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Fases de un proyecto</a:t>
            </a:r>
          </a:p>
        </p:txBody>
      </p:sp>
      <p:grpSp>
        <p:nvGrpSpPr>
          <p:cNvPr id="8" name="Agrupar 25"/>
          <p:cNvGrpSpPr/>
          <p:nvPr/>
        </p:nvGrpSpPr>
        <p:grpSpPr>
          <a:xfrm>
            <a:off x="539552" y="1728192"/>
            <a:ext cx="8404552" cy="1080120"/>
            <a:chOff x="254001" y="1079501"/>
            <a:chExt cx="8801100" cy="1238250"/>
          </a:xfrm>
        </p:grpSpPr>
        <p:grpSp>
          <p:nvGrpSpPr>
            <p:cNvPr id="10" name="Agrupar 26"/>
            <p:cNvGrpSpPr/>
            <p:nvPr/>
          </p:nvGrpSpPr>
          <p:grpSpPr>
            <a:xfrm>
              <a:off x="254001" y="1092200"/>
              <a:ext cx="3790948" cy="1206502"/>
              <a:chOff x="508001" y="1295399"/>
              <a:chExt cx="3594016" cy="952501"/>
            </a:xfrm>
            <a:solidFill>
              <a:schemeClr val="bg1">
                <a:lumMod val="85000"/>
              </a:schemeClr>
            </a:solidFill>
          </p:grpSpPr>
          <p:sp>
            <p:nvSpPr>
              <p:cNvPr id="15" name="Pentágono 31"/>
              <p:cNvSpPr/>
              <p:nvPr/>
            </p:nvSpPr>
            <p:spPr>
              <a:xfrm>
                <a:off x="508001" y="1295400"/>
                <a:ext cx="890978" cy="952500"/>
              </a:xfrm>
              <a:prstGeom prst="homePlate">
                <a:avLst/>
              </a:prstGeom>
              <a:solidFill>
                <a:srgbClr val="D9D9D9"/>
              </a:solidFill>
              <a:ln>
                <a:solidFill>
                  <a:srgbClr val="008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b="1" dirty="0">
                    <a:solidFill>
                      <a:srgbClr val="000000"/>
                    </a:solidFill>
                  </a:rPr>
                  <a:t>Inicio</a:t>
                </a:r>
              </a:p>
            </p:txBody>
          </p:sp>
          <p:sp>
            <p:nvSpPr>
              <p:cNvPr id="16" name="Cheurón 32"/>
              <p:cNvSpPr/>
              <p:nvPr/>
            </p:nvSpPr>
            <p:spPr>
              <a:xfrm>
                <a:off x="809007" y="1295399"/>
                <a:ext cx="2070925" cy="952500"/>
              </a:xfrm>
              <a:prstGeom prst="chevron">
                <a:avLst/>
              </a:prstGeom>
              <a:solidFill>
                <a:schemeClr val="bg1">
                  <a:lumMod val="85000"/>
                </a:schemeClr>
              </a:solidFill>
              <a:ln>
                <a:solidFill>
                  <a:srgbClr val="008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dirty="0">
                    <a:solidFill>
                      <a:schemeClr val="tx1"/>
                    </a:solidFill>
                  </a:rPr>
                  <a:t>Definición</a:t>
                </a:r>
              </a:p>
            </p:txBody>
          </p:sp>
          <p:sp>
            <p:nvSpPr>
              <p:cNvPr id="17" name="Cheurón 33"/>
              <p:cNvSpPr/>
              <p:nvPr/>
            </p:nvSpPr>
            <p:spPr>
              <a:xfrm>
                <a:off x="1910690" y="1295400"/>
                <a:ext cx="2191327" cy="952500"/>
              </a:xfrm>
              <a:prstGeom prst="chevron">
                <a:avLst/>
              </a:prstGeom>
              <a:solidFill>
                <a:schemeClr val="bg1">
                  <a:lumMod val="85000"/>
                </a:schemeClr>
              </a:solidFill>
              <a:ln>
                <a:solidFill>
                  <a:srgbClr val="008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dirty="0">
                    <a:solidFill>
                      <a:schemeClr val="tx1"/>
                    </a:solidFill>
                  </a:rPr>
                  <a:t>Viabilidad</a:t>
                </a:r>
              </a:p>
            </p:txBody>
          </p:sp>
        </p:grpSp>
        <p:sp>
          <p:nvSpPr>
            <p:cNvPr id="11" name="Cheurón 27"/>
            <p:cNvSpPr/>
            <p:nvPr/>
          </p:nvSpPr>
          <p:spPr>
            <a:xfrm>
              <a:off x="3035300" y="1092201"/>
              <a:ext cx="2349500" cy="1212852"/>
            </a:xfrm>
            <a:prstGeom prst="chevron">
              <a:avLst/>
            </a:prstGeom>
            <a:solidFill>
              <a:srgbClr val="92D050"/>
            </a:solidFill>
            <a:ln>
              <a:solidFill>
                <a:srgbClr val="008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dirty="0">
                  <a:solidFill>
                    <a:schemeClr val="tx1"/>
                  </a:solidFill>
                </a:rPr>
                <a:t>Planificación</a:t>
              </a:r>
            </a:p>
          </p:txBody>
        </p:sp>
        <p:sp>
          <p:nvSpPr>
            <p:cNvPr id="12" name="Cheurón 28"/>
            <p:cNvSpPr/>
            <p:nvPr/>
          </p:nvSpPr>
          <p:spPr>
            <a:xfrm>
              <a:off x="4679950" y="1085851"/>
              <a:ext cx="2152650" cy="1225552"/>
            </a:xfrm>
            <a:prstGeom prst="chevron">
              <a:avLst/>
            </a:prstGeom>
            <a:solidFill>
              <a:schemeClr val="bg1">
                <a:lumMod val="85000"/>
              </a:schemeClr>
            </a:solidFill>
            <a:ln>
              <a:solidFill>
                <a:srgbClr val="008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dirty="0">
                  <a:solidFill>
                    <a:schemeClr val="tx1"/>
                  </a:solidFill>
                </a:rPr>
                <a:t>Ejecución</a:t>
              </a:r>
              <a:r>
                <a:rPr lang="es-ES" dirty="0">
                  <a:solidFill>
                    <a:schemeClr val="tx1"/>
                  </a:solidFill>
                </a:rPr>
                <a:t> </a:t>
              </a:r>
              <a:r>
                <a:rPr lang="es-ES" sz="1400" dirty="0">
                  <a:solidFill>
                    <a:schemeClr val="tx1"/>
                  </a:solidFill>
                </a:rPr>
                <a:t>y</a:t>
              </a:r>
              <a:r>
                <a:rPr lang="es-ES" dirty="0">
                  <a:solidFill>
                    <a:schemeClr val="tx1"/>
                  </a:solidFill>
                </a:rPr>
                <a:t> </a:t>
              </a:r>
              <a:r>
                <a:rPr lang="es-ES" sz="1400" dirty="0">
                  <a:solidFill>
                    <a:schemeClr val="tx1"/>
                  </a:solidFill>
                </a:rPr>
                <a:t>Control</a:t>
              </a:r>
            </a:p>
          </p:txBody>
        </p:sp>
        <p:sp>
          <p:nvSpPr>
            <p:cNvPr id="13" name="Cheurón 29"/>
            <p:cNvSpPr/>
            <p:nvPr/>
          </p:nvSpPr>
          <p:spPr>
            <a:xfrm>
              <a:off x="5880100" y="1085849"/>
              <a:ext cx="2209800" cy="1231901"/>
            </a:xfrm>
            <a:prstGeom prst="chevron">
              <a:avLst/>
            </a:prstGeom>
            <a:solidFill>
              <a:srgbClr val="D9D9D9"/>
            </a:solidFill>
            <a:ln>
              <a:solidFill>
                <a:srgbClr val="008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dirty="0">
                  <a:solidFill>
                    <a:schemeClr val="tx1"/>
                  </a:solidFill>
                </a:rPr>
                <a:t>Validación</a:t>
              </a:r>
            </a:p>
          </p:txBody>
        </p:sp>
        <p:sp>
          <p:nvSpPr>
            <p:cNvPr id="14" name="Cheurón 30"/>
            <p:cNvSpPr/>
            <p:nvPr/>
          </p:nvSpPr>
          <p:spPr>
            <a:xfrm>
              <a:off x="7150100" y="1079501"/>
              <a:ext cx="1905001" cy="1238250"/>
            </a:xfrm>
            <a:prstGeom prst="chevron">
              <a:avLst/>
            </a:prstGeom>
            <a:solidFill>
              <a:schemeClr val="bg1">
                <a:lumMod val="85000"/>
              </a:schemeClr>
            </a:solidFill>
            <a:ln>
              <a:solidFill>
                <a:srgbClr val="008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dirty="0">
                  <a:solidFill>
                    <a:schemeClr val="tx1"/>
                  </a:solidFill>
                </a:rPr>
                <a:t>Cierre</a:t>
              </a:r>
            </a:p>
          </p:txBody>
        </p:sp>
      </p:grpSp>
      <p:sp>
        <p:nvSpPr>
          <p:cNvPr id="4" name="3 Cerrar llave"/>
          <p:cNvSpPr/>
          <p:nvPr/>
        </p:nvSpPr>
        <p:spPr>
          <a:xfrm rot="16200000">
            <a:off x="2665951" y="-360863"/>
            <a:ext cx="277887" cy="3922375"/>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17 Cerrar llave"/>
          <p:cNvSpPr/>
          <p:nvPr/>
        </p:nvSpPr>
        <p:spPr>
          <a:xfrm rot="16200000">
            <a:off x="5806566" y="-937725"/>
            <a:ext cx="277887" cy="4912669"/>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4 CuadroTexto"/>
          <p:cNvSpPr txBox="1"/>
          <p:nvPr/>
        </p:nvSpPr>
        <p:spPr>
          <a:xfrm>
            <a:off x="5505475" y="1007565"/>
            <a:ext cx="1172116" cy="369332"/>
          </a:xfrm>
          <a:prstGeom prst="rect">
            <a:avLst/>
          </a:prstGeom>
          <a:noFill/>
        </p:spPr>
        <p:txBody>
          <a:bodyPr wrap="none" rtlCol="0">
            <a:spAutoFit/>
          </a:bodyPr>
          <a:lstStyle/>
          <a:p>
            <a:r>
              <a:rPr lang="es-ES" b="1" dirty="0">
                <a:latin typeface="Arial" panose="020B0604020202020204" pitchFamily="34" charset="0"/>
                <a:cs typeface="Arial" panose="020B0604020202020204" pitchFamily="34" charset="0"/>
              </a:rPr>
              <a:t>Proyecto</a:t>
            </a:r>
          </a:p>
        </p:txBody>
      </p:sp>
      <p:sp>
        <p:nvSpPr>
          <p:cNvPr id="20" name="19 CuadroTexto"/>
          <p:cNvSpPr txBox="1"/>
          <p:nvPr/>
        </p:nvSpPr>
        <p:spPr>
          <a:xfrm>
            <a:off x="2165252" y="1114028"/>
            <a:ext cx="1672253" cy="369332"/>
          </a:xfrm>
          <a:prstGeom prst="rect">
            <a:avLst/>
          </a:prstGeom>
          <a:noFill/>
        </p:spPr>
        <p:txBody>
          <a:bodyPr wrap="none" rtlCol="0">
            <a:spAutoFit/>
          </a:bodyPr>
          <a:lstStyle/>
          <a:p>
            <a:r>
              <a:rPr lang="es-ES" b="1" dirty="0">
                <a:latin typeface="Arial" panose="020B0604020202020204" pitchFamily="34" charset="0"/>
                <a:cs typeface="Arial" panose="020B0604020202020204" pitchFamily="34" charset="0"/>
              </a:rPr>
              <a:t>Anteproyecto</a:t>
            </a:r>
          </a:p>
        </p:txBody>
      </p:sp>
      <p:grpSp>
        <p:nvGrpSpPr>
          <p:cNvPr id="26" name="Agrupar 13"/>
          <p:cNvGrpSpPr/>
          <p:nvPr/>
        </p:nvGrpSpPr>
        <p:grpSpPr>
          <a:xfrm>
            <a:off x="539552" y="2933352"/>
            <a:ext cx="7734300" cy="3811032"/>
            <a:chOff x="901700" y="2654300"/>
            <a:chExt cx="7734300" cy="3811032"/>
          </a:xfrm>
        </p:grpSpPr>
        <p:sp>
          <p:nvSpPr>
            <p:cNvPr id="30" name="CuadroTexto 17"/>
            <p:cNvSpPr txBox="1"/>
            <p:nvPr/>
          </p:nvSpPr>
          <p:spPr>
            <a:xfrm>
              <a:off x="901700" y="2654300"/>
              <a:ext cx="7696200" cy="369332"/>
            </a:xfrm>
            <a:prstGeom prst="rect">
              <a:avLst/>
            </a:prstGeom>
            <a:noFill/>
            <a:ln>
              <a:solidFill>
                <a:schemeClr val="tx2">
                  <a:lumMod val="60000"/>
                  <a:lumOff val="40000"/>
                </a:schemeClr>
              </a:solidFill>
            </a:ln>
          </p:spPr>
          <p:txBody>
            <a:bodyPr wrap="square" rtlCol="0">
              <a:spAutoFit/>
            </a:bodyPr>
            <a:lstStyle/>
            <a:p>
              <a:r>
                <a:rPr lang="es-ES" dirty="0"/>
                <a:t>Identificación de tareas</a:t>
              </a:r>
            </a:p>
          </p:txBody>
        </p:sp>
        <p:sp>
          <p:nvSpPr>
            <p:cNvPr id="32" name="CuadroTexto 19"/>
            <p:cNvSpPr txBox="1"/>
            <p:nvPr/>
          </p:nvSpPr>
          <p:spPr>
            <a:xfrm>
              <a:off x="901700" y="3149600"/>
              <a:ext cx="7696200" cy="369332"/>
            </a:xfrm>
            <a:prstGeom prst="rect">
              <a:avLst/>
            </a:prstGeom>
            <a:noFill/>
            <a:ln>
              <a:solidFill>
                <a:schemeClr val="tx2">
                  <a:lumMod val="60000"/>
                  <a:lumOff val="40000"/>
                </a:schemeClr>
              </a:solidFill>
            </a:ln>
          </p:spPr>
          <p:txBody>
            <a:bodyPr wrap="square" rtlCol="0">
              <a:spAutoFit/>
            </a:bodyPr>
            <a:lstStyle/>
            <a:p>
              <a:r>
                <a:rPr lang="es-ES" dirty="0"/>
                <a:t>Secuenciación de las tareas</a:t>
              </a:r>
            </a:p>
          </p:txBody>
        </p:sp>
        <p:sp>
          <p:nvSpPr>
            <p:cNvPr id="34" name="CuadroTexto 20"/>
            <p:cNvSpPr txBox="1"/>
            <p:nvPr/>
          </p:nvSpPr>
          <p:spPr>
            <a:xfrm>
              <a:off x="901700" y="3619500"/>
              <a:ext cx="7696200" cy="369332"/>
            </a:xfrm>
            <a:prstGeom prst="rect">
              <a:avLst/>
            </a:prstGeom>
            <a:noFill/>
            <a:ln>
              <a:solidFill>
                <a:schemeClr val="tx2">
                  <a:lumMod val="60000"/>
                  <a:lumOff val="40000"/>
                </a:schemeClr>
              </a:solidFill>
            </a:ln>
          </p:spPr>
          <p:txBody>
            <a:bodyPr wrap="square" rtlCol="0">
              <a:spAutoFit/>
            </a:bodyPr>
            <a:lstStyle/>
            <a:p>
              <a:r>
                <a:rPr lang="es-ES" dirty="0"/>
                <a:t>Estimación de duración y de los recursos materiales y humanos</a:t>
              </a:r>
            </a:p>
          </p:txBody>
        </p:sp>
        <p:sp>
          <p:nvSpPr>
            <p:cNvPr id="35" name="CuadroTexto 21"/>
            <p:cNvSpPr txBox="1"/>
            <p:nvPr/>
          </p:nvSpPr>
          <p:spPr>
            <a:xfrm>
              <a:off x="901700" y="4114800"/>
              <a:ext cx="7696200" cy="369332"/>
            </a:xfrm>
            <a:prstGeom prst="rect">
              <a:avLst/>
            </a:prstGeom>
            <a:noFill/>
            <a:ln>
              <a:solidFill>
                <a:schemeClr val="tx2">
                  <a:lumMod val="60000"/>
                  <a:lumOff val="40000"/>
                </a:schemeClr>
              </a:solidFill>
            </a:ln>
          </p:spPr>
          <p:txBody>
            <a:bodyPr wrap="square" rtlCol="0">
              <a:spAutoFit/>
            </a:bodyPr>
            <a:lstStyle/>
            <a:p>
              <a:r>
                <a:rPr lang="es-ES" dirty="0"/>
                <a:t>Estimación de coste de cada una de las tareas</a:t>
              </a:r>
            </a:p>
          </p:txBody>
        </p:sp>
        <p:sp>
          <p:nvSpPr>
            <p:cNvPr id="36" name="CuadroTexto 22"/>
            <p:cNvSpPr txBox="1"/>
            <p:nvPr/>
          </p:nvSpPr>
          <p:spPr>
            <a:xfrm>
              <a:off x="927100" y="4610100"/>
              <a:ext cx="7696200" cy="369332"/>
            </a:xfrm>
            <a:prstGeom prst="rect">
              <a:avLst/>
            </a:prstGeom>
            <a:noFill/>
            <a:ln>
              <a:solidFill>
                <a:schemeClr val="tx2">
                  <a:lumMod val="60000"/>
                  <a:lumOff val="40000"/>
                </a:schemeClr>
              </a:solidFill>
            </a:ln>
          </p:spPr>
          <p:txBody>
            <a:bodyPr wrap="square" rtlCol="0">
              <a:spAutoFit/>
            </a:bodyPr>
            <a:lstStyle/>
            <a:p>
              <a:r>
                <a:rPr lang="es-ES" dirty="0"/>
                <a:t>Planificación mediante un cronograma</a:t>
              </a:r>
            </a:p>
          </p:txBody>
        </p:sp>
        <p:sp>
          <p:nvSpPr>
            <p:cNvPr id="37" name="CuadroTexto 23"/>
            <p:cNvSpPr txBox="1"/>
            <p:nvPr/>
          </p:nvSpPr>
          <p:spPr>
            <a:xfrm>
              <a:off x="939800" y="5105400"/>
              <a:ext cx="7696200" cy="369332"/>
            </a:xfrm>
            <a:prstGeom prst="rect">
              <a:avLst/>
            </a:prstGeom>
            <a:noFill/>
            <a:ln>
              <a:solidFill>
                <a:schemeClr val="tx2">
                  <a:lumMod val="60000"/>
                  <a:lumOff val="40000"/>
                </a:schemeClr>
              </a:solidFill>
            </a:ln>
          </p:spPr>
          <p:txBody>
            <a:bodyPr wrap="square" rtlCol="0">
              <a:spAutoFit/>
            </a:bodyPr>
            <a:lstStyle/>
            <a:p>
              <a:r>
                <a:rPr lang="es-ES" dirty="0"/>
                <a:t>Cálculo del coste del proyecto</a:t>
              </a:r>
            </a:p>
          </p:txBody>
        </p:sp>
        <p:sp>
          <p:nvSpPr>
            <p:cNvPr id="38" name="CuadroTexto 24"/>
            <p:cNvSpPr txBox="1"/>
            <p:nvPr/>
          </p:nvSpPr>
          <p:spPr>
            <a:xfrm>
              <a:off x="939800" y="5613400"/>
              <a:ext cx="7696200" cy="369332"/>
            </a:xfrm>
            <a:prstGeom prst="rect">
              <a:avLst/>
            </a:prstGeom>
            <a:noFill/>
            <a:ln>
              <a:solidFill>
                <a:schemeClr val="tx2">
                  <a:lumMod val="60000"/>
                  <a:lumOff val="40000"/>
                </a:schemeClr>
              </a:solidFill>
            </a:ln>
          </p:spPr>
          <p:txBody>
            <a:bodyPr wrap="square" rtlCol="0">
              <a:spAutoFit/>
            </a:bodyPr>
            <a:lstStyle/>
            <a:p>
              <a:r>
                <a:rPr lang="es-ES" dirty="0"/>
                <a:t>Cálculo de la duración del proyecto</a:t>
              </a:r>
            </a:p>
          </p:txBody>
        </p:sp>
        <p:sp>
          <p:nvSpPr>
            <p:cNvPr id="39" name="CuadroTexto 25"/>
            <p:cNvSpPr txBox="1"/>
            <p:nvPr/>
          </p:nvSpPr>
          <p:spPr>
            <a:xfrm>
              <a:off x="939800" y="6096000"/>
              <a:ext cx="7696200" cy="369332"/>
            </a:xfrm>
            <a:prstGeom prst="rect">
              <a:avLst/>
            </a:prstGeom>
            <a:noFill/>
            <a:ln>
              <a:solidFill>
                <a:schemeClr val="tx2">
                  <a:lumMod val="60000"/>
                  <a:lumOff val="40000"/>
                </a:schemeClr>
              </a:solidFill>
            </a:ln>
          </p:spPr>
          <p:txBody>
            <a:bodyPr wrap="square" rtlCol="0">
              <a:spAutoFit/>
            </a:bodyPr>
            <a:lstStyle/>
            <a:p>
              <a:r>
                <a:rPr lang="es-ES" dirty="0"/>
                <a:t>Optimización y/o compresión de la planificación</a:t>
              </a:r>
            </a:p>
          </p:txBody>
        </p:sp>
      </p:grpSp>
      <p:sp>
        <p:nvSpPr>
          <p:cNvPr id="29" name="8 CuadroTexto">
            <a:extLst>
              <a:ext uri="{FF2B5EF4-FFF2-40B4-BE49-F238E27FC236}">
                <a16:creationId xmlns:a16="http://schemas.microsoft.com/office/drawing/2014/main" id="{E567BE0C-FB96-4051-BF74-47DE9715D820}"/>
              </a:ext>
            </a:extLst>
          </p:cNvPr>
          <p:cNvSpPr txBox="1"/>
          <p:nvPr/>
        </p:nvSpPr>
        <p:spPr>
          <a:xfrm>
            <a:off x="2195736" y="-33159"/>
            <a:ext cx="4903907"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Gestión de proyectos</a:t>
            </a:r>
          </a:p>
        </p:txBody>
      </p:sp>
      <p:sp>
        <p:nvSpPr>
          <p:cNvPr id="31" name="2 CuadroTexto">
            <a:extLst>
              <a:ext uri="{FF2B5EF4-FFF2-40B4-BE49-F238E27FC236}">
                <a16:creationId xmlns:a16="http://schemas.microsoft.com/office/drawing/2014/main" id="{8BE8795F-68E4-46CA-B494-CAFDBB36D2C5}"/>
              </a:ext>
            </a:extLst>
          </p:cNvPr>
          <p:cNvSpPr txBox="1"/>
          <p:nvPr/>
        </p:nvSpPr>
        <p:spPr>
          <a:xfrm>
            <a:off x="578351" y="1"/>
            <a:ext cx="867416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Caracterización de proyectos externos</a:t>
            </a:r>
          </a:p>
        </p:txBody>
      </p:sp>
      <p:sp>
        <p:nvSpPr>
          <p:cNvPr id="33" name="2 CuadroTexto">
            <a:extLst>
              <a:ext uri="{FF2B5EF4-FFF2-40B4-BE49-F238E27FC236}">
                <a16:creationId xmlns:a16="http://schemas.microsoft.com/office/drawing/2014/main" id="{7D7881FC-2D56-47B9-A64D-05D991CD9C16}"/>
              </a:ext>
            </a:extLst>
          </p:cNvPr>
          <p:cNvSpPr txBox="1"/>
          <p:nvPr/>
        </p:nvSpPr>
        <p:spPr>
          <a:xfrm>
            <a:off x="578351" y="1"/>
            <a:ext cx="867416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Caracterización de proyectos externos</a:t>
            </a:r>
          </a:p>
        </p:txBody>
      </p:sp>
      <p:sp>
        <p:nvSpPr>
          <p:cNvPr id="40" name="2 CuadroTexto">
            <a:extLst>
              <a:ext uri="{FF2B5EF4-FFF2-40B4-BE49-F238E27FC236}">
                <a16:creationId xmlns:a16="http://schemas.microsoft.com/office/drawing/2014/main" id="{024BDC2D-EF49-4ACF-9946-93983E96D009}"/>
              </a:ext>
            </a:extLst>
          </p:cNvPr>
          <p:cNvSpPr txBox="1"/>
          <p:nvPr/>
        </p:nvSpPr>
        <p:spPr>
          <a:xfrm>
            <a:off x="1331640" y="-33159"/>
            <a:ext cx="7391767"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proyecto de telecomunicación</a:t>
            </a:r>
          </a:p>
        </p:txBody>
      </p:sp>
      <p:sp>
        <p:nvSpPr>
          <p:cNvPr id="41" name="2 CuadroTexto">
            <a:extLst>
              <a:ext uri="{FF2B5EF4-FFF2-40B4-BE49-F238E27FC236}">
                <a16:creationId xmlns:a16="http://schemas.microsoft.com/office/drawing/2014/main" id="{E4D2BBA5-2D1B-4400-B3CA-B4A1BE0610DA}"/>
              </a:ext>
            </a:extLst>
          </p:cNvPr>
          <p:cNvSpPr txBox="1"/>
          <p:nvPr/>
        </p:nvSpPr>
        <p:spPr>
          <a:xfrm>
            <a:off x="1331640" y="-33159"/>
            <a:ext cx="7391767"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proyecto de telecomunicación</a:t>
            </a:r>
          </a:p>
        </p:txBody>
      </p:sp>
      <p:sp>
        <p:nvSpPr>
          <p:cNvPr id="42" name="2 CuadroTexto">
            <a:extLst>
              <a:ext uri="{FF2B5EF4-FFF2-40B4-BE49-F238E27FC236}">
                <a16:creationId xmlns:a16="http://schemas.microsoft.com/office/drawing/2014/main" id="{60C73B96-51A8-4D3E-8F4A-06B90985D8E9}"/>
              </a:ext>
            </a:extLst>
          </p:cNvPr>
          <p:cNvSpPr txBox="1"/>
          <p:nvPr/>
        </p:nvSpPr>
        <p:spPr>
          <a:xfrm>
            <a:off x="1331640" y="-33159"/>
            <a:ext cx="7391767"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proyecto de telecomunicación</a:t>
            </a:r>
          </a:p>
        </p:txBody>
      </p:sp>
      <p:sp>
        <p:nvSpPr>
          <p:cNvPr id="43" name="2 CuadroTexto">
            <a:extLst>
              <a:ext uri="{FF2B5EF4-FFF2-40B4-BE49-F238E27FC236}">
                <a16:creationId xmlns:a16="http://schemas.microsoft.com/office/drawing/2014/main" id="{EA3D998A-B128-45A9-B1AE-17D95DA121DD}"/>
              </a:ext>
            </a:extLst>
          </p:cNvPr>
          <p:cNvSpPr txBox="1"/>
          <p:nvPr/>
        </p:nvSpPr>
        <p:spPr>
          <a:xfrm>
            <a:off x="1331640" y="-33159"/>
            <a:ext cx="7391767"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proyecto de telecomunicación</a:t>
            </a:r>
          </a:p>
        </p:txBody>
      </p:sp>
      <p:sp>
        <p:nvSpPr>
          <p:cNvPr id="44" name="2 CuadroTexto">
            <a:extLst>
              <a:ext uri="{FF2B5EF4-FFF2-40B4-BE49-F238E27FC236}">
                <a16:creationId xmlns:a16="http://schemas.microsoft.com/office/drawing/2014/main" id="{72BF0054-4E8B-483A-B944-FC4C21D4C053}"/>
              </a:ext>
            </a:extLst>
          </p:cNvPr>
          <p:cNvSpPr txBox="1"/>
          <p:nvPr/>
        </p:nvSpPr>
        <p:spPr>
          <a:xfrm>
            <a:off x="3705168" y="-33159"/>
            <a:ext cx="1518364"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Índice</a:t>
            </a:r>
          </a:p>
        </p:txBody>
      </p:sp>
      <p:sp>
        <p:nvSpPr>
          <p:cNvPr id="45" name="2 CuadroTexto">
            <a:extLst>
              <a:ext uri="{FF2B5EF4-FFF2-40B4-BE49-F238E27FC236}">
                <a16:creationId xmlns:a16="http://schemas.microsoft.com/office/drawing/2014/main" id="{DD1EE2DF-7C77-4170-BD19-F8AA4024F30C}"/>
              </a:ext>
            </a:extLst>
          </p:cNvPr>
          <p:cNvSpPr txBox="1"/>
          <p:nvPr/>
        </p:nvSpPr>
        <p:spPr>
          <a:xfrm>
            <a:off x="603999" y="0"/>
            <a:ext cx="8648521"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1.1. El concepto de proyecto industrial</a:t>
            </a:r>
          </a:p>
        </p:txBody>
      </p:sp>
      <p:sp>
        <p:nvSpPr>
          <p:cNvPr id="46" name="2 CuadroTexto">
            <a:extLst>
              <a:ext uri="{FF2B5EF4-FFF2-40B4-BE49-F238E27FC236}">
                <a16:creationId xmlns:a16="http://schemas.microsoft.com/office/drawing/2014/main" id="{14C87180-3805-4E94-8EAC-62BB2200C3C4}"/>
              </a:ext>
            </a:extLst>
          </p:cNvPr>
          <p:cNvSpPr txBox="1"/>
          <p:nvPr/>
        </p:nvSpPr>
        <p:spPr>
          <a:xfrm>
            <a:off x="603999" y="0"/>
            <a:ext cx="8648521"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1.1. El concepto de proyecto industrial</a:t>
            </a:r>
          </a:p>
        </p:txBody>
      </p:sp>
      <p:sp>
        <p:nvSpPr>
          <p:cNvPr id="47" name="2 CuadroTexto">
            <a:extLst>
              <a:ext uri="{FF2B5EF4-FFF2-40B4-BE49-F238E27FC236}">
                <a16:creationId xmlns:a16="http://schemas.microsoft.com/office/drawing/2014/main" id="{B5152E88-B2CA-408E-872E-A8FC3238F87C}"/>
              </a:ext>
            </a:extLst>
          </p:cNvPr>
          <p:cNvSpPr txBox="1"/>
          <p:nvPr/>
        </p:nvSpPr>
        <p:spPr>
          <a:xfrm>
            <a:off x="603999" y="0"/>
            <a:ext cx="8648521"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1.1. El concepto de proyecto industrial</a:t>
            </a:r>
          </a:p>
        </p:txBody>
      </p:sp>
      <p:sp>
        <p:nvSpPr>
          <p:cNvPr id="48" name="2 CuadroTexto">
            <a:extLst>
              <a:ext uri="{FF2B5EF4-FFF2-40B4-BE49-F238E27FC236}">
                <a16:creationId xmlns:a16="http://schemas.microsoft.com/office/drawing/2014/main" id="{2E399CD9-A5F9-4167-AA12-CC8C32A9B22B}"/>
              </a:ext>
            </a:extLst>
          </p:cNvPr>
          <p:cNvSpPr txBox="1"/>
          <p:nvPr/>
        </p:nvSpPr>
        <p:spPr>
          <a:xfrm>
            <a:off x="603999" y="0"/>
            <a:ext cx="8648521"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1.1. El concepto de proyecto industrial</a:t>
            </a:r>
          </a:p>
        </p:txBody>
      </p:sp>
      <p:sp>
        <p:nvSpPr>
          <p:cNvPr id="49" name="2 CuadroTexto">
            <a:extLst>
              <a:ext uri="{FF2B5EF4-FFF2-40B4-BE49-F238E27FC236}">
                <a16:creationId xmlns:a16="http://schemas.microsoft.com/office/drawing/2014/main" id="{DAB8D42B-6EE5-46D7-85DD-9AF12BBE32EE}"/>
              </a:ext>
            </a:extLst>
          </p:cNvPr>
          <p:cNvSpPr txBox="1"/>
          <p:nvPr/>
        </p:nvSpPr>
        <p:spPr>
          <a:xfrm>
            <a:off x="603999" y="0"/>
            <a:ext cx="8648521"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1.1. El concepto de proyecto industrial</a:t>
            </a:r>
          </a:p>
        </p:txBody>
      </p:sp>
      <p:sp>
        <p:nvSpPr>
          <p:cNvPr id="50" name="2 CuadroTexto">
            <a:extLst>
              <a:ext uri="{FF2B5EF4-FFF2-40B4-BE49-F238E27FC236}">
                <a16:creationId xmlns:a16="http://schemas.microsoft.com/office/drawing/2014/main" id="{CC6F9F1A-D36E-473B-AA34-B367A7570163}"/>
              </a:ext>
            </a:extLst>
          </p:cNvPr>
          <p:cNvSpPr txBox="1"/>
          <p:nvPr/>
        </p:nvSpPr>
        <p:spPr>
          <a:xfrm>
            <a:off x="3705168" y="-33159"/>
            <a:ext cx="1518364"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Índice</a:t>
            </a:r>
          </a:p>
        </p:txBody>
      </p:sp>
      <p:sp>
        <p:nvSpPr>
          <p:cNvPr id="51" name="Rectángulo 50">
            <a:extLst>
              <a:ext uri="{FF2B5EF4-FFF2-40B4-BE49-F238E27FC236}">
                <a16:creationId xmlns:a16="http://schemas.microsoft.com/office/drawing/2014/main" id="{2F659799-A944-40A5-9315-2BB6A781CF31}"/>
              </a:ext>
            </a:extLst>
          </p:cNvPr>
          <p:cNvSpPr/>
          <p:nvPr/>
        </p:nvSpPr>
        <p:spPr>
          <a:xfrm>
            <a:off x="-1000" y="-11321"/>
            <a:ext cx="9144000" cy="634388"/>
          </a:xfrm>
          <a:prstGeom prst="rect">
            <a:avLst/>
          </a:prstGeom>
          <a:gradFill flip="none" rotWithShape="1">
            <a:gsLst>
              <a:gs pos="100000">
                <a:srgbClr val="83A62A"/>
              </a:gs>
              <a:gs pos="0">
                <a:schemeClr val="tx1"/>
              </a:gs>
              <a:gs pos="9000">
                <a:schemeClr val="tx1"/>
              </a:gs>
              <a:gs pos="24000">
                <a:schemeClr val="accent3">
                  <a:lumMod val="50000"/>
                </a:schemeClr>
              </a:gs>
              <a:gs pos="61000">
                <a:srgbClr val="83A62A"/>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2" name="Imagen 51">
            <a:extLst>
              <a:ext uri="{FF2B5EF4-FFF2-40B4-BE49-F238E27FC236}">
                <a16:creationId xmlns:a16="http://schemas.microsoft.com/office/drawing/2014/main" id="{DB726087-A0FB-41FC-87F6-2C2A2E12FD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52320" y="-11321"/>
            <a:ext cx="1691680" cy="689203"/>
          </a:xfrm>
          <a:prstGeom prst="rect">
            <a:avLst/>
          </a:prstGeom>
        </p:spPr>
      </p:pic>
      <p:sp>
        <p:nvSpPr>
          <p:cNvPr id="2" name="2 CuadroTexto">
            <a:extLst>
              <a:ext uri="{FF2B5EF4-FFF2-40B4-BE49-F238E27FC236}">
                <a16:creationId xmlns:a16="http://schemas.microsoft.com/office/drawing/2014/main" id="{366F80B5-533F-CE0B-5BC9-CDB32DB6A4C6}"/>
              </a:ext>
            </a:extLst>
          </p:cNvPr>
          <p:cNvSpPr txBox="1"/>
          <p:nvPr/>
        </p:nvSpPr>
        <p:spPr>
          <a:xfrm>
            <a:off x="1614593" y="19855"/>
            <a:ext cx="3669594" cy="584775"/>
          </a:xfrm>
          <a:prstGeom prst="rect">
            <a:avLst/>
          </a:prstGeom>
          <a:noFill/>
        </p:spPr>
        <p:txBody>
          <a:bodyPr wrap="none" rtlCol="0">
            <a:spAutoFit/>
          </a:bodyPr>
          <a:lstStyle/>
          <a:p>
            <a:r>
              <a:rPr lang="es-ES" sz="3200" b="1" dirty="0">
                <a:solidFill>
                  <a:schemeClr val="bg1"/>
                </a:solidFill>
                <a:latin typeface="Arial" panose="020B0604020202020204" pitchFamily="34" charset="0"/>
                <a:cs typeface="Arial" panose="020B0604020202020204" pitchFamily="34" charset="0"/>
              </a:rPr>
              <a:t>Recordatorio UD1</a:t>
            </a:r>
          </a:p>
        </p:txBody>
      </p:sp>
    </p:spTree>
    <p:extLst>
      <p:ext uri="{BB962C8B-B14F-4D97-AF65-F5344CB8AC3E}">
        <p14:creationId xmlns:p14="http://schemas.microsoft.com/office/powerpoint/2010/main" val="2271051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37038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10</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1115616" y="692696"/>
            <a:ext cx="7936788"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Documentación: matriz de responsabilidades</a:t>
            </a:r>
          </a:p>
        </p:txBody>
      </p:sp>
      <p:graphicFrame>
        <p:nvGraphicFramePr>
          <p:cNvPr id="4" name="3 Objeto"/>
          <p:cNvGraphicFramePr>
            <a:graphicFrameLocks noChangeAspect="1"/>
          </p:cNvGraphicFramePr>
          <p:nvPr>
            <p:extLst>
              <p:ext uri="{D42A27DB-BD31-4B8C-83A1-F6EECF244321}">
                <p14:modId xmlns:p14="http://schemas.microsoft.com/office/powerpoint/2010/main" val="663049888"/>
              </p:ext>
            </p:extLst>
          </p:nvPr>
        </p:nvGraphicFramePr>
        <p:xfrm>
          <a:off x="2123728" y="1316727"/>
          <a:ext cx="4896544" cy="5441471"/>
        </p:xfrm>
        <a:graphic>
          <a:graphicData uri="http://schemas.openxmlformats.org/presentationml/2006/ole">
            <mc:AlternateContent xmlns:mc="http://schemas.openxmlformats.org/markup-compatibility/2006">
              <mc:Choice xmlns:v="urn:schemas-microsoft-com:vml" Requires="v">
                <p:oleObj name="Documento" r:id="rId4" imgW="5511597" imgH="6248170" progId="Word.Document.12">
                  <p:embed/>
                </p:oleObj>
              </mc:Choice>
              <mc:Fallback>
                <p:oleObj name="Documento" r:id="rId4" imgW="5511597" imgH="6248170" progId="Word.Document.12">
                  <p:embed/>
                  <p:pic>
                    <p:nvPicPr>
                      <p:cNvPr id="4" name="3 Objet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3728" y="1316727"/>
                        <a:ext cx="4896544" cy="544147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248009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37038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11</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1043608" y="692696"/>
            <a:ext cx="7697941"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Documentación: descripción de la actividad</a:t>
            </a:r>
          </a:p>
        </p:txBody>
      </p:sp>
      <p:pic>
        <p:nvPicPr>
          <p:cNvPr id="9" name="Imagen 1"/>
          <p:cNvPicPr>
            <a:picLocks noChangeAspect="1"/>
          </p:cNvPicPr>
          <p:nvPr/>
        </p:nvPicPr>
        <p:blipFill>
          <a:blip r:embed="rId4"/>
          <a:stretch>
            <a:fillRect/>
          </a:stretch>
        </p:blipFill>
        <p:spPr>
          <a:xfrm>
            <a:off x="2555776" y="1192134"/>
            <a:ext cx="4382387" cy="5534458"/>
          </a:xfrm>
          <a:prstGeom prst="rect">
            <a:avLst/>
          </a:prstGeom>
        </p:spPr>
      </p:pic>
    </p:spTree>
    <p:extLst>
      <p:ext uri="{BB962C8B-B14F-4D97-AF65-F5344CB8AC3E}">
        <p14:creationId xmlns:p14="http://schemas.microsoft.com/office/powerpoint/2010/main" val="720677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21049"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12</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899592" y="692696"/>
            <a:ext cx="7677102"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Documentación: propuesta de modificación</a:t>
            </a:r>
          </a:p>
        </p:txBody>
      </p:sp>
      <p:pic>
        <p:nvPicPr>
          <p:cNvPr id="10" name="Imagen 1"/>
          <p:cNvPicPr>
            <a:picLocks noChangeAspect="1"/>
          </p:cNvPicPr>
          <p:nvPr/>
        </p:nvPicPr>
        <p:blipFill>
          <a:blip r:embed="rId4"/>
          <a:stretch>
            <a:fillRect/>
          </a:stretch>
        </p:blipFill>
        <p:spPr>
          <a:xfrm>
            <a:off x="1763688" y="1236890"/>
            <a:ext cx="5829299" cy="5621110"/>
          </a:xfrm>
          <a:prstGeom prst="rect">
            <a:avLst/>
          </a:prstGeom>
        </p:spPr>
      </p:pic>
    </p:spTree>
    <p:extLst>
      <p:ext uri="{BB962C8B-B14F-4D97-AF65-F5344CB8AC3E}">
        <p14:creationId xmlns:p14="http://schemas.microsoft.com/office/powerpoint/2010/main" val="3200245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21049"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13</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899592" y="692696"/>
            <a:ext cx="7515199"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Documentación: orden de trabajo o pedido</a:t>
            </a:r>
          </a:p>
        </p:txBody>
      </p:sp>
      <p:pic>
        <p:nvPicPr>
          <p:cNvPr id="9" name="Imagen 1"/>
          <p:cNvPicPr>
            <a:picLocks noChangeAspect="1"/>
          </p:cNvPicPr>
          <p:nvPr/>
        </p:nvPicPr>
        <p:blipFill>
          <a:blip r:embed="rId4"/>
          <a:stretch>
            <a:fillRect/>
          </a:stretch>
        </p:blipFill>
        <p:spPr>
          <a:xfrm>
            <a:off x="2442071" y="1195996"/>
            <a:ext cx="4921080" cy="5660189"/>
          </a:xfrm>
          <a:prstGeom prst="rect">
            <a:avLst/>
          </a:prstGeom>
        </p:spPr>
      </p:pic>
    </p:spTree>
    <p:extLst>
      <p:ext uri="{BB962C8B-B14F-4D97-AF65-F5344CB8AC3E}">
        <p14:creationId xmlns:p14="http://schemas.microsoft.com/office/powerpoint/2010/main" val="2624596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552702" y="-33159"/>
            <a:ext cx="8699818"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ejecución de proyectos industriales</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21049"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14</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1423945" y="692696"/>
            <a:ext cx="6460423"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Documentación: informes de avance</a:t>
            </a:r>
          </a:p>
        </p:txBody>
      </p:sp>
      <p:pic>
        <p:nvPicPr>
          <p:cNvPr id="10" name="Imagen 4"/>
          <p:cNvPicPr>
            <a:picLocks noChangeAspect="1"/>
          </p:cNvPicPr>
          <p:nvPr/>
        </p:nvPicPr>
        <p:blipFill>
          <a:blip r:embed="rId4"/>
          <a:stretch>
            <a:fillRect/>
          </a:stretch>
        </p:blipFill>
        <p:spPr>
          <a:xfrm>
            <a:off x="994902" y="1628800"/>
            <a:ext cx="7815417" cy="4987378"/>
          </a:xfrm>
          <a:prstGeom prst="rect">
            <a:avLst/>
          </a:prstGeom>
        </p:spPr>
      </p:pic>
    </p:spTree>
    <p:extLst>
      <p:ext uri="{BB962C8B-B14F-4D97-AF65-F5344CB8AC3E}">
        <p14:creationId xmlns:p14="http://schemas.microsoft.com/office/powerpoint/2010/main" val="1897460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3705168" y="-33159"/>
            <a:ext cx="1518364"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Índice</a:t>
            </a:r>
          </a:p>
        </p:txBody>
      </p:sp>
      <p:sp>
        <p:nvSpPr>
          <p:cNvPr id="4" name="3 CuadroTexto"/>
          <p:cNvSpPr txBox="1"/>
          <p:nvPr/>
        </p:nvSpPr>
        <p:spPr>
          <a:xfrm>
            <a:off x="954023" y="1052736"/>
            <a:ext cx="3553152"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Tema 3. 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5 Rectángulo"/>
          <p:cNvSpPr/>
          <p:nvPr/>
        </p:nvSpPr>
        <p:spPr>
          <a:xfrm>
            <a:off x="1259632" y="1916832"/>
            <a:ext cx="7992888" cy="1723549"/>
          </a:xfrm>
          <a:prstGeom prst="rect">
            <a:avLst/>
          </a:prstGeom>
        </p:spPr>
        <p:txBody>
          <a:bodyPr wrap="square">
            <a:spAutoFit/>
          </a:bodyPr>
          <a:lstStyle/>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3.1. La ejecución de proyectos industriales</a:t>
            </a:r>
          </a:p>
          <a:p>
            <a:pPr lvl="0">
              <a:spcBef>
                <a:spcPts val="400"/>
              </a:spcBef>
            </a:pPr>
            <a:r>
              <a:rPr lang="es-ES" sz="2400" dirty="0">
                <a:latin typeface="Arial" panose="020B0604020202020204" pitchFamily="34" charset="0"/>
                <a:cs typeface="Arial" panose="020B0604020202020204" pitchFamily="34" charset="0"/>
              </a:rPr>
              <a:t>3.2. La validación de proyectos industriales</a:t>
            </a:r>
          </a:p>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3.3. El control de proyectos</a:t>
            </a:r>
          </a:p>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3.4. El cierre del proyecto</a:t>
            </a:r>
          </a:p>
        </p:txBody>
      </p:sp>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15</a:t>
            </a:fld>
            <a:endParaRPr lang="en-US"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8648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ángulo 33">
            <a:extLst>
              <a:ext uri="{FF2B5EF4-FFF2-40B4-BE49-F238E27FC236}">
                <a16:creationId xmlns:a16="http://schemas.microsoft.com/office/drawing/2014/main" id="{97F6A92E-4A37-4E17-A971-2EA4095B91D9}"/>
              </a:ext>
            </a:extLst>
          </p:cNvPr>
          <p:cNvSpPr/>
          <p:nvPr/>
        </p:nvSpPr>
        <p:spPr>
          <a:xfrm>
            <a:off x="1929879" y="5137678"/>
            <a:ext cx="5111913" cy="1675698"/>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ángulo 32">
            <a:extLst>
              <a:ext uri="{FF2B5EF4-FFF2-40B4-BE49-F238E27FC236}">
                <a16:creationId xmlns:a16="http://schemas.microsoft.com/office/drawing/2014/main" id="{B6DAF78E-E879-4258-9C15-ADAA616CC722}"/>
              </a:ext>
            </a:extLst>
          </p:cNvPr>
          <p:cNvSpPr/>
          <p:nvPr/>
        </p:nvSpPr>
        <p:spPr>
          <a:xfrm>
            <a:off x="1917431" y="3220373"/>
            <a:ext cx="5111913" cy="1917404"/>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11">
            <a:extLst>
              <a:ext uri="{FF2B5EF4-FFF2-40B4-BE49-F238E27FC236}">
                <a16:creationId xmlns:a16="http://schemas.microsoft.com/office/drawing/2014/main" id="{AB26232C-4C96-4573-8730-DB20FC143C74}"/>
              </a:ext>
            </a:extLst>
          </p:cNvPr>
          <p:cNvSpPr/>
          <p:nvPr/>
        </p:nvSpPr>
        <p:spPr>
          <a:xfrm>
            <a:off x="1929880" y="1303068"/>
            <a:ext cx="5111913" cy="1917404"/>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Forma en L"/>
          <p:cNvSpPr/>
          <p:nvPr/>
        </p:nvSpPr>
        <p:spPr>
          <a:xfrm rot="5400000">
            <a:off x="1110635" y="-1177839"/>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sp>
        <p:nvSpPr>
          <p:cNvPr id="4" name="3 CuadroTexto"/>
          <p:cNvSpPr txBox="1"/>
          <p:nvPr/>
        </p:nvSpPr>
        <p:spPr>
          <a:xfrm>
            <a:off x="1763688" y="687896"/>
            <a:ext cx="6718506" cy="523220"/>
          </a:xfrm>
          <a:prstGeom prst="rect">
            <a:avLst/>
          </a:prstGeom>
          <a:noFill/>
        </p:spPr>
        <p:txBody>
          <a:bodyPr wrap="none" rtlCol="0">
            <a:spAutoFit/>
          </a:bodyPr>
          <a:lstStyle/>
          <a:p>
            <a:r>
              <a:rPr lang="es-ES" sz="2800" b="1" u="sng">
                <a:solidFill>
                  <a:schemeClr val="accent3">
                    <a:lumMod val="50000"/>
                  </a:schemeClr>
                </a:solidFill>
                <a:latin typeface="Arial" panose="020B0604020202020204" pitchFamily="34" charset="0"/>
                <a:cs typeface="Arial" panose="020B0604020202020204" pitchFamily="34" charset="0"/>
              </a:rPr>
              <a:t>La ejecución, verificación y validación</a:t>
            </a:r>
            <a:endParaRPr lang="es-ES" sz="2800" b="1" u="sng" dirty="0">
              <a:solidFill>
                <a:schemeClr val="accent3">
                  <a:lumMod val="50000"/>
                </a:schemeClr>
              </a:solidFill>
              <a:latin typeface="Arial" panose="020B0604020202020204" pitchFamily="34" charset="0"/>
              <a:cs typeface="Arial" panose="020B0604020202020204" pitchFamily="34" charset="0"/>
            </a:endParaRP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307879" y="6397694"/>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16</a:t>
            </a:fld>
            <a:endParaRPr lang="en-US" sz="1600" dirty="0">
              <a:solidFill>
                <a:schemeClr val="bg1"/>
              </a:solidFill>
              <a:latin typeface="Arial" panose="020B0604020202020204" pitchFamily="34" charset="0"/>
              <a:cs typeface="Arial" panose="020B0604020202020204" pitchFamily="34" charset="0"/>
            </a:endParaRPr>
          </a:p>
        </p:txBody>
      </p:sp>
      <p:sp>
        <p:nvSpPr>
          <p:cNvPr id="19" name="CuadroTexto 17">
            <a:extLst>
              <a:ext uri="{FF2B5EF4-FFF2-40B4-BE49-F238E27FC236}">
                <a16:creationId xmlns:a16="http://schemas.microsoft.com/office/drawing/2014/main" id="{12A8B279-970C-46AF-B3F5-1FD83F8D29A6}"/>
              </a:ext>
            </a:extLst>
          </p:cNvPr>
          <p:cNvSpPr txBox="1"/>
          <p:nvPr/>
        </p:nvSpPr>
        <p:spPr>
          <a:xfrm>
            <a:off x="2055991" y="1513012"/>
            <a:ext cx="4272215" cy="369332"/>
          </a:xfrm>
          <a:prstGeom prst="rect">
            <a:avLst/>
          </a:prstGeom>
          <a:noFill/>
          <a:ln>
            <a:noFill/>
          </a:ln>
        </p:spPr>
        <p:txBody>
          <a:bodyPr wrap="square" rtlCol="0">
            <a:spAutoFit/>
          </a:bodyPr>
          <a:lstStyle/>
          <a:p>
            <a:r>
              <a:rPr lang="es-ES" b="1">
                <a:solidFill>
                  <a:srgbClr val="C00000"/>
                </a:solidFill>
                <a:latin typeface="Arial" panose="020B0604020202020204" pitchFamily="34" charset="0"/>
                <a:cs typeface="Arial" panose="020B0604020202020204" pitchFamily="34" charset="0"/>
              </a:rPr>
              <a:t>La ejecución de un proyecto</a:t>
            </a:r>
            <a:r>
              <a:rPr lang="es-ES">
                <a:solidFill>
                  <a:srgbClr val="C00000"/>
                </a:solidFill>
                <a:latin typeface="Arial" panose="020B0604020202020204" pitchFamily="34" charset="0"/>
                <a:cs typeface="Arial" panose="020B0604020202020204" pitchFamily="34" charset="0"/>
              </a:rPr>
              <a:t>: </a:t>
            </a:r>
          </a:p>
        </p:txBody>
      </p:sp>
      <p:sp>
        <p:nvSpPr>
          <p:cNvPr id="21" name="CuadroTexto 20">
            <a:extLst>
              <a:ext uri="{FF2B5EF4-FFF2-40B4-BE49-F238E27FC236}">
                <a16:creationId xmlns:a16="http://schemas.microsoft.com/office/drawing/2014/main" id="{CE73459B-573E-4EB2-BF27-4C93558F53AC}"/>
              </a:ext>
            </a:extLst>
          </p:cNvPr>
          <p:cNvSpPr txBox="1"/>
          <p:nvPr/>
        </p:nvSpPr>
        <p:spPr>
          <a:xfrm>
            <a:off x="2304290" y="2340985"/>
            <a:ext cx="3188094" cy="369332"/>
          </a:xfrm>
          <a:prstGeom prst="rect">
            <a:avLst/>
          </a:prstGeom>
          <a:noFill/>
          <a:ln>
            <a:noFill/>
          </a:ln>
        </p:spPr>
        <p:txBody>
          <a:bodyPr wrap="square" rtlCol="0">
            <a:spAutoFit/>
          </a:bodyPr>
          <a:lstStyle/>
          <a:p>
            <a:r>
              <a:rPr lang="es-ES">
                <a:latin typeface="Arial" panose="020B0604020202020204" pitchFamily="34" charset="0"/>
                <a:cs typeface="Arial" panose="020B0604020202020204" pitchFamily="34" charset="0"/>
              </a:rPr>
              <a:t>Fabricación</a:t>
            </a:r>
            <a:endParaRPr lang="es-ES" dirty="0">
              <a:latin typeface="Arial" panose="020B0604020202020204" pitchFamily="34" charset="0"/>
              <a:cs typeface="Arial" panose="020B0604020202020204" pitchFamily="34" charset="0"/>
            </a:endParaRPr>
          </a:p>
        </p:txBody>
      </p:sp>
      <p:sp>
        <p:nvSpPr>
          <p:cNvPr id="23" name="CuadroTexto 22">
            <a:extLst>
              <a:ext uri="{FF2B5EF4-FFF2-40B4-BE49-F238E27FC236}">
                <a16:creationId xmlns:a16="http://schemas.microsoft.com/office/drawing/2014/main" id="{4ED66E18-F504-47AF-A6EE-FB90FE789394}"/>
              </a:ext>
            </a:extLst>
          </p:cNvPr>
          <p:cNvSpPr txBox="1"/>
          <p:nvPr/>
        </p:nvSpPr>
        <p:spPr>
          <a:xfrm>
            <a:off x="2304290" y="2759460"/>
            <a:ext cx="7696200" cy="369332"/>
          </a:xfrm>
          <a:prstGeom prst="rect">
            <a:avLst/>
          </a:prstGeom>
          <a:noFill/>
          <a:ln>
            <a:noFill/>
          </a:ln>
        </p:spPr>
        <p:txBody>
          <a:bodyPr wrap="square" rtlCol="0">
            <a:spAutoFit/>
          </a:bodyPr>
          <a:lstStyle/>
          <a:p>
            <a:r>
              <a:rPr lang="es-ES" dirty="0">
                <a:latin typeface="Arial" panose="020B0604020202020204" pitchFamily="34" charset="0"/>
                <a:cs typeface="Arial" panose="020B0604020202020204" pitchFamily="34" charset="0"/>
              </a:rPr>
              <a:t>Rediseño de subsistemas ( si procede)</a:t>
            </a:r>
          </a:p>
        </p:txBody>
      </p:sp>
      <p:sp>
        <p:nvSpPr>
          <p:cNvPr id="26" name="CuadroTexto 25">
            <a:extLst>
              <a:ext uri="{FF2B5EF4-FFF2-40B4-BE49-F238E27FC236}">
                <a16:creationId xmlns:a16="http://schemas.microsoft.com/office/drawing/2014/main" id="{555A0F04-06A4-47A1-B618-966653A187A0}"/>
              </a:ext>
            </a:extLst>
          </p:cNvPr>
          <p:cNvSpPr txBox="1"/>
          <p:nvPr/>
        </p:nvSpPr>
        <p:spPr>
          <a:xfrm>
            <a:off x="7150331" y="3593183"/>
            <a:ext cx="2016224" cy="1200329"/>
          </a:xfrm>
          <a:prstGeom prst="rect">
            <a:avLst/>
          </a:prstGeom>
          <a:noFill/>
          <a:ln>
            <a:noFill/>
          </a:ln>
        </p:spPr>
        <p:txBody>
          <a:bodyPr wrap="square" rtlCol="0">
            <a:spAutoFit/>
          </a:bodyPr>
          <a:lstStyle/>
          <a:p>
            <a:r>
              <a:rPr lang="es-ES" b="1" dirty="0">
                <a:latin typeface="Arial" panose="020B0604020202020204" pitchFamily="34" charset="0"/>
                <a:cs typeface="Arial" panose="020B0604020202020204" pitchFamily="34" charset="0"/>
              </a:rPr>
              <a:t>Control técnico, de plazos  y económico del proyecto</a:t>
            </a:r>
          </a:p>
        </p:txBody>
      </p:sp>
      <p:sp>
        <p:nvSpPr>
          <p:cNvPr id="27" name="CuadroTexto 26">
            <a:extLst>
              <a:ext uri="{FF2B5EF4-FFF2-40B4-BE49-F238E27FC236}">
                <a16:creationId xmlns:a16="http://schemas.microsoft.com/office/drawing/2014/main" id="{6A1D0A1A-0A35-43A1-9203-C8AA69719E02}"/>
              </a:ext>
            </a:extLst>
          </p:cNvPr>
          <p:cNvSpPr txBox="1"/>
          <p:nvPr/>
        </p:nvSpPr>
        <p:spPr>
          <a:xfrm>
            <a:off x="2289917" y="1971653"/>
            <a:ext cx="4273142" cy="369332"/>
          </a:xfrm>
          <a:prstGeom prst="rect">
            <a:avLst/>
          </a:prstGeom>
          <a:noFill/>
        </p:spPr>
        <p:txBody>
          <a:bodyPr wrap="square">
            <a:spAutoFit/>
          </a:bodyPr>
          <a:lstStyle/>
          <a:p>
            <a:r>
              <a:rPr lang="es-ES">
                <a:latin typeface="Arial" panose="020B0604020202020204" pitchFamily="34" charset="0"/>
                <a:cs typeface="Arial" panose="020B0604020202020204" pitchFamily="34" charset="0"/>
              </a:rPr>
              <a:t>Diseño técnico del proyecto</a:t>
            </a:r>
            <a:endParaRPr lang="es-ES" dirty="0">
              <a:latin typeface="Arial" panose="020B0604020202020204" pitchFamily="34" charset="0"/>
              <a:cs typeface="Arial" panose="020B0604020202020204" pitchFamily="34" charset="0"/>
            </a:endParaRPr>
          </a:p>
        </p:txBody>
      </p:sp>
      <p:sp>
        <p:nvSpPr>
          <p:cNvPr id="28" name="CuadroTexto 17">
            <a:extLst>
              <a:ext uri="{FF2B5EF4-FFF2-40B4-BE49-F238E27FC236}">
                <a16:creationId xmlns:a16="http://schemas.microsoft.com/office/drawing/2014/main" id="{118E5494-6357-48A3-9F64-C75E103F91FB}"/>
              </a:ext>
            </a:extLst>
          </p:cNvPr>
          <p:cNvSpPr txBox="1"/>
          <p:nvPr/>
        </p:nvSpPr>
        <p:spPr>
          <a:xfrm>
            <a:off x="1929880" y="3338736"/>
            <a:ext cx="4895889" cy="369332"/>
          </a:xfrm>
          <a:prstGeom prst="rect">
            <a:avLst/>
          </a:prstGeom>
          <a:noFill/>
          <a:ln>
            <a:noFill/>
          </a:ln>
        </p:spPr>
        <p:txBody>
          <a:bodyPr wrap="square" rtlCol="0">
            <a:spAutoFit/>
          </a:bodyPr>
          <a:lstStyle/>
          <a:p>
            <a:r>
              <a:rPr lang="es-ES" b="1" dirty="0">
                <a:solidFill>
                  <a:srgbClr val="C00000"/>
                </a:solidFill>
                <a:latin typeface="Arial" panose="020B0604020202020204" pitchFamily="34" charset="0"/>
                <a:cs typeface="Arial" panose="020B0604020202020204" pitchFamily="34" charset="0"/>
              </a:rPr>
              <a:t>La validación </a:t>
            </a:r>
            <a:r>
              <a:rPr lang="es-ES" dirty="0">
                <a:latin typeface="Arial" panose="020B0604020202020204" pitchFamily="34" charset="0"/>
                <a:cs typeface="Arial" panose="020B0604020202020204" pitchFamily="34" charset="0"/>
              </a:rPr>
              <a:t>(de cara a la empresa)</a:t>
            </a:r>
            <a:endParaRPr lang="es-ES" dirty="0">
              <a:solidFill>
                <a:srgbClr val="C00000"/>
              </a:solidFill>
              <a:latin typeface="Arial" panose="020B0604020202020204" pitchFamily="34" charset="0"/>
              <a:cs typeface="Arial" panose="020B0604020202020204" pitchFamily="34" charset="0"/>
            </a:endParaRPr>
          </a:p>
        </p:txBody>
      </p:sp>
      <p:sp>
        <p:nvSpPr>
          <p:cNvPr id="29" name="CuadroTexto 17">
            <a:extLst>
              <a:ext uri="{FF2B5EF4-FFF2-40B4-BE49-F238E27FC236}">
                <a16:creationId xmlns:a16="http://schemas.microsoft.com/office/drawing/2014/main" id="{15055486-22F0-4F0A-8EED-FF5852F56CC0}"/>
              </a:ext>
            </a:extLst>
          </p:cNvPr>
          <p:cNvSpPr txBox="1"/>
          <p:nvPr/>
        </p:nvSpPr>
        <p:spPr>
          <a:xfrm>
            <a:off x="1978543" y="5229358"/>
            <a:ext cx="4895889" cy="369332"/>
          </a:xfrm>
          <a:prstGeom prst="rect">
            <a:avLst/>
          </a:prstGeom>
          <a:noFill/>
          <a:ln>
            <a:noFill/>
          </a:ln>
        </p:spPr>
        <p:txBody>
          <a:bodyPr wrap="square" rtlCol="0">
            <a:spAutoFit/>
          </a:bodyPr>
          <a:lstStyle/>
          <a:p>
            <a:r>
              <a:rPr lang="es-ES" b="1" dirty="0">
                <a:solidFill>
                  <a:srgbClr val="C00000"/>
                </a:solidFill>
                <a:latin typeface="Arial" panose="020B0604020202020204" pitchFamily="34" charset="0"/>
                <a:cs typeface="Arial" panose="020B0604020202020204" pitchFamily="34" charset="0"/>
              </a:rPr>
              <a:t>La cualificación </a:t>
            </a:r>
            <a:r>
              <a:rPr lang="es-ES" dirty="0">
                <a:latin typeface="Arial" panose="020B0604020202020204" pitchFamily="34" charset="0"/>
                <a:cs typeface="Arial" panose="020B0604020202020204" pitchFamily="34" charset="0"/>
              </a:rPr>
              <a:t>(de cara al cliente)</a:t>
            </a:r>
            <a:endParaRPr lang="es-ES" dirty="0">
              <a:solidFill>
                <a:srgbClr val="C00000"/>
              </a:solidFill>
              <a:latin typeface="Arial" panose="020B0604020202020204" pitchFamily="34" charset="0"/>
              <a:cs typeface="Arial" panose="020B0604020202020204" pitchFamily="34" charset="0"/>
            </a:endParaRPr>
          </a:p>
        </p:txBody>
      </p:sp>
      <p:sp>
        <p:nvSpPr>
          <p:cNvPr id="30" name="CuadroTexto 29">
            <a:extLst>
              <a:ext uri="{FF2B5EF4-FFF2-40B4-BE49-F238E27FC236}">
                <a16:creationId xmlns:a16="http://schemas.microsoft.com/office/drawing/2014/main" id="{20CEF5C4-15D4-4E1F-A192-B566857FA106}"/>
              </a:ext>
            </a:extLst>
          </p:cNvPr>
          <p:cNvSpPr txBox="1"/>
          <p:nvPr/>
        </p:nvSpPr>
        <p:spPr>
          <a:xfrm>
            <a:off x="2254893" y="5666140"/>
            <a:ext cx="4052190" cy="369332"/>
          </a:xfrm>
          <a:prstGeom prst="rect">
            <a:avLst/>
          </a:prstGeom>
          <a:noFill/>
          <a:ln>
            <a:noFill/>
          </a:ln>
        </p:spPr>
        <p:txBody>
          <a:bodyPr wrap="square" rtlCol="0">
            <a:spAutoFit/>
          </a:bodyPr>
          <a:lstStyle/>
          <a:p>
            <a:r>
              <a:rPr lang="es-ES" dirty="0" err="1">
                <a:latin typeface="Arial" panose="020B0604020202020204" pitchFamily="34" charset="0"/>
                <a:cs typeface="Arial" panose="020B0604020202020204" pitchFamily="34" charset="0"/>
              </a:rPr>
              <a:t>Tests</a:t>
            </a:r>
            <a:r>
              <a:rPr lang="es-ES" dirty="0">
                <a:latin typeface="Arial" panose="020B0604020202020204" pitchFamily="34" charset="0"/>
                <a:cs typeface="Arial" panose="020B0604020202020204" pitchFamily="34" charset="0"/>
              </a:rPr>
              <a:t> </a:t>
            </a:r>
            <a:r>
              <a:rPr lang="es-ES">
                <a:latin typeface="Arial" panose="020B0604020202020204" pitchFamily="34" charset="0"/>
                <a:cs typeface="Arial" panose="020B0604020202020204" pitchFamily="34" charset="0"/>
              </a:rPr>
              <a:t>de certificación</a:t>
            </a:r>
            <a:endParaRPr lang="es-ES" dirty="0">
              <a:latin typeface="Arial" panose="020B0604020202020204" pitchFamily="34" charset="0"/>
              <a:cs typeface="Arial" panose="020B0604020202020204" pitchFamily="34" charset="0"/>
            </a:endParaRPr>
          </a:p>
        </p:txBody>
      </p:sp>
      <p:sp>
        <p:nvSpPr>
          <p:cNvPr id="31" name="CuadroTexto 30">
            <a:extLst>
              <a:ext uri="{FF2B5EF4-FFF2-40B4-BE49-F238E27FC236}">
                <a16:creationId xmlns:a16="http://schemas.microsoft.com/office/drawing/2014/main" id="{759BF5B4-FCC5-4F25-89A2-E3544C75DF67}"/>
              </a:ext>
            </a:extLst>
          </p:cNvPr>
          <p:cNvSpPr txBox="1"/>
          <p:nvPr/>
        </p:nvSpPr>
        <p:spPr>
          <a:xfrm>
            <a:off x="2276016" y="6035472"/>
            <a:ext cx="4052190" cy="369332"/>
          </a:xfrm>
          <a:prstGeom prst="rect">
            <a:avLst/>
          </a:prstGeom>
          <a:noFill/>
          <a:ln>
            <a:noFill/>
          </a:ln>
        </p:spPr>
        <p:txBody>
          <a:bodyPr wrap="square" rtlCol="0">
            <a:spAutoFit/>
          </a:bodyPr>
          <a:lstStyle/>
          <a:p>
            <a:r>
              <a:rPr lang="es-ES" dirty="0" err="1">
                <a:latin typeface="Arial" panose="020B0604020202020204" pitchFamily="34" charset="0"/>
                <a:cs typeface="Arial" panose="020B0604020202020204" pitchFamily="34" charset="0"/>
              </a:rPr>
              <a:t>Tests</a:t>
            </a:r>
            <a:r>
              <a:rPr lang="es-ES" dirty="0">
                <a:latin typeface="Arial" panose="020B0604020202020204" pitchFamily="34" charset="0"/>
                <a:cs typeface="Arial" panose="020B0604020202020204" pitchFamily="34" charset="0"/>
              </a:rPr>
              <a:t> </a:t>
            </a:r>
            <a:r>
              <a:rPr lang="es-ES">
                <a:latin typeface="Arial" panose="020B0604020202020204" pitchFamily="34" charset="0"/>
                <a:cs typeface="Arial" panose="020B0604020202020204" pitchFamily="34" charset="0"/>
              </a:rPr>
              <a:t>de sistema</a:t>
            </a:r>
            <a:endParaRPr lang="es-ES" dirty="0">
              <a:latin typeface="Arial" panose="020B0604020202020204" pitchFamily="34" charset="0"/>
              <a:cs typeface="Arial" panose="020B0604020202020204" pitchFamily="34" charset="0"/>
            </a:endParaRPr>
          </a:p>
        </p:txBody>
      </p:sp>
      <p:sp>
        <p:nvSpPr>
          <p:cNvPr id="32" name="CuadroTexto 31">
            <a:extLst>
              <a:ext uri="{FF2B5EF4-FFF2-40B4-BE49-F238E27FC236}">
                <a16:creationId xmlns:a16="http://schemas.microsoft.com/office/drawing/2014/main" id="{5764FA70-0C5F-4E77-8FA2-D293EBAC0B7C}"/>
              </a:ext>
            </a:extLst>
          </p:cNvPr>
          <p:cNvSpPr txBox="1"/>
          <p:nvPr/>
        </p:nvSpPr>
        <p:spPr>
          <a:xfrm>
            <a:off x="2286057" y="6383751"/>
            <a:ext cx="4052190" cy="369332"/>
          </a:xfrm>
          <a:prstGeom prst="rect">
            <a:avLst/>
          </a:prstGeom>
          <a:noFill/>
          <a:ln>
            <a:noFill/>
          </a:ln>
        </p:spPr>
        <p:txBody>
          <a:bodyPr wrap="square" rtlCol="0">
            <a:spAutoFit/>
          </a:bodyPr>
          <a:lstStyle/>
          <a:p>
            <a:r>
              <a:rPr lang="es-ES" dirty="0" err="1">
                <a:latin typeface="Arial" panose="020B0604020202020204" pitchFamily="34" charset="0"/>
                <a:cs typeface="Arial" panose="020B0604020202020204" pitchFamily="34" charset="0"/>
              </a:rPr>
              <a:t>Tests</a:t>
            </a:r>
            <a:r>
              <a:rPr lang="es-ES" dirty="0">
                <a:latin typeface="Arial" panose="020B0604020202020204" pitchFamily="34" charset="0"/>
                <a:cs typeface="Arial" panose="020B0604020202020204" pitchFamily="34" charset="0"/>
              </a:rPr>
              <a:t> de homologación</a:t>
            </a:r>
          </a:p>
        </p:txBody>
      </p:sp>
      <p:sp>
        <p:nvSpPr>
          <p:cNvPr id="13" name="Rectángulo 12">
            <a:extLst>
              <a:ext uri="{FF2B5EF4-FFF2-40B4-BE49-F238E27FC236}">
                <a16:creationId xmlns:a16="http://schemas.microsoft.com/office/drawing/2014/main" id="{6286A3D8-F583-4EF5-AF30-6D57FA65A722}"/>
              </a:ext>
            </a:extLst>
          </p:cNvPr>
          <p:cNvSpPr/>
          <p:nvPr/>
        </p:nvSpPr>
        <p:spPr>
          <a:xfrm>
            <a:off x="2141049" y="3833357"/>
            <a:ext cx="4570876" cy="7432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uadroTexto 21">
            <a:extLst>
              <a:ext uri="{FF2B5EF4-FFF2-40B4-BE49-F238E27FC236}">
                <a16:creationId xmlns:a16="http://schemas.microsoft.com/office/drawing/2014/main" id="{AF0FD3E8-743D-40B8-8B44-146CFF0C5FC4}"/>
              </a:ext>
            </a:extLst>
          </p:cNvPr>
          <p:cNvSpPr txBox="1"/>
          <p:nvPr/>
        </p:nvSpPr>
        <p:spPr>
          <a:xfrm>
            <a:off x="2268925" y="3826332"/>
            <a:ext cx="4052190" cy="369332"/>
          </a:xfrm>
          <a:prstGeom prst="rect">
            <a:avLst/>
          </a:prstGeom>
          <a:noFill/>
          <a:ln>
            <a:noFill/>
          </a:ln>
        </p:spPr>
        <p:txBody>
          <a:bodyPr wrap="square" rtlCol="0">
            <a:spAutoFit/>
          </a:bodyPr>
          <a:lstStyle/>
          <a:p>
            <a:r>
              <a:rPr lang="es-ES" dirty="0" err="1">
                <a:latin typeface="Arial" panose="020B0604020202020204" pitchFamily="34" charset="0"/>
                <a:cs typeface="Arial" panose="020B0604020202020204" pitchFamily="34" charset="0"/>
              </a:rPr>
              <a:t>Tests</a:t>
            </a:r>
            <a:r>
              <a:rPr lang="es-ES" dirty="0">
                <a:latin typeface="Arial" panose="020B0604020202020204" pitchFamily="34" charset="0"/>
                <a:cs typeface="Arial" panose="020B0604020202020204" pitchFamily="34" charset="0"/>
              </a:rPr>
              <a:t> de integración de subsistemas</a:t>
            </a:r>
          </a:p>
        </p:txBody>
      </p:sp>
      <p:sp>
        <p:nvSpPr>
          <p:cNvPr id="24" name="CuadroTexto 23">
            <a:extLst>
              <a:ext uri="{FF2B5EF4-FFF2-40B4-BE49-F238E27FC236}">
                <a16:creationId xmlns:a16="http://schemas.microsoft.com/office/drawing/2014/main" id="{B5C7CDE7-097F-493D-9B49-71825C8653BE}"/>
              </a:ext>
            </a:extLst>
          </p:cNvPr>
          <p:cNvSpPr txBox="1"/>
          <p:nvPr/>
        </p:nvSpPr>
        <p:spPr>
          <a:xfrm>
            <a:off x="2289917" y="4207299"/>
            <a:ext cx="2231597" cy="369332"/>
          </a:xfrm>
          <a:prstGeom prst="rect">
            <a:avLst/>
          </a:prstGeom>
          <a:noFill/>
          <a:ln>
            <a:noFill/>
          </a:ln>
        </p:spPr>
        <p:txBody>
          <a:bodyPr wrap="square" rtlCol="0">
            <a:spAutoFit/>
          </a:bodyPr>
          <a:lstStyle/>
          <a:p>
            <a:r>
              <a:rPr lang="es-ES" dirty="0" err="1">
                <a:latin typeface="Arial" panose="020B0604020202020204" pitchFamily="34" charset="0"/>
                <a:cs typeface="Arial" panose="020B0604020202020204" pitchFamily="34" charset="0"/>
              </a:rPr>
              <a:t>Tests</a:t>
            </a:r>
            <a:r>
              <a:rPr lang="es-ES" dirty="0">
                <a:latin typeface="Arial" panose="020B0604020202020204" pitchFamily="34" charset="0"/>
                <a:cs typeface="Arial" panose="020B0604020202020204" pitchFamily="34" charset="0"/>
              </a:rPr>
              <a:t> funcionales</a:t>
            </a:r>
          </a:p>
        </p:txBody>
      </p:sp>
      <p:sp>
        <p:nvSpPr>
          <p:cNvPr id="25" name="CuadroTexto 24">
            <a:extLst>
              <a:ext uri="{FF2B5EF4-FFF2-40B4-BE49-F238E27FC236}">
                <a16:creationId xmlns:a16="http://schemas.microsoft.com/office/drawing/2014/main" id="{90194B20-459A-4A66-B2A7-CF8F0304DC15}"/>
              </a:ext>
            </a:extLst>
          </p:cNvPr>
          <p:cNvSpPr txBox="1"/>
          <p:nvPr/>
        </p:nvSpPr>
        <p:spPr>
          <a:xfrm>
            <a:off x="2272351" y="4608846"/>
            <a:ext cx="4052190" cy="369332"/>
          </a:xfrm>
          <a:prstGeom prst="rect">
            <a:avLst/>
          </a:prstGeom>
          <a:noFill/>
          <a:ln>
            <a:noFill/>
          </a:ln>
        </p:spPr>
        <p:txBody>
          <a:bodyPr wrap="square" rtlCol="0">
            <a:spAutoFit/>
          </a:bodyPr>
          <a:lstStyle/>
          <a:p>
            <a:r>
              <a:rPr lang="es-ES" dirty="0" err="1">
                <a:latin typeface="Arial" panose="020B0604020202020204" pitchFamily="34" charset="0"/>
                <a:cs typeface="Arial" panose="020B0604020202020204" pitchFamily="34" charset="0"/>
              </a:rPr>
              <a:t>Tests</a:t>
            </a:r>
            <a:r>
              <a:rPr lang="es-ES" dirty="0">
                <a:latin typeface="Arial" panose="020B0604020202020204" pitchFamily="34" charset="0"/>
                <a:cs typeface="Arial" panose="020B0604020202020204" pitchFamily="34" charset="0"/>
              </a:rPr>
              <a:t> de pre-certificación</a:t>
            </a:r>
          </a:p>
        </p:txBody>
      </p:sp>
      <p:cxnSp>
        <p:nvCxnSpPr>
          <p:cNvPr id="36" name="Conector recto de flecha 35">
            <a:extLst>
              <a:ext uri="{FF2B5EF4-FFF2-40B4-BE49-F238E27FC236}">
                <a16:creationId xmlns:a16="http://schemas.microsoft.com/office/drawing/2014/main" id="{5120560E-36D8-417B-871C-198D536EA8A4}"/>
              </a:ext>
            </a:extLst>
          </p:cNvPr>
          <p:cNvCxnSpPr/>
          <p:nvPr/>
        </p:nvCxnSpPr>
        <p:spPr>
          <a:xfrm flipV="1">
            <a:off x="6681753" y="2156319"/>
            <a:ext cx="0" cy="163548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C3DE0561-D8B6-4256-9AA0-5ACEA779E454}"/>
              </a:ext>
            </a:extLst>
          </p:cNvPr>
          <p:cNvCxnSpPr>
            <a:cxnSpLocks/>
          </p:cNvCxnSpPr>
          <p:nvPr/>
        </p:nvCxnSpPr>
        <p:spPr>
          <a:xfrm flipH="1">
            <a:off x="5346143" y="2156319"/>
            <a:ext cx="1335610"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8624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sp>
        <p:nvSpPr>
          <p:cNvPr id="4" name="3 CuadroTexto"/>
          <p:cNvSpPr txBox="1"/>
          <p:nvPr/>
        </p:nvSpPr>
        <p:spPr>
          <a:xfrm>
            <a:off x="2835130" y="798833"/>
            <a:ext cx="3682418"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Fases de validación </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17</a:t>
            </a:fld>
            <a:endParaRPr lang="en-US" sz="1600" dirty="0">
              <a:solidFill>
                <a:schemeClr val="bg1"/>
              </a:solidFill>
              <a:latin typeface="Arial" panose="020B0604020202020204" pitchFamily="34" charset="0"/>
              <a:cs typeface="Arial" panose="020B0604020202020204" pitchFamily="34" charset="0"/>
            </a:endParaRPr>
          </a:p>
        </p:txBody>
      </p:sp>
      <p:sp>
        <p:nvSpPr>
          <p:cNvPr id="8" name="CuadroTexto 2"/>
          <p:cNvSpPr txBox="1"/>
          <p:nvPr/>
        </p:nvSpPr>
        <p:spPr>
          <a:xfrm>
            <a:off x="914772" y="1685126"/>
            <a:ext cx="8106544" cy="1077218"/>
          </a:xfrm>
          <a:prstGeom prst="rect">
            <a:avLst/>
          </a:prstGeom>
          <a:noFill/>
        </p:spPr>
        <p:txBody>
          <a:bodyPr wrap="square" rtlCol="0">
            <a:spAutoFit/>
          </a:bodyPr>
          <a:lstStyle/>
          <a:p>
            <a:pPr lvl="0" algn="just"/>
            <a:r>
              <a:rPr lang="es-ES_tradnl" sz="1600" dirty="0">
                <a:latin typeface="Arial" panose="020B0604020202020204" pitchFamily="34" charset="0"/>
                <a:cs typeface="Arial" panose="020B0604020202020204" pitchFamily="34" charset="0"/>
              </a:rPr>
              <a:t>En esta fase se verifica que el sistema desarrollado </a:t>
            </a:r>
            <a:r>
              <a:rPr lang="es-ES_tradnl" sz="1600" b="1" dirty="0">
                <a:latin typeface="Arial" panose="020B0604020202020204" pitchFamily="34" charset="0"/>
                <a:cs typeface="Arial" panose="020B0604020202020204" pitchFamily="34" charset="0"/>
              </a:rPr>
              <a:t>cumple</a:t>
            </a:r>
            <a:r>
              <a:rPr lang="es-ES_tradnl" sz="1600" dirty="0">
                <a:latin typeface="Arial" panose="020B0604020202020204" pitchFamily="34" charset="0"/>
                <a:cs typeface="Arial" panose="020B0604020202020204" pitchFamily="34" charset="0"/>
              </a:rPr>
              <a:t> todas y cada una de las </a:t>
            </a:r>
            <a:r>
              <a:rPr lang="es-ES_tradnl" sz="1600" b="1" dirty="0">
                <a:latin typeface="Arial" panose="020B0604020202020204" pitchFamily="34" charset="0"/>
                <a:cs typeface="Arial" panose="020B0604020202020204" pitchFamily="34" charset="0"/>
              </a:rPr>
              <a:t>especificaciones definitivas </a:t>
            </a:r>
            <a:r>
              <a:rPr lang="es-ES_tradnl" sz="1600" dirty="0">
                <a:latin typeface="Arial" panose="020B0604020202020204" pitchFamily="34" charset="0"/>
                <a:cs typeface="Arial" panose="020B0604020202020204" pitchFamily="34" charset="0"/>
              </a:rPr>
              <a:t>del proyecto, en todas las posibles condiciones de funcionamiento tales como rangos de tensión de funcionamiento, condiciones ambientales como rango de temperaturas de funcionamientos etc.</a:t>
            </a:r>
          </a:p>
        </p:txBody>
      </p:sp>
      <p:sp>
        <p:nvSpPr>
          <p:cNvPr id="9" name="CuadroTexto 4"/>
          <p:cNvSpPr txBox="1"/>
          <p:nvPr/>
        </p:nvSpPr>
        <p:spPr>
          <a:xfrm>
            <a:off x="1008112" y="3185681"/>
            <a:ext cx="8172400" cy="1323439"/>
          </a:xfrm>
          <a:prstGeom prst="rect">
            <a:avLst/>
          </a:prstGeom>
          <a:noFill/>
        </p:spPr>
        <p:txBody>
          <a:bodyPr wrap="square" rtlCol="0">
            <a:spAutoFit/>
          </a:bodyPr>
          <a:lstStyle/>
          <a:p>
            <a:pPr algn="just"/>
            <a:r>
              <a:rPr lang="es-ES_tradnl" sz="1600" dirty="0">
                <a:latin typeface="Arial" panose="020B0604020202020204" pitchFamily="34" charset="0"/>
                <a:cs typeface="Arial" panose="020B0604020202020204" pitchFamily="34" charset="0"/>
              </a:rPr>
              <a:t>La certificación de un sistema es costosa a nivel económico y en general requiere modificaciones del diseño para el cumplimiento de la normativa aplicable. Es por ello que es aconsejable realizar tantas pruebas como sea posible en las propias instalaciones antes de proceder a llevar al sistema desarrollado a un laboratorio oficial de certificación</a:t>
            </a:r>
            <a:endParaRPr lang="es-ES" sz="1600" dirty="0">
              <a:latin typeface="Arial" panose="020B0604020202020204" pitchFamily="34" charset="0"/>
              <a:cs typeface="Arial" panose="020B0604020202020204" pitchFamily="34" charset="0"/>
            </a:endParaRPr>
          </a:p>
        </p:txBody>
      </p:sp>
      <p:sp>
        <p:nvSpPr>
          <p:cNvPr id="10" name="CuadroTexto 5"/>
          <p:cNvSpPr txBox="1"/>
          <p:nvPr/>
        </p:nvSpPr>
        <p:spPr>
          <a:xfrm>
            <a:off x="1143196" y="6012577"/>
            <a:ext cx="7733508" cy="584775"/>
          </a:xfrm>
          <a:prstGeom prst="rect">
            <a:avLst/>
          </a:prstGeom>
          <a:noFill/>
        </p:spPr>
        <p:txBody>
          <a:bodyPr wrap="square" rtlCol="0">
            <a:spAutoFit/>
          </a:bodyPr>
          <a:lstStyle/>
          <a:p>
            <a:pPr lvl="0"/>
            <a:r>
              <a:rPr lang="es-ES_tradnl" sz="1600" dirty="0">
                <a:latin typeface="Arial" panose="020B0604020202020204" pitchFamily="34" charset="0"/>
                <a:cs typeface="Arial" panose="020B0604020202020204" pitchFamily="34" charset="0"/>
              </a:rPr>
              <a:t>Consisten en la certificación por un </a:t>
            </a:r>
            <a:r>
              <a:rPr lang="es-ES_tradnl" sz="1600" b="1" dirty="0">
                <a:latin typeface="Arial" panose="020B0604020202020204" pitchFamily="34" charset="0"/>
                <a:cs typeface="Arial" panose="020B0604020202020204" pitchFamily="34" charset="0"/>
              </a:rPr>
              <a:t>laboratorio oficial de certificación </a:t>
            </a:r>
            <a:r>
              <a:rPr lang="es-ES_tradnl" sz="1600" dirty="0">
                <a:latin typeface="Arial" panose="020B0604020202020204" pitchFamily="34" charset="0"/>
                <a:cs typeface="Arial" panose="020B0604020202020204" pitchFamily="34" charset="0"/>
              </a:rPr>
              <a:t>del cumplimiento de los estándares aplicables al sistema para su marcado CE.</a:t>
            </a:r>
          </a:p>
        </p:txBody>
      </p:sp>
      <p:sp>
        <p:nvSpPr>
          <p:cNvPr id="11" name="CuadroTexto 6"/>
          <p:cNvSpPr txBox="1"/>
          <p:nvPr/>
        </p:nvSpPr>
        <p:spPr>
          <a:xfrm>
            <a:off x="1043608" y="5004465"/>
            <a:ext cx="7848872" cy="584775"/>
          </a:xfrm>
          <a:prstGeom prst="rect">
            <a:avLst/>
          </a:prstGeom>
          <a:noFill/>
        </p:spPr>
        <p:txBody>
          <a:bodyPr wrap="square" rtlCol="0">
            <a:spAutoFit/>
          </a:bodyPr>
          <a:lstStyle/>
          <a:p>
            <a:pPr lvl="0" algn="just"/>
            <a:r>
              <a:rPr lang="es-ES_tradnl" sz="1600" dirty="0">
                <a:latin typeface="Arial" panose="020B0604020202020204" pitchFamily="34" charset="0"/>
                <a:cs typeface="Arial" panose="020B0604020202020204" pitchFamily="34" charset="0"/>
              </a:rPr>
              <a:t>Son pruebas, </a:t>
            </a:r>
            <a:r>
              <a:rPr lang="es-ES_tradnl" sz="1600" b="1" dirty="0">
                <a:latin typeface="Arial" panose="020B0604020202020204" pitchFamily="34" charset="0"/>
                <a:cs typeface="Arial" panose="020B0604020202020204" pitchFamily="34" charset="0"/>
              </a:rPr>
              <a:t>no contempladas en las especificaciones </a:t>
            </a:r>
            <a:r>
              <a:rPr lang="es-ES_tradnl" sz="1600" dirty="0">
                <a:latin typeface="Arial" panose="020B0604020202020204" pitchFamily="34" charset="0"/>
                <a:cs typeface="Arial" panose="020B0604020202020204" pitchFamily="34" charset="0"/>
              </a:rPr>
              <a:t>pero que se hacen con la perspectiva del usuario final</a:t>
            </a:r>
          </a:p>
        </p:txBody>
      </p:sp>
      <p:sp>
        <p:nvSpPr>
          <p:cNvPr id="5" name="4 Rectángulo"/>
          <p:cNvSpPr/>
          <p:nvPr/>
        </p:nvSpPr>
        <p:spPr>
          <a:xfrm>
            <a:off x="785818" y="1324938"/>
            <a:ext cx="2762295" cy="369332"/>
          </a:xfrm>
          <a:prstGeom prst="rect">
            <a:avLst/>
          </a:prstGeom>
        </p:spPr>
        <p:txBody>
          <a:bodyPr wrap="none">
            <a:spAutoFit/>
          </a:bodyPr>
          <a:lstStyle/>
          <a:p>
            <a:pPr lvl="0" algn="ctr"/>
            <a:r>
              <a:rPr lang="es-ES_tradnl" b="1" dirty="0">
                <a:solidFill>
                  <a:srgbClr val="C00000"/>
                </a:solidFill>
                <a:latin typeface="Arial" panose="020B0604020202020204" pitchFamily="34" charset="0"/>
                <a:cs typeface="Arial" panose="020B0604020202020204" pitchFamily="34" charset="0"/>
              </a:rPr>
              <a:t>1. Pruebas Funcionales</a:t>
            </a:r>
          </a:p>
        </p:txBody>
      </p:sp>
      <p:sp>
        <p:nvSpPr>
          <p:cNvPr id="16" name="15 Rectángulo"/>
          <p:cNvSpPr/>
          <p:nvPr/>
        </p:nvSpPr>
        <p:spPr>
          <a:xfrm>
            <a:off x="755576" y="2852936"/>
            <a:ext cx="3544561" cy="369332"/>
          </a:xfrm>
          <a:prstGeom prst="rect">
            <a:avLst/>
          </a:prstGeom>
        </p:spPr>
        <p:txBody>
          <a:bodyPr wrap="none">
            <a:spAutoFit/>
          </a:bodyPr>
          <a:lstStyle/>
          <a:p>
            <a:pPr lvl="0" algn="ctr"/>
            <a:r>
              <a:rPr lang="es-ES_tradnl" b="1" dirty="0">
                <a:solidFill>
                  <a:srgbClr val="C00000"/>
                </a:solidFill>
                <a:latin typeface="Arial" panose="020B0604020202020204" pitchFamily="34" charset="0"/>
                <a:cs typeface="Arial" panose="020B0604020202020204" pitchFamily="34" charset="0"/>
              </a:rPr>
              <a:t>2. Pruebas de pre-certificación</a:t>
            </a:r>
          </a:p>
        </p:txBody>
      </p:sp>
      <p:sp>
        <p:nvSpPr>
          <p:cNvPr id="17" name="16 Rectángulo"/>
          <p:cNvSpPr/>
          <p:nvPr/>
        </p:nvSpPr>
        <p:spPr>
          <a:xfrm>
            <a:off x="755576" y="4715852"/>
            <a:ext cx="2634054" cy="369332"/>
          </a:xfrm>
          <a:prstGeom prst="rect">
            <a:avLst/>
          </a:prstGeom>
        </p:spPr>
        <p:txBody>
          <a:bodyPr wrap="none">
            <a:spAutoFit/>
          </a:bodyPr>
          <a:lstStyle/>
          <a:p>
            <a:pPr lvl="0" algn="ctr"/>
            <a:r>
              <a:rPr lang="es-ES_tradnl" b="1" dirty="0">
                <a:solidFill>
                  <a:srgbClr val="C00000"/>
                </a:solidFill>
                <a:latin typeface="Arial" panose="020B0604020202020204" pitchFamily="34" charset="0"/>
                <a:cs typeface="Arial" panose="020B0604020202020204" pitchFamily="34" charset="0"/>
              </a:rPr>
              <a:t>3. Pruebas de Sistema</a:t>
            </a:r>
          </a:p>
        </p:txBody>
      </p:sp>
      <p:sp>
        <p:nvSpPr>
          <p:cNvPr id="18" name="17 Rectángulo"/>
          <p:cNvSpPr/>
          <p:nvPr/>
        </p:nvSpPr>
        <p:spPr>
          <a:xfrm>
            <a:off x="846822" y="5724545"/>
            <a:ext cx="3108544" cy="369332"/>
          </a:xfrm>
          <a:prstGeom prst="rect">
            <a:avLst/>
          </a:prstGeom>
        </p:spPr>
        <p:txBody>
          <a:bodyPr wrap="none">
            <a:spAutoFit/>
          </a:bodyPr>
          <a:lstStyle/>
          <a:p>
            <a:pPr lvl="0" algn="ctr"/>
            <a:r>
              <a:rPr lang="es-ES_tradnl" b="1" dirty="0">
                <a:solidFill>
                  <a:srgbClr val="C00000"/>
                </a:solidFill>
                <a:latin typeface="Arial" panose="020B0604020202020204" pitchFamily="34" charset="0"/>
                <a:cs typeface="Arial" panose="020B0604020202020204" pitchFamily="34" charset="0"/>
              </a:rPr>
              <a:t>4. Pruebas </a:t>
            </a:r>
            <a:r>
              <a:rPr lang="es-ES_tradnl" b="1">
                <a:solidFill>
                  <a:srgbClr val="C00000"/>
                </a:solidFill>
                <a:latin typeface="Arial" panose="020B0604020202020204" pitchFamily="34" charset="0"/>
                <a:cs typeface="Arial" panose="020B0604020202020204" pitchFamily="34" charset="0"/>
              </a:rPr>
              <a:t>de certificación</a:t>
            </a:r>
            <a:endParaRPr lang="es-ES_tradnl" b="1" dirty="0">
              <a:solidFill>
                <a:srgbClr val="C00000"/>
              </a:solidFill>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71F97F90-A186-4098-86F1-AA5823AB9A08}"/>
              </a:ext>
            </a:extLst>
          </p:cNvPr>
          <p:cNvSpPr/>
          <p:nvPr/>
        </p:nvSpPr>
        <p:spPr>
          <a:xfrm>
            <a:off x="827584" y="1322053"/>
            <a:ext cx="8316416" cy="31331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ángulo 18">
            <a:extLst>
              <a:ext uri="{FF2B5EF4-FFF2-40B4-BE49-F238E27FC236}">
                <a16:creationId xmlns:a16="http://schemas.microsoft.com/office/drawing/2014/main" id="{3D762800-A798-4112-89BF-41D0377661EA}"/>
              </a:ext>
            </a:extLst>
          </p:cNvPr>
          <p:cNvSpPr/>
          <p:nvPr/>
        </p:nvSpPr>
        <p:spPr>
          <a:xfrm>
            <a:off x="827584" y="4457758"/>
            <a:ext cx="8316416" cy="22166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9424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sp>
        <p:nvSpPr>
          <p:cNvPr id="4" name="3 CuadroTexto"/>
          <p:cNvSpPr txBox="1"/>
          <p:nvPr/>
        </p:nvSpPr>
        <p:spPr>
          <a:xfrm>
            <a:off x="2835130" y="798833"/>
            <a:ext cx="4102405"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Fases de cualificación </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18</a:t>
            </a:fld>
            <a:endParaRPr lang="en-US" sz="1600" dirty="0">
              <a:solidFill>
                <a:schemeClr val="bg1"/>
              </a:solidFill>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208D25BF-6CE4-4DDC-B804-D3854F737B23}"/>
              </a:ext>
            </a:extLst>
          </p:cNvPr>
          <p:cNvSpPr txBox="1"/>
          <p:nvPr/>
        </p:nvSpPr>
        <p:spPr>
          <a:xfrm>
            <a:off x="886644" y="1411353"/>
            <a:ext cx="8316421" cy="5632311"/>
          </a:xfrm>
          <a:prstGeom prst="rect">
            <a:avLst/>
          </a:prstGeom>
          <a:noFill/>
        </p:spPr>
        <p:txBody>
          <a:bodyPr wrap="square" rtlCol="0">
            <a:spAutoFit/>
          </a:bodyPr>
          <a:lstStyle/>
          <a:p>
            <a:r>
              <a:rPr lang="es-ES" sz="2000" b="1" dirty="0">
                <a:solidFill>
                  <a:srgbClr val="C00000"/>
                </a:solidFill>
                <a:latin typeface="Arial" panose="020B0604020202020204" pitchFamily="34" charset="0"/>
                <a:cs typeface="Arial" panose="020B0604020202020204" pitchFamily="34" charset="0"/>
              </a:rPr>
              <a:t>Precertificación:</a:t>
            </a:r>
          </a:p>
          <a:p>
            <a:r>
              <a:rPr lang="es-ES" sz="2000" dirty="0">
                <a:latin typeface="Arial" panose="020B0604020202020204" pitchFamily="34" charset="0"/>
                <a:cs typeface="Arial" panose="020B0604020202020204" pitchFamily="34" charset="0"/>
              </a:rPr>
              <a:t>Comprobación del cumplimiento de una norma por parte de una </a:t>
            </a:r>
            <a:r>
              <a:rPr lang="es-ES" sz="2000" b="1" dirty="0">
                <a:latin typeface="Arial" panose="020B0604020202020204" pitchFamily="34" charset="0"/>
                <a:cs typeface="Arial" panose="020B0604020202020204" pitchFamily="34" charset="0"/>
              </a:rPr>
              <a:t>entidad no oficial</a:t>
            </a:r>
            <a:r>
              <a:rPr lang="es-ES" sz="2000" dirty="0">
                <a:latin typeface="Arial" panose="020B0604020202020204" pitchFamily="34" charset="0"/>
                <a:cs typeface="Arial" panose="020B0604020202020204" pitchFamily="34" charset="0"/>
              </a:rPr>
              <a:t>.</a:t>
            </a:r>
          </a:p>
          <a:p>
            <a:endParaRPr lang="en-US" sz="2000" dirty="0"/>
          </a:p>
          <a:p>
            <a:r>
              <a:rPr lang="es-ES" sz="2000" b="1" dirty="0">
                <a:solidFill>
                  <a:srgbClr val="C00000"/>
                </a:solidFill>
                <a:latin typeface="Arial" panose="020B0604020202020204" pitchFamily="34" charset="0"/>
                <a:cs typeface="Arial" panose="020B0604020202020204" pitchFamily="34" charset="0"/>
              </a:rPr>
              <a:t>Certificación:</a:t>
            </a:r>
          </a:p>
          <a:p>
            <a:r>
              <a:rPr lang="es-ES" sz="2000" dirty="0">
                <a:latin typeface="Arial" panose="020B0604020202020204" pitchFamily="34" charset="0"/>
                <a:cs typeface="Arial" panose="020B0604020202020204" pitchFamily="34" charset="0"/>
              </a:rPr>
              <a:t>Comprobación del cumplimiento de una norma por parte de una </a:t>
            </a:r>
            <a:r>
              <a:rPr lang="es-ES" sz="2000" b="1" dirty="0">
                <a:latin typeface="Arial" panose="020B0604020202020204" pitchFamily="34" charset="0"/>
                <a:cs typeface="Arial" panose="020B0604020202020204" pitchFamily="34" charset="0"/>
              </a:rPr>
              <a:t>entidad oficial.</a:t>
            </a:r>
          </a:p>
          <a:p>
            <a:endParaRPr lang="es-ES" sz="2000" b="1" dirty="0">
              <a:latin typeface="Arial" panose="020B0604020202020204" pitchFamily="34" charset="0"/>
              <a:cs typeface="Arial" panose="020B0604020202020204" pitchFamily="34" charset="0"/>
            </a:endParaRPr>
          </a:p>
          <a:p>
            <a:r>
              <a:rPr lang="es-ES" sz="2000" b="1" dirty="0">
                <a:solidFill>
                  <a:srgbClr val="C00000"/>
                </a:solidFill>
                <a:latin typeface="Arial" panose="020B0604020202020204" pitchFamily="34" charset="0"/>
                <a:cs typeface="Arial" panose="020B0604020202020204" pitchFamily="34" charset="0"/>
              </a:rPr>
              <a:t>Homologación:</a:t>
            </a:r>
          </a:p>
          <a:p>
            <a:r>
              <a:rPr lang="es-ES" sz="2000" dirty="0">
                <a:latin typeface="Arial" panose="020B0604020202020204" pitchFamily="34" charset="0"/>
                <a:cs typeface="Arial" panose="020B0604020202020204" pitchFamily="34" charset="0"/>
              </a:rPr>
              <a:t>Comprobación del cumplimiento de la normativa aplicable al país que se vende. Se realiza por parte de una </a:t>
            </a:r>
            <a:r>
              <a:rPr lang="es-ES" sz="2000" b="1" dirty="0">
                <a:latin typeface="Arial" panose="020B0604020202020204" pitchFamily="34" charset="0"/>
                <a:cs typeface="Arial" panose="020B0604020202020204" pitchFamily="34" charset="0"/>
              </a:rPr>
              <a:t> agencia oficial</a:t>
            </a:r>
          </a:p>
          <a:p>
            <a:endParaRPr lang="es-ES" sz="2000" b="1" dirty="0">
              <a:latin typeface="Arial" panose="020B0604020202020204" pitchFamily="34" charset="0"/>
              <a:cs typeface="Arial" panose="020B0604020202020204" pitchFamily="34" charset="0"/>
            </a:endParaRPr>
          </a:p>
          <a:p>
            <a:endParaRPr lang="es-ES" sz="2000" b="1" dirty="0">
              <a:latin typeface="Arial" panose="020B0604020202020204" pitchFamily="34" charset="0"/>
              <a:cs typeface="Arial" panose="020B0604020202020204" pitchFamily="34" charset="0"/>
            </a:endParaRPr>
          </a:p>
          <a:p>
            <a:r>
              <a:rPr lang="es-ES" sz="2000" b="1" dirty="0">
                <a:solidFill>
                  <a:srgbClr val="C00000"/>
                </a:solidFill>
                <a:latin typeface="Arial" panose="020B0604020202020204" pitchFamily="34" charset="0"/>
                <a:cs typeface="Arial" panose="020B0604020202020204" pitchFamily="34" charset="0"/>
              </a:rPr>
              <a:t>Auditoría:</a:t>
            </a:r>
          </a:p>
          <a:p>
            <a:r>
              <a:rPr lang="es-ES" sz="2000" dirty="0">
                <a:latin typeface="Arial" panose="020B0604020202020204" pitchFamily="34" charset="0"/>
                <a:cs typeface="Arial" panose="020B0604020202020204" pitchFamily="34" charset="0"/>
              </a:rPr>
              <a:t>Examen externo para comprobar que se cumplen la normativa. Se realiza por parte de una empresa de auditoría. </a:t>
            </a:r>
            <a:endParaRPr lang="es-ES" sz="2000" b="1" dirty="0">
              <a:latin typeface="Arial" panose="020B0604020202020204" pitchFamily="34" charset="0"/>
              <a:cs typeface="Arial" panose="020B0604020202020204" pitchFamily="34" charset="0"/>
            </a:endParaRPr>
          </a:p>
          <a:p>
            <a:endParaRPr lang="en-US" sz="2000" dirty="0"/>
          </a:p>
          <a:p>
            <a:endParaRPr lang="en-US" sz="2000" dirty="0"/>
          </a:p>
        </p:txBody>
      </p:sp>
    </p:spTree>
    <p:extLst>
      <p:ext uri="{BB962C8B-B14F-4D97-AF65-F5344CB8AC3E}">
        <p14:creationId xmlns:p14="http://schemas.microsoft.com/office/powerpoint/2010/main" val="2088646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sp>
        <p:nvSpPr>
          <p:cNvPr id="4" name="3 CuadroTexto"/>
          <p:cNvSpPr txBox="1"/>
          <p:nvPr/>
        </p:nvSpPr>
        <p:spPr>
          <a:xfrm>
            <a:off x="2835130" y="798833"/>
            <a:ext cx="4102405"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Fases de cualificación </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19</a:t>
            </a:fld>
            <a:endParaRPr lang="en-US" sz="1600" dirty="0">
              <a:solidFill>
                <a:schemeClr val="bg1"/>
              </a:solidFill>
              <a:latin typeface="Arial" panose="020B0604020202020204" pitchFamily="34" charset="0"/>
              <a:cs typeface="Arial" panose="020B0604020202020204" pitchFamily="34" charset="0"/>
            </a:endParaRPr>
          </a:p>
        </p:txBody>
      </p:sp>
      <p:pic>
        <p:nvPicPr>
          <p:cNvPr id="8" name="Imagen 1"/>
          <p:cNvPicPr>
            <a:picLocks noChangeAspect="1"/>
          </p:cNvPicPr>
          <p:nvPr/>
        </p:nvPicPr>
        <p:blipFill>
          <a:blip r:embed="rId4"/>
          <a:stretch>
            <a:fillRect/>
          </a:stretch>
        </p:blipFill>
        <p:spPr>
          <a:xfrm>
            <a:off x="1217240" y="1524000"/>
            <a:ext cx="7315200" cy="4902200"/>
          </a:xfrm>
          <a:prstGeom prst="rect">
            <a:avLst/>
          </a:prstGeom>
        </p:spPr>
      </p:pic>
    </p:spTree>
    <p:extLst>
      <p:ext uri="{BB962C8B-B14F-4D97-AF65-F5344CB8AC3E}">
        <p14:creationId xmlns:p14="http://schemas.microsoft.com/office/powerpoint/2010/main" val="2267498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20</a:t>
            </a:fld>
            <a:endParaRPr lang="en-US" sz="1600" dirty="0">
              <a:solidFill>
                <a:schemeClr val="bg1"/>
              </a:solidFill>
              <a:latin typeface="Arial" panose="020B0604020202020204" pitchFamily="34" charset="0"/>
              <a:cs typeface="Arial" panose="020B0604020202020204" pitchFamily="34" charset="0"/>
            </a:endParaRPr>
          </a:p>
        </p:txBody>
      </p:sp>
      <p:pic>
        <p:nvPicPr>
          <p:cNvPr id="10" name="Imagen 1"/>
          <p:cNvPicPr>
            <a:picLocks noChangeAspect="1"/>
          </p:cNvPicPr>
          <p:nvPr/>
        </p:nvPicPr>
        <p:blipFill>
          <a:blip r:embed="rId4"/>
          <a:stretch>
            <a:fillRect/>
          </a:stretch>
        </p:blipFill>
        <p:spPr>
          <a:xfrm>
            <a:off x="971600" y="1121380"/>
            <a:ext cx="7659508" cy="5736619"/>
          </a:xfrm>
          <a:prstGeom prst="rect">
            <a:avLst/>
          </a:prstGeom>
        </p:spPr>
      </p:pic>
      <p:sp>
        <p:nvSpPr>
          <p:cNvPr id="11" name="10 CuadroTexto"/>
          <p:cNvSpPr txBox="1"/>
          <p:nvPr/>
        </p:nvSpPr>
        <p:spPr>
          <a:xfrm>
            <a:off x="2835130" y="798833"/>
            <a:ext cx="4102405"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Fases de cualificación </a:t>
            </a:r>
          </a:p>
        </p:txBody>
      </p:sp>
    </p:spTree>
    <p:extLst>
      <p:ext uri="{BB962C8B-B14F-4D97-AF65-F5344CB8AC3E}">
        <p14:creationId xmlns:p14="http://schemas.microsoft.com/office/powerpoint/2010/main" val="3171328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21</a:t>
            </a:fld>
            <a:endParaRPr lang="en-US" sz="1600" dirty="0">
              <a:solidFill>
                <a:schemeClr val="bg1"/>
              </a:solidFill>
              <a:latin typeface="Arial" panose="020B0604020202020204" pitchFamily="34" charset="0"/>
              <a:cs typeface="Arial" panose="020B0604020202020204" pitchFamily="34" charset="0"/>
            </a:endParaRPr>
          </a:p>
        </p:txBody>
      </p:sp>
      <p:sp>
        <p:nvSpPr>
          <p:cNvPr id="11" name="10 CuadroTexto"/>
          <p:cNvSpPr txBox="1"/>
          <p:nvPr/>
        </p:nvSpPr>
        <p:spPr>
          <a:xfrm>
            <a:off x="2835130" y="798833"/>
            <a:ext cx="4102405"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Fases de cualificación </a:t>
            </a:r>
          </a:p>
        </p:txBody>
      </p:sp>
      <p:sp>
        <p:nvSpPr>
          <p:cNvPr id="4" name="3 Rectángulo"/>
          <p:cNvSpPr/>
          <p:nvPr/>
        </p:nvSpPr>
        <p:spPr>
          <a:xfrm>
            <a:off x="899592" y="1556792"/>
            <a:ext cx="7776864" cy="3416320"/>
          </a:xfrm>
          <a:prstGeom prst="rect">
            <a:avLst/>
          </a:prstGeom>
        </p:spPr>
        <p:txBody>
          <a:bodyPr wrap="square">
            <a:spAutoFit/>
          </a:bodyPr>
          <a:lstStyle/>
          <a:p>
            <a:pPr algn="just"/>
            <a:r>
              <a:rPr lang="es-ES" dirty="0">
                <a:latin typeface="Arial" panose="020B0604020202020204" pitchFamily="34" charset="0"/>
                <a:cs typeface="Arial" panose="020B0604020202020204" pitchFamily="34" charset="0"/>
              </a:rPr>
              <a:t>En 1.985 el Consejo de Ministros adoptó una resolución que establecía un “</a:t>
            </a:r>
            <a:r>
              <a:rPr lang="es-ES" b="1" i="1" dirty="0">
                <a:solidFill>
                  <a:schemeClr val="accent2">
                    <a:lumMod val="75000"/>
                  </a:schemeClr>
                </a:solidFill>
                <a:latin typeface="Arial" panose="020B0604020202020204" pitchFamily="34" charset="0"/>
                <a:cs typeface="Arial" panose="020B0604020202020204" pitchFamily="34" charset="0"/>
              </a:rPr>
              <a:t>Nuevo Enfoque a la Armonización Técnica y Estándares</a:t>
            </a:r>
            <a:r>
              <a:rPr lang="es-ES" dirty="0">
                <a:latin typeface="Arial" panose="020B0604020202020204" pitchFamily="34" charset="0"/>
                <a:cs typeface="Arial" panose="020B0604020202020204" pitchFamily="34" charset="0"/>
              </a:rPr>
              <a:t>”. La resolución de </a:t>
            </a:r>
            <a:r>
              <a:rPr lang="es-ES" b="1" i="1" dirty="0">
                <a:latin typeface="Arial" panose="020B0604020202020204" pitchFamily="34" charset="0"/>
                <a:cs typeface="Arial" panose="020B0604020202020204" pitchFamily="34" charset="0"/>
              </a:rPr>
              <a:t>“Nuevo Enfoque”</a:t>
            </a:r>
            <a:r>
              <a:rPr lang="es-ES" dirty="0">
                <a:latin typeface="Arial" panose="020B0604020202020204" pitchFamily="34" charset="0"/>
                <a:cs typeface="Arial" panose="020B0604020202020204" pitchFamily="34" charset="0"/>
              </a:rPr>
              <a:t> establece:</a:t>
            </a:r>
          </a:p>
          <a:p>
            <a:pPr algn="just"/>
            <a:endParaRPr lang="es-ES" dirty="0">
              <a:latin typeface="Arial" panose="020B0604020202020204" pitchFamily="34" charset="0"/>
              <a:cs typeface="Arial" panose="020B0604020202020204" pitchFamily="34" charset="0"/>
            </a:endParaRPr>
          </a:p>
          <a:p>
            <a:pPr marL="742950" lvl="1" indent="-285750" algn="just">
              <a:buClr>
                <a:srgbClr val="007700"/>
              </a:buClr>
              <a:buFont typeface="Wingdings" charset="2"/>
              <a:buChar char=""/>
            </a:pPr>
            <a:r>
              <a:rPr lang="es-ES" dirty="0">
                <a:latin typeface="Arial" panose="020B0604020202020204" pitchFamily="34" charset="0"/>
                <a:cs typeface="Arial" panose="020B0604020202020204" pitchFamily="34" charset="0"/>
              </a:rPr>
              <a:t>Las </a:t>
            </a:r>
            <a:r>
              <a:rPr lang="es-ES" b="1" i="1" dirty="0">
                <a:solidFill>
                  <a:schemeClr val="accent2">
                    <a:lumMod val="75000"/>
                  </a:schemeClr>
                </a:solidFill>
                <a:latin typeface="Arial" panose="020B0604020202020204" pitchFamily="34" charset="0"/>
                <a:cs typeface="Arial" panose="020B0604020202020204" pitchFamily="34" charset="0"/>
              </a:rPr>
              <a:t>Directivas Comunitarias</a:t>
            </a:r>
            <a:r>
              <a:rPr lang="es-ES" dirty="0">
                <a:solidFill>
                  <a:schemeClr val="accent2">
                    <a:lumMod val="75000"/>
                  </a:schemeClr>
                </a:solidFill>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no deben armonizar más que los </a:t>
            </a:r>
            <a:r>
              <a:rPr lang="es-ES" b="1" dirty="0">
                <a:latin typeface="Arial" panose="020B0604020202020204" pitchFamily="34" charset="0"/>
                <a:cs typeface="Arial" panose="020B0604020202020204" pitchFamily="34" charset="0"/>
              </a:rPr>
              <a:t>requisitos esenciales </a:t>
            </a:r>
            <a:r>
              <a:rPr lang="es-ES" dirty="0">
                <a:latin typeface="Arial" panose="020B0604020202020204" pitchFamily="34" charset="0"/>
                <a:cs typeface="Arial" panose="020B0604020202020204" pitchFamily="34" charset="0"/>
              </a:rPr>
              <a:t>de seguridad y salud (o de otro interés colectivo) que deben satisfacer los productos.</a:t>
            </a:r>
          </a:p>
          <a:p>
            <a:pPr lvl="1" algn="just">
              <a:buClr>
                <a:srgbClr val="007700"/>
              </a:buClr>
            </a:pPr>
            <a:endParaRPr lang="es-ES" dirty="0">
              <a:latin typeface="Arial" panose="020B0604020202020204" pitchFamily="34" charset="0"/>
              <a:cs typeface="Arial" panose="020B0604020202020204" pitchFamily="34" charset="0"/>
            </a:endParaRPr>
          </a:p>
          <a:p>
            <a:pPr marL="742950" lvl="1" indent="-285750" algn="just">
              <a:buClr>
                <a:srgbClr val="007700"/>
              </a:buClr>
              <a:buFont typeface="Wingdings" charset="2"/>
              <a:buChar char=""/>
            </a:pPr>
            <a:r>
              <a:rPr lang="es-ES" dirty="0">
                <a:latin typeface="Arial" panose="020B0604020202020204" pitchFamily="34" charset="0"/>
                <a:cs typeface="Arial" panose="020B0604020202020204" pitchFamily="34" charset="0"/>
              </a:rPr>
              <a:t>Las </a:t>
            </a:r>
            <a:r>
              <a:rPr lang="es-ES" b="1" i="1" dirty="0">
                <a:solidFill>
                  <a:schemeClr val="accent2">
                    <a:lumMod val="75000"/>
                  </a:schemeClr>
                </a:solidFill>
                <a:latin typeface="Arial" panose="020B0604020202020204" pitchFamily="34" charset="0"/>
                <a:cs typeface="Arial" panose="020B0604020202020204" pitchFamily="34" charset="0"/>
              </a:rPr>
              <a:t>Normativas Comunitarias</a:t>
            </a:r>
            <a:r>
              <a:rPr lang="es-ES" dirty="0">
                <a:solidFill>
                  <a:schemeClr val="accent2">
                    <a:lumMod val="75000"/>
                  </a:schemeClr>
                </a:solidFill>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a:t>
            </a:r>
            <a:r>
              <a:rPr lang="es-ES" i="1" dirty="0">
                <a:latin typeface="Arial" panose="020B0604020202020204" pitchFamily="34" charset="0"/>
                <a:cs typeface="Arial" panose="020B0604020202020204" pitchFamily="34" charset="0"/>
              </a:rPr>
              <a:t>Estándares Técnicos</a:t>
            </a:r>
            <a:r>
              <a:rPr lang="es-ES" dirty="0">
                <a:latin typeface="Arial" panose="020B0604020202020204" pitchFamily="34" charset="0"/>
                <a:cs typeface="Arial" panose="020B0604020202020204" pitchFamily="34" charset="0"/>
              </a:rPr>
              <a:t>) necesarias o recomendables para asegurar el </a:t>
            </a:r>
            <a:r>
              <a:rPr lang="es-ES" b="1" dirty="0">
                <a:latin typeface="Arial" panose="020B0604020202020204" pitchFamily="34" charset="0"/>
                <a:cs typeface="Arial" panose="020B0604020202020204" pitchFamily="34" charset="0"/>
              </a:rPr>
              <a:t>cumplimiento de los requisitos esenciales establecidos en las directivas </a:t>
            </a:r>
            <a:r>
              <a:rPr lang="es-ES" dirty="0">
                <a:latin typeface="Arial" panose="020B0604020202020204" pitchFamily="34" charset="0"/>
                <a:cs typeface="Arial" panose="020B0604020202020204" pitchFamily="34" charset="0"/>
              </a:rPr>
              <a:t>deberán ser elaborados por los Organismos Europeos de Normalización</a:t>
            </a:r>
          </a:p>
        </p:txBody>
      </p:sp>
    </p:spTree>
    <p:extLst>
      <p:ext uri="{BB962C8B-B14F-4D97-AF65-F5344CB8AC3E}">
        <p14:creationId xmlns:p14="http://schemas.microsoft.com/office/powerpoint/2010/main" val="732973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22</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984300" y="1556792"/>
            <a:ext cx="7574509" cy="400110"/>
          </a:xfrm>
          <a:prstGeom prst="rect">
            <a:avLst/>
          </a:prstGeom>
          <a:noFill/>
        </p:spPr>
        <p:txBody>
          <a:bodyPr wrap="none" rtlCol="0">
            <a:spAutoFit/>
          </a:bodyPr>
          <a:lstStyle/>
          <a:p>
            <a:r>
              <a:rPr lang="es-ES" sz="2000" b="1" u="sng" dirty="0">
                <a:solidFill>
                  <a:schemeClr val="accent2">
                    <a:lumMod val="75000"/>
                  </a:schemeClr>
                </a:solidFill>
                <a:latin typeface="Arial" panose="020B0604020202020204" pitchFamily="34" charset="0"/>
                <a:cs typeface="Arial" panose="020B0604020202020204" pitchFamily="34" charset="0"/>
              </a:rPr>
              <a:t>Directivas comunitarias  aplicables a productos electrónicos</a:t>
            </a:r>
          </a:p>
        </p:txBody>
      </p:sp>
      <p:sp>
        <p:nvSpPr>
          <p:cNvPr id="9" name="CuadroTexto 2"/>
          <p:cNvSpPr txBox="1"/>
          <p:nvPr/>
        </p:nvSpPr>
        <p:spPr>
          <a:xfrm>
            <a:off x="984300" y="2426033"/>
            <a:ext cx="7404124" cy="954107"/>
          </a:xfrm>
          <a:prstGeom prst="rect">
            <a:avLst/>
          </a:prstGeom>
          <a:noFill/>
        </p:spPr>
        <p:txBody>
          <a:bodyPr wrap="square" rtlCol="0">
            <a:spAutoFit/>
          </a:bodyPr>
          <a:lstStyle/>
          <a:p>
            <a:pPr lvl="0" algn="just"/>
            <a:r>
              <a:rPr lang="es-ES" sz="2000" b="1" dirty="0">
                <a:solidFill>
                  <a:srgbClr val="953735"/>
                </a:solidFill>
                <a:latin typeface="Arial" panose="020B0604020202020204" pitchFamily="34" charset="0"/>
                <a:cs typeface="Arial" panose="020B0604020202020204" pitchFamily="34" charset="0"/>
              </a:rPr>
              <a:t>D.C. de Baja Tensión </a:t>
            </a:r>
            <a:endParaRPr lang="es-ES" sz="2000" dirty="0">
              <a:latin typeface="Arial" panose="020B0604020202020204" pitchFamily="34" charset="0"/>
              <a:cs typeface="Arial" panose="020B0604020202020204" pitchFamily="34" charset="0"/>
            </a:endParaRPr>
          </a:p>
          <a:p>
            <a:pPr lvl="0" algn="just"/>
            <a:r>
              <a:rPr lang="es-ES" dirty="0">
                <a:latin typeface="Arial" panose="020B0604020202020204" pitchFamily="34" charset="0"/>
                <a:cs typeface="Arial" panose="020B0604020202020204" pitchFamily="34" charset="0"/>
              </a:rPr>
              <a:t>relativa al material eléctrico destinado a utilizarse entre 50 y 1000 VAC o entre 75 y 1500 VDC (</a:t>
            </a:r>
            <a:r>
              <a:rPr lang="es-ES" b="1" i="1" dirty="0">
                <a:latin typeface="Arial" panose="020B0604020202020204" pitchFamily="34" charset="0"/>
                <a:cs typeface="Arial" panose="020B0604020202020204" pitchFamily="34" charset="0"/>
              </a:rPr>
              <a:t>2014/35/UE</a:t>
            </a:r>
            <a:r>
              <a:rPr lang="es-ES" dirty="0">
                <a:latin typeface="Arial" panose="020B0604020202020204" pitchFamily="34" charset="0"/>
                <a:cs typeface="Arial" panose="020B0604020202020204" pitchFamily="34" charset="0"/>
              </a:rPr>
              <a:t>)</a:t>
            </a:r>
          </a:p>
        </p:txBody>
      </p:sp>
      <p:sp>
        <p:nvSpPr>
          <p:cNvPr id="11" name="CuadroTexto 4"/>
          <p:cNvSpPr txBox="1"/>
          <p:nvPr/>
        </p:nvSpPr>
        <p:spPr>
          <a:xfrm>
            <a:off x="971600" y="3555013"/>
            <a:ext cx="7416824" cy="954107"/>
          </a:xfrm>
          <a:prstGeom prst="rect">
            <a:avLst/>
          </a:prstGeom>
          <a:noFill/>
        </p:spPr>
        <p:txBody>
          <a:bodyPr wrap="square" rtlCol="0">
            <a:spAutoFit/>
          </a:bodyPr>
          <a:lstStyle/>
          <a:p>
            <a:pPr lvl="0"/>
            <a:r>
              <a:rPr lang="es-ES" sz="2000" b="1" dirty="0">
                <a:solidFill>
                  <a:srgbClr val="953735"/>
                </a:solidFill>
                <a:latin typeface="Arial" panose="020B0604020202020204" pitchFamily="34" charset="0"/>
                <a:cs typeface="Arial" panose="020B0604020202020204" pitchFamily="34" charset="0"/>
              </a:rPr>
              <a:t>D.C. de Compatibilidad Electromagnética </a:t>
            </a:r>
            <a:r>
              <a:rPr lang="es-ES" dirty="0">
                <a:latin typeface="Arial" panose="020B0604020202020204" pitchFamily="34" charset="0"/>
                <a:cs typeface="Arial" panose="020B0604020202020204" pitchFamily="34" charset="0"/>
              </a:rPr>
              <a:t>relativa a equipos susceptibles de ser interferidos o de afectar  electro-magnéticamente a otros equipos de su entorno (</a:t>
            </a:r>
            <a:r>
              <a:rPr lang="es-ES" b="1" i="1" dirty="0">
                <a:latin typeface="Arial" panose="020B0604020202020204" pitchFamily="34" charset="0"/>
                <a:cs typeface="Arial" panose="020B0604020202020204" pitchFamily="34" charset="0"/>
              </a:rPr>
              <a:t>2014/30/UE</a:t>
            </a:r>
            <a:r>
              <a:rPr lang="es-ES" dirty="0">
                <a:latin typeface="Arial" panose="020B0604020202020204" pitchFamily="34" charset="0"/>
                <a:cs typeface="Arial" panose="020B0604020202020204" pitchFamily="34" charset="0"/>
              </a:rPr>
              <a:t>).</a:t>
            </a:r>
          </a:p>
        </p:txBody>
      </p:sp>
      <p:sp>
        <p:nvSpPr>
          <p:cNvPr id="12" name="CuadroTexto 5"/>
          <p:cNvSpPr txBox="1"/>
          <p:nvPr/>
        </p:nvSpPr>
        <p:spPr>
          <a:xfrm>
            <a:off x="971600" y="4894709"/>
            <a:ext cx="7992888" cy="1261884"/>
          </a:xfrm>
          <a:prstGeom prst="rect">
            <a:avLst/>
          </a:prstGeom>
          <a:noFill/>
        </p:spPr>
        <p:txBody>
          <a:bodyPr wrap="square" rtlCol="0">
            <a:spAutoFit/>
          </a:bodyPr>
          <a:lstStyle/>
          <a:p>
            <a:r>
              <a:rPr lang="es-ES" sz="2000" b="1" dirty="0">
                <a:solidFill>
                  <a:srgbClr val="953735"/>
                </a:solidFill>
                <a:latin typeface="Arial" panose="020B0604020202020204" pitchFamily="34" charset="0"/>
                <a:cs typeface="Arial" panose="020B0604020202020204" pitchFamily="34" charset="0"/>
              </a:rPr>
              <a:t>D.C.  que establece condiciones de protección del dominio público radioeléctrico, </a:t>
            </a:r>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restricciones a las emisiones radioeléctricas y medidas de protección sanitaria frente a emisiones </a:t>
            </a:r>
            <a:r>
              <a:rPr lang="es-ES">
                <a:latin typeface="Arial" panose="020B0604020202020204" pitchFamily="34" charset="0"/>
                <a:cs typeface="Arial" panose="020B0604020202020204" pitchFamily="34" charset="0"/>
              </a:rPr>
              <a:t>radioeléctricas (</a:t>
            </a:r>
            <a:r>
              <a:rPr lang="es-ES" b="1" i="1">
                <a:latin typeface="Arial" panose="020B0604020202020204" pitchFamily="34" charset="0"/>
                <a:cs typeface="Arial" panose="020B0604020202020204" pitchFamily="34" charset="0"/>
              </a:rPr>
              <a:t>2014/53/UE)</a:t>
            </a:r>
            <a:r>
              <a:rPr lang="es-ES">
                <a:latin typeface="Arial" panose="020B0604020202020204" pitchFamily="34" charset="0"/>
                <a:cs typeface="Arial" panose="020B0604020202020204" pitchFamily="34" charset="0"/>
              </a:rPr>
              <a:t> </a:t>
            </a:r>
            <a:endParaRPr lang="es-ES" dirty="0">
              <a:latin typeface="Arial" panose="020B0604020202020204" pitchFamily="34" charset="0"/>
              <a:cs typeface="Arial" panose="020B0604020202020204" pitchFamily="34" charset="0"/>
            </a:endParaRPr>
          </a:p>
        </p:txBody>
      </p:sp>
      <p:sp>
        <p:nvSpPr>
          <p:cNvPr id="13" name="12 CuadroTexto"/>
          <p:cNvSpPr txBox="1"/>
          <p:nvPr/>
        </p:nvSpPr>
        <p:spPr>
          <a:xfrm>
            <a:off x="2835130" y="798833"/>
            <a:ext cx="4102405"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Fases de cualificación </a:t>
            </a:r>
          </a:p>
        </p:txBody>
      </p:sp>
    </p:spTree>
    <p:extLst>
      <p:ext uri="{BB962C8B-B14F-4D97-AF65-F5344CB8AC3E}">
        <p14:creationId xmlns:p14="http://schemas.microsoft.com/office/powerpoint/2010/main" val="2833267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23</a:t>
            </a:fld>
            <a:endParaRPr lang="en-US" sz="1600" dirty="0">
              <a:solidFill>
                <a:schemeClr val="bg1"/>
              </a:solidFill>
              <a:latin typeface="Arial" panose="020B0604020202020204" pitchFamily="34" charset="0"/>
              <a:cs typeface="Arial" panose="020B0604020202020204" pitchFamily="34" charset="0"/>
            </a:endParaRPr>
          </a:p>
        </p:txBody>
      </p:sp>
      <p:sp>
        <p:nvSpPr>
          <p:cNvPr id="8" name="7 CuadroTexto"/>
          <p:cNvSpPr txBox="1"/>
          <p:nvPr/>
        </p:nvSpPr>
        <p:spPr>
          <a:xfrm>
            <a:off x="984300" y="1124744"/>
            <a:ext cx="3233578" cy="400110"/>
          </a:xfrm>
          <a:prstGeom prst="rect">
            <a:avLst/>
          </a:prstGeom>
          <a:noFill/>
        </p:spPr>
        <p:txBody>
          <a:bodyPr wrap="none" rtlCol="0">
            <a:spAutoFit/>
          </a:bodyPr>
          <a:lstStyle/>
          <a:p>
            <a:r>
              <a:rPr lang="es-ES" sz="2000" b="1" u="sng" dirty="0">
                <a:solidFill>
                  <a:schemeClr val="accent2">
                    <a:lumMod val="75000"/>
                  </a:schemeClr>
                </a:solidFill>
                <a:latin typeface="Arial" panose="020B0604020202020204" pitchFamily="34" charset="0"/>
                <a:cs typeface="Arial" panose="020B0604020202020204" pitchFamily="34" charset="0"/>
              </a:rPr>
              <a:t>Estándares o normativas</a:t>
            </a:r>
          </a:p>
        </p:txBody>
      </p:sp>
      <p:sp>
        <p:nvSpPr>
          <p:cNvPr id="9" name="CuadroTexto 2"/>
          <p:cNvSpPr txBox="1"/>
          <p:nvPr/>
        </p:nvSpPr>
        <p:spPr>
          <a:xfrm>
            <a:off x="971600" y="1484784"/>
            <a:ext cx="8159704" cy="984885"/>
          </a:xfrm>
          <a:prstGeom prst="rect">
            <a:avLst/>
          </a:prstGeom>
          <a:noFill/>
        </p:spPr>
        <p:txBody>
          <a:bodyPr wrap="square" rtlCol="0">
            <a:spAutoFit/>
          </a:bodyPr>
          <a:lstStyle/>
          <a:p>
            <a:pPr lvl="0" algn="just"/>
            <a:r>
              <a:rPr lang="es-ES" sz="1600" b="1" dirty="0">
                <a:solidFill>
                  <a:srgbClr val="953735"/>
                </a:solidFill>
                <a:latin typeface="Arial" panose="020B0604020202020204" pitchFamily="34" charset="0"/>
                <a:cs typeface="Arial" panose="020B0604020202020204" pitchFamily="34" charset="0"/>
              </a:rPr>
              <a:t>Básicos</a:t>
            </a:r>
            <a:endParaRPr lang="es-ES" sz="1600" dirty="0">
              <a:latin typeface="Arial" panose="020B0604020202020204" pitchFamily="34" charset="0"/>
              <a:cs typeface="Arial" panose="020B0604020202020204" pitchFamily="34" charset="0"/>
            </a:endParaRPr>
          </a:p>
          <a:p>
            <a:pPr lvl="0" algn="just"/>
            <a:r>
              <a:rPr lang="es-ES" sz="1400" dirty="0">
                <a:latin typeface="Arial" panose="020B0604020202020204" pitchFamily="34" charset="0"/>
                <a:cs typeface="Arial" panose="020B0604020202020204" pitchFamily="34" charset="0"/>
              </a:rPr>
              <a:t>Describen las </a:t>
            </a:r>
            <a:r>
              <a:rPr lang="es-ES" sz="1400" b="1" dirty="0">
                <a:latin typeface="Arial" panose="020B0604020202020204" pitchFamily="34" charset="0"/>
                <a:cs typeface="Arial" panose="020B0604020202020204" pitchFamily="34" charset="0"/>
              </a:rPr>
              <a:t>reglas generales</a:t>
            </a:r>
            <a:r>
              <a:rPr lang="es-ES" sz="1400" dirty="0">
                <a:latin typeface="Arial" panose="020B0604020202020204" pitchFamily="34" charset="0"/>
                <a:cs typeface="Arial" panose="020B0604020202020204" pitchFamily="34" charset="0"/>
              </a:rPr>
              <a:t> para alcanzar los </a:t>
            </a:r>
            <a:r>
              <a:rPr lang="es-ES" sz="1400" b="1" dirty="0">
                <a:latin typeface="Arial" panose="020B0604020202020204" pitchFamily="34" charset="0"/>
                <a:cs typeface="Arial" panose="020B0604020202020204" pitchFamily="34" charset="0"/>
              </a:rPr>
              <a:t>requerimientos exigidos por la Directiva</a:t>
            </a:r>
            <a:r>
              <a:rPr lang="es-ES" sz="1400" dirty="0">
                <a:latin typeface="Arial" panose="020B0604020202020204" pitchFamily="34" charset="0"/>
                <a:cs typeface="Arial" panose="020B0604020202020204" pitchFamily="34" charset="0"/>
              </a:rPr>
              <a:t>, incluyéndose la terminología, fenómenos sobresalientes, niveles de perturbación y métodos básicos de medida. </a:t>
            </a:r>
          </a:p>
        </p:txBody>
      </p:sp>
      <p:sp>
        <p:nvSpPr>
          <p:cNvPr id="11" name="CuadroTexto 4"/>
          <p:cNvSpPr txBox="1"/>
          <p:nvPr/>
        </p:nvSpPr>
        <p:spPr>
          <a:xfrm>
            <a:off x="922149" y="2348880"/>
            <a:ext cx="8114347" cy="1692771"/>
          </a:xfrm>
          <a:prstGeom prst="rect">
            <a:avLst/>
          </a:prstGeom>
          <a:noFill/>
        </p:spPr>
        <p:txBody>
          <a:bodyPr wrap="square" rtlCol="0">
            <a:spAutoFit/>
          </a:bodyPr>
          <a:lstStyle/>
          <a:p>
            <a:pPr lvl="0" algn="just"/>
            <a:r>
              <a:rPr lang="es-ES" sz="1600" b="1" dirty="0">
                <a:solidFill>
                  <a:srgbClr val="953735"/>
                </a:solidFill>
                <a:latin typeface="Arial" panose="020B0604020202020204" pitchFamily="34" charset="0"/>
                <a:cs typeface="Arial" panose="020B0604020202020204" pitchFamily="34" charset="0"/>
              </a:rPr>
              <a:t>Referenciados</a:t>
            </a:r>
          </a:p>
          <a:p>
            <a:pPr lvl="0" algn="just"/>
            <a:r>
              <a:rPr lang="es-ES" sz="1400" dirty="0">
                <a:latin typeface="Arial" panose="020B0604020202020204" pitchFamily="34" charset="0"/>
                <a:cs typeface="Arial" panose="020B0604020202020204" pitchFamily="34" charset="0"/>
              </a:rPr>
              <a:t>Las pruebas definidas en los estándares genéricos sólo están basadas en estándares existentes internacionalmente aprobados. Los estándares referenciados son estándares </a:t>
            </a:r>
            <a:r>
              <a:rPr lang="es-ES" sz="1400" b="1" dirty="0">
                <a:latin typeface="Arial" panose="020B0604020202020204" pitchFamily="34" charset="0"/>
                <a:cs typeface="Arial" panose="020B0604020202020204" pitchFamily="34" charset="0"/>
              </a:rPr>
              <a:t>actualmente en vigor </a:t>
            </a:r>
            <a:r>
              <a:rPr lang="es-ES" sz="1400" dirty="0">
                <a:latin typeface="Arial" panose="020B0604020202020204" pitchFamily="34" charset="0"/>
                <a:cs typeface="Arial" panose="020B0604020202020204" pitchFamily="34" charset="0"/>
              </a:rPr>
              <a:t>y que están </a:t>
            </a:r>
            <a:r>
              <a:rPr lang="es-ES" sz="1400" b="1" dirty="0">
                <a:latin typeface="Arial" panose="020B0604020202020204" pitchFamily="34" charset="0"/>
                <a:cs typeface="Arial" panose="020B0604020202020204" pitchFamily="34" charset="0"/>
              </a:rPr>
              <a:t>siendo sometidos a revisión </a:t>
            </a:r>
            <a:r>
              <a:rPr lang="es-ES" sz="1400" dirty="0">
                <a:latin typeface="Arial" panose="020B0604020202020204" pitchFamily="34" charset="0"/>
                <a:cs typeface="Arial" panose="020B0604020202020204" pitchFamily="34" charset="0"/>
              </a:rPr>
              <a:t>por la nueva normativa para incorporar nuevas pruebas. La finalidad de su inclusión en un anexo en el estándar genérico es avisar a los usuarios de los </a:t>
            </a:r>
            <a:r>
              <a:rPr lang="es-ES" sz="1400" b="1" dirty="0">
                <a:latin typeface="Arial" panose="020B0604020202020204" pitchFamily="34" charset="0"/>
                <a:cs typeface="Arial" panose="020B0604020202020204" pitchFamily="34" charset="0"/>
              </a:rPr>
              <a:t>requisitos que serán en un futuro serán obligatorios </a:t>
            </a:r>
            <a:r>
              <a:rPr lang="es-ES" sz="1400" dirty="0">
                <a:latin typeface="Arial" panose="020B0604020202020204" pitchFamily="34" charset="0"/>
                <a:cs typeface="Arial" panose="020B0604020202020204" pitchFamily="34" charset="0"/>
              </a:rPr>
              <a:t>cuando se publique el nuevo estándar o la revisión de los estándares referenciados</a:t>
            </a:r>
            <a:r>
              <a:rPr lang="es-ES" dirty="0">
                <a:latin typeface="Arial" panose="020B0604020202020204" pitchFamily="34" charset="0"/>
                <a:cs typeface="Arial" panose="020B0604020202020204" pitchFamily="34" charset="0"/>
              </a:rPr>
              <a:t>.</a:t>
            </a:r>
          </a:p>
        </p:txBody>
      </p:sp>
      <p:sp>
        <p:nvSpPr>
          <p:cNvPr id="12" name="CuadroTexto 5"/>
          <p:cNvSpPr txBox="1"/>
          <p:nvPr/>
        </p:nvSpPr>
        <p:spPr>
          <a:xfrm>
            <a:off x="899592" y="3933056"/>
            <a:ext cx="7992888" cy="984885"/>
          </a:xfrm>
          <a:prstGeom prst="rect">
            <a:avLst/>
          </a:prstGeom>
          <a:noFill/>
        </p:spPr>
        <p:txBody>
          <a:bodyPr wrap="square" rtlCol="0">
            <a:spAutoFit/>
          </a:bodyPr>
          <a:lstStyle/>
          <a:p>
            <a:r>
              <a:rPr lang="es-ES" sz="1600" b="1" dirty="0">
                <a:solidFill>
                  <a:srgbClr val="953735"/>
                </a:solidFill>
                <a:latin typeface="Arial" panose="020B0604020202020204" pitchFamily="34" charset="0"/>
                <a:cs typeface="Arial" panose="020B0604020202020204" pitchFamily="34" charset="0"/>
              </a:rPr>
              <a:t>De producto</a:t>
            </a:r>
            <a:endParaRPr lang="es-ES" sz="1600" dirty="0">
              <a:latin typeface="Arial" panose="020B0604020202020204" pitchFamily="34" charset="0"/>
              <a:cs typeface="Arial" panose="020B0604020202020204" pitchFamily="34" charset="0"/>
            </a:endParaRPr>
          </a:p>
          <a:p>
            <a:pPr algn="just"/>
            <a:r>
              <a:rPr lang="es-ES" sz="1400" dirty="0">
                <a:latin typeface="Arial" panose="020B0604020202020204" pitchFamily="34" charset="0"/>
                <a:cs typeface="Arial" panose="020B0604020202020204" pitchFamily="34" charset="0"/>
              </a:rPr>
              <a:t>Son estándares referidos a un </a:t>
            </a:r>
            <a:r>
              <a:rPr lang="es-ES" sz="1400" b="1" dirty="0">
                <a:latin typeface="Arial" panose="020B0604020202020204" pitchFamily="34" charset="0"/>
                <a:cs typeface="Arial" panose="020B0604020202020204" pitchFamily="34" charset="0"/>
              </a:rPr>
              <a:t>producto o familia de productos específicos</a:t>
            </a:r>
            <a:r>
              <a:rPr lang="es-ES" sz="1400" dirty="0">
                <a:latin typeface="Arial" panose="020B0604020202020204" pitchFamily="34" charset="0"/>
                <a:cs typeface="Arial" panose="020B0604020202020204" pitchFamily="34" charset="0"/>
              </a:rPr>
              <a:t>: Residencial, comercial y profesional de </a:t>
            </a:r>
            <a:r>
              <a:rPr lang="es-ES" sz="1400" dirty="0" err="1">
                <a:latin typeface="Arial" panose="020B0604020202020204" pitchFamily="34" charset="0"/>
                <a:cs typeface="Arial" panose="020B0604020202020204" pitchFamily="34" charset="0"/>
              </a:rPr>
              <a:t>BT</a:t>
            </a:r>
            <a:r>
              <a:rPr lang="es-ES" sz="1400" dirty="0">
                <a:latin typeface="Arial" panose="020B0604020202020204" pitchFamily="34" charset="0"/>
                <a:cs typeface="Arial" panose="020B0604020202020204" pitchFamily="34" charset="0"/>
              </a:rPr>
              <a:t>, Industrial, Tráfico y transporte, Distribución eléctrica, Especial, Tecnologías de la Información</a:t>
            </a:r>
          </a:p>
        </p:txBody>
      </p:sp>
      <p:sp>
        <p:nvSpPr>
          <p:cNvPr id="13" name="12 CuadroTexto"/>
          <p:cNvSpPr txBox="1"/>
          <p:nvPr/>
        </p:nvSpPr>
        <p:spPr>
          <a:xfrm>
            <a:off x="2835130" y="673532"/>
            <a:ext cx="4102405"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Fases de cualificación </a:t>
            </a:r>
          </a:p>
        </p:txBody>
      </p:sp>
      <p:sp>
        <p:nvSpPr>
          <p:cNvPr id="14" name="CuadroTexto 5"/>
          <p:cNvSpPr txBox="1"/>
          <p:nvPr/>
        </p:nvSpPr>
        <p:spPr>
          <a:xfrm>
            <a:off x="899592" y="4869160"/>
            <a:ext cx="8244412" cy="2062103"/>
          </a:xfrm>
          <a:prstGeom prst="rect">
            <a:avLst/>
          </a:prstGeom>
          <a:noFill/>
        </p:spPr>
        <p:txBody>
          <a:bodyPr wrap="square" rtlCol="0">
            <a:spAutoFit/>
          </a:bodyPr>
          <a:lstStyle/>
          <a:p>
            <a:pPr algn="just"/>
            <a:r>
              <a:rPr lang="es-ES" sz="1600" b="1" dirty="0">
                <a:solidFill>
                  <a:srgbClr val="953735"/>
                </a:solidFill>
                <a:latin typeface="Arial" panose="020B0604020202020204" pitchFamily="34" charset="0"/>
                <a:cs typeface="Arial" panose="020B0604020202020204" pitchFamily="34" charset="0"/>
              </a:rPr>
              <a:t>Genéricos</a:t>
            </a:r>
            <a:endParaRPr lang="es-ES" sz="1600" dirty="0">
              <a:latin typeface="Arial" panose="020B0604020202020204" pitchFamily="34" charset="0"/>
              <a:cs typeface="Arial" panose="020B0604020202020204" pitchFamily="34" charset="0"/>
            </a:endParaRPr>
          </a:p>
          <a:p>
            <a:pPr algn="just"/>
            <a:r>
              <a:rPr lang="es-ES" sz="1400" dirty="0">
                <a:latin typeface="Arial" panose="020B0604020202020204" pitchFamily="34" charset="0"/>
                <a:cs typeface="Arial" panose="020B0604020202020204" pitchFamily="34" charset="0"/>
              </a:rPr>
              <a:t>Hay muchos sectores de la industria para los que no se han desarrollado estándares específicos aplicables a un producto específico. Para rellenar este vacío legal; </a:t>
            </a:r>
            <a:r>
              <a:rPr lang="es-ES" sz="1400" b="1" dirty="0" err="1">
                <a:latin typeface="Arial" panose="020B0604020202020204" pitchFamily="34" charset="0"/>
                <a:cs typeface="Arial" panose="020B0604020202020204" pitchFamily="34" charset="0"/>
              </a:rPr>
              <a:t>CENELEC</a:t>
            </a:r>
            <a:r>
              <a:rPr lang="es-ES" sz="1400" dirty="0">
                <a:latin typeface="Arial" panose="020B0604020202020204" pitchFamily="34" charset="0"/>
                <a:cs typeface="Arial" panose="020B0604020202020204" pitchFamily="34" charset="0"/>
              </a:rPr>
              <a:t>, ha dado prioridad al desarrollo de Estándares Genéricos que son </a:t>
            </a:r>
            <a:r>
              <a:rPr lang="es-ES" sz="1400" b="1" dirty="0">
                <a:latin typeface="Arial" panose="020B0604020202020204" pitchFamily="34" charset="0"/>
                <a:cs typeface="Arial" panose="020B0604020202020204" pitchFamily="34" charset="0"/>
              </a:rPr>
              <a:t>estándares de amplia aplicación, no relacionados con un producto en particular o familia de productos </a:t>
            </a:r>
            <a:r>
              <a:rPr lang="es-ES" sz="1400" dirty="0">
                <a:latin typeface="Arial" panose="020B0604020202020204" pitchFamily="34" charset="0"/>
                <a:cs typeface="Arial" panose="020B0604020202020204" pitchFamily="34" charset="0"/>
              </a:rPr>
              <a:t>y que están pensados para representar los requisitos esenciales de la Directiva y que se refieren a entornos específicos . Se dividen en dos estándares , uno para inmunidad y otro para las emisiones, cada uno de los cuales tiene partes separados para diferentes clases de entornos. Caso de existir un estándar específico de producto, éste toma precedencia sobre el estándar genérico.</a:t>
            </a:r>
          </a:p>
        </p:txBody>
      </p:sp>
    </p:spTree>
    <p:extLst>
      <p:ext uri="{BB962C8B-B14F-4D97-AF65-F5344CB8AC3E}">
        <p14:creationId xmlns:p14="http://schemas.microsoft.com/office/powerpoint/2010/main" val="1185233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24</a:t>
            </a:fld>
            <a:endParaRPr lang="en-US" sz="1600" dirty="0">
              <a:solidFill>
                <a:schemeClr val="bg1"/>
              </a:solidFill>
              <a:latin typeface="Arial" panose="020B0604020202020204" pitchFamily="34" charset="0"/>
              <a:cs typeface="Arial" panose="020B0604020202020204" pitchFamily="34" charset="0"/>
            </a:endParaRPr>
          </a:p>
        </p:txBody>
      </p:sp>
      <p:sp>
        <p:nvSpPr>
          <p:cNvPr id="11" name="10 CuadroTexto"/>
          <p:cNvSpPr txBox="1"/>
          <p:nvPr/>
        </p:nvSpPr>
        <p:spPr>
          <a:xfrm>
            <a:off x="2835130" y="798833"/>
            <a:ext cx="3680816" cy="523220"/>
          </a:xfrm>
          <a:prstGeom prst="rect">
            <a:avLst/>
          </a:prstGeom>
          <a:noFill/>
        </p:spPr>
        <p:txBody>
          <a:bodyPr wrap="none" rtlCol="0">
            <a:spAutoFit/>
          </a:bodyPr>
          <a:lstStyle/>
          <a:p>
            <a:r>
              <a:rPr lang="es-ES" sz="2800" b="1" u="sng">
                <a:solidFill>
                  <a:schemeClr val="accent3">
                    <a:lumMod val="50000"/>
                  </a:schemeClr>
                </a:solidFill>
                <a:latin typeface="Arial" panose="020B0604020202020204" pitchFamily="34" charset="0"/>
                <a:cs typeface="Arial" panose="020B0604020202020204" pitchFamily="34" charset="0"/>
              </a:rPr>
              <a:t>Tipos de normativas</a:t>
            </a:r>
            <a:endParaRPr lang="es-ES" sz="2800" b="1" u="sng" dirty="0">
              <a:solidFill>
                <a:schemeClr val="accent3">
                  <a:lumMod val="50000"/>
                </a:schemeClr>
              </a:solidFill>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374CC817-ADAC-41A8-8C36-8883C992045A}"/>
              </a:ext>
            </a:extLst>
          </p:cNvPr>
          <p:cNvSpPr/>
          <p:nvPr/>
        </p:nvSpPr>
        <p:spPr>
          <a:xfrm>
            <a:off x="1763686" y="5474780"/>
            <a:ext cx="5870568" cy="7822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8">
            <a:extLst>
              <a:ext uri="{FF2B5EF4-FFF2-40B4-BE49-F238E27FC236}">
                <a16:creationId xmlns:a16="http://schemas.microsoft.com/office/drawing/2014/main" id="{55D5CCD7-9F89-4CBC-908D-0204D35E9F20}"/>
              </a:ext>
            </a:extLst>
          </p:cNvPr>
          <p:cNvSpPr/>
          <p:nvPr/>
        </p:nvSpPr>
        <p:spPr>
          <a:xfrm>
            <a:off x="1763687" y="2767347"/>
            <a:ext cx="5870568" cy="1447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9">
            <a:extLst>
              <a:ext uri="{FF2B5EF4-FFF2-40B4-BE49-F238E27FC236}">
                <a16:creationId xmlns:a16="http://schemas.microsoft.com/office/drawing/2014/main" id="{66899957-492D-462B-9E4E-850FEF4FC906}"/>
              </a:ext>
            </a:extLst>
          </p:cNvPr>
          <p:cNvSpPr/>
          <p:nvPr/>
        </p:nvSpPr>
        <p:spPr>
          <a:xfrm>
            <a:off x="1763687" y="4215147"/>
            <a:ext cx="5870569" cy="125963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11">
            <a:extLst>
              <a:ext uri="{FF2B5EF4-FFF2-40B4-BE49-F238E27FC236}">
                <a16:creationId xmlns:a16="http://schemas.microsoft.com/office/drawing/2014/main" id="{BC6488D3-5E21-482E-A7AF-ACD47ABD420A}"/>
              </a:ext>
            </a:extLst>
          </p:cNvPr>
          <p:cNvSpPr/>
          <p:nvPr/>
        </p:nvSpPr>
        <p:spPr>
          <a:xfrm>
            <a:off x="1763688" y="1507714"/>
            <a:ext cx="5870568" cy="125963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uadroTexto 12">
            <a:extLst>
              <a:ext uri="{FF2B5EF4-FFF2-40B4-BE49-F238E27FC236}">
                <a16:creationId xmlns:a16="http://schemas.microsoft.com/office/drawing/2014/main" id="{5D00BB00-5A9E-4A7C-9A08-F19CB75AAFBA}"/>
              </a:ext>
            </a:extLst>
          </p:cNvPr>
          <p:cNvSpPr txBox="1"/>
          <p:nvPr/>
        </p:nvSpPr>
        <p:spPr>
          <a:xfrm>
            <a:off x="1763688" y="1620197"/>
            <a:ext cx="3080715" cy="4524315"/>
          </a:xfrm>
          <a:prstGeom prst="rect">
            <a:avLst/>
          </a:prstGeom>
          <a:noFill/>
        </p:spPr>
        <p:txBody>
          <a:bodyPr wrap="none" rtlCol="0">
            <a:spAutoFit/>
          </a:bodyPr>
          <a:lstStyle/>
          <a:p>
            <a:pPr marL="285750" indent="-285750">
              <a:buFont typeface="Arial" panose="020B0604020202020204" pitchFamily="34" charset="0"/>
              <a:buChar char="•"/>
            </a:pPr>
            <a:r>
              <a:rPr lang="es-ES" b="1">
                <a:latin typeface="Arial" panose="020B0604020202020204" pitchFamily="34" charset="0"/>
                <a:cs typeface="Arial" panose="020B0604020202020204" pitchFamily="34" charset="0"/>
              </a:rPr>
              <a:t>Unión Europea:</a:t>
            </a:r>
          </a:p>
          <a:p>
            <a:pPr marL="285750" indent="-285750">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ES" b="1">
                <a:latin typeface="Arial" panose="020B0604020202020204" pitchFamily="34" charset="0"/>
                <a:cs typeface="Arial" panose="020B0604020202020204" pitchFamily="34" charset="0"/>
              </a:rPr>
              <a:t>Estado:</a:t>
            </a:r>
          </a:p>
          <a:p>
            <a:pPr marL="285750" indent="-285750" algn="ctr">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ctr">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ES" b="1">
                <a:latin typeface="Arial" panose="020B0604020202020204" pitchFamily="34" charset="0"/>
                <a:cs typeface="Arial" panose="020B0604020202020204" pitchFamily="34" charset="0"/>
              </a:rPr>
              <a:t>Comunidad Autónoma: </a:t>
            </a:r>
          </a:p>
          <a:p>
            <a:pPr marL="285750" indent="-285750" algn="just">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endParaRPr lang="es-ES" b="1">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ES" b="1">
                <a:latin typeface="Arial" panose="020B0604020202020204" pitchFamily="34" charset="0"/>
                <a:cs typeface="Arial" panose="020B0604020202020204" pitchFamily="34" charset="0"/>
              </a:rPr>
              <a:t>Ayuntamiento:</a:t>
            </a:r>
            <a:endParaRPr lang="en-US" b="1">
              <a:latin typeface="Arial" panose="020B0604020202020204" pitchFamily="34" charset="0"/>
              <a:cs typeface="Arial" panose="020B0604020202020204" pitchFamily="34" charset="0"/>
            </a:endParaRPr>
          </a:p>
        </p:txBody>
      </p:sp>
      <p:sp>
        <p:nvSpPr>
          <p:cNvPr id="14" name="CuadroTexto 13">
            <a:extLst>
              <a:ext uri="{FF2B5EF4-FFF2-40B4-BE49-F238E27FC236}">
                <a16:creationId xmlns:a16="http://schemas.microsoft.com/office/drawing/2014/main" id="{05DDB809-7DB3-4F9E-9021-326462A703AF}"/>
              </a:ext>
            </a:extLst>
          </p:cNvPr>
          <p:cNvSpPr txBox="1"/>
          <p:nvPr/>
        </p:nvSpPr>
        <p:spPr>
          <a:xfrm>
            <a:off x="4844403" y="1620197"/>
            <a:ext cx="2864887" cy="4524315"/>
          </a:xfrm>
          <a:prstGeom prst="rect">
            <a:avLst/>
          </a:prstGeom>
          <a:noFill/>
        </p:spPr>
        <p:txBody>
          <a:bodyPr wrap="none" rtlCol="0">
            <a:spAutoFit/>
          </a:bodyPr>
          <a:lstStyle/>
          <a:p>
            <a:r>
              <a:rPr lang="es-ES">
                <a:latin typeface="Arial" panose="020B0604020202020204" pitchFamily="34" charset="0"/>
                <a:cs typeface="Arial" panose="020B0604020202020204" pitchFamily="34" charset="0"/>
              </a:rPr>
              <a:t>- Directivas</a:t>
            </a:r>
          </a:p>
          <a:p>
            <a:r>
              <a:rPr lang="es-ES">
                <a:latin typeface="Arial" panose="020B0604020202020204" pitchFamily="34" charset="0"/>
                <a:cs typeface="Arial" panose="020B0604020202020204" pitchFamily="34" charset="0"/>
              </a:rPr>
              <a:t>- Reglamentos</a:t>
            </a:r>
          </a:p>
          <a:p>
            <a:r>
              <a:rPr lang="es-ES">
                <a:latin typeface="Arial" panose="020B0604020202020204" pitchFamily="34" charset="0"/>
                <a:cs typeface="Arial" panose="020B0604020202020204" pitchFamily="34" charset="0"/>
              </a:rPr>
              <a:t>- Decisiones</a:t>
            </a:r>
          </a:p>
          <a:p>
            <a:endParaRPr lang="es-ES">
              <a:latin typeface="Arial" panose="020B0604020202020204" pitchFamily="34" charset="0"/>
              <a:cs typeface="Arial" panose="020B0604020202020204" pitchFamily="34" charset="0"/>
            </a:endParaRPr>
          </a:p>
          <a:p>
            <a:endParaRPr lang="es-ES">
              <a:latin typeface="Arial" panose="020B0604020202020204" pitchFamily="34" charset="0"/>
              <a:cs typeface="Arial" panose="020B0604020202020204" pitchFamily="34" charset="0"/>
            </a:endParaRPr>
          </a:p>
          <a:p>
            <a:r>
              <a:rPr lang="es-ES">
                <a:latin typeface="Arial" panose="020B0604020202020204" pitchFamily="34" charset="0"/>
                <a:cs typeface="Arial" panose="020B0604020202020204" pitchFamily="34" charset="0"/>
              </a:rPr>
              <a:t>- Leyes</a:t>
            </a:r>
          </a:p>
          <a:p>
            <a:r>
              <a:rPr lang="es-ES">
                <a:latin typeface="Arial" panose="020B0604020202020204" pitchFamily="34" charset="0"/>
                <a:cs typeface="Arial" panose="020B0604020202020204" pitchFamily="34" charset="0"/>
              </a:rPr>
              <a:t>- Real Decreto</a:t>
            </a:r>
          </a:p>
          <a:p>
            <a:r>
              <a:rPr lang="es-ES">
                <a:latin typeface="Arial" panose="020B0604020202020204" pitchFamily="34" charset="0"/>
                <a:cs typeface="Arial" panose="020B0604020202020204" pitchFamily="34" charset="0"/>
              </a:rPr>
              <a:t>- Órdenes</a:t>
            </a:r>
          </a:p>
          <a:p>
            <a:endParaRPr lang="es-ES">
              <a:latin typeface="Arial" panose="020B0604020202020204" pitchFamily="34" charset="0"/>
              <a:cs typeface="Arial" panose="020B0604020202020204" pitchFamily="34" charset="0"/>
            </a:endParaRPr>
          </a:p>
          <a:p>
            <a:endParaRPr lang="es-ES">
              <a:latin typeface="Arial" panose="020B0604020202020204" pitchFamily="34" charset="0"/>
              <a:cs typeface="Arial" panose="020B0604020202020204" pitchFamily="34" charset="0"/>
            </a:endParaRPr>
          </a:p>
          <a:p>
            <a:r>
              <a:rPr lang="es-ES">
                <a:latin typeface="Arial" panose="020B0604020202020204" pitchFamily="34" charset="0"/>
                <a:cs typeface="Arial" panose="020B0604020202020204" pitchFamily="34" charset="0"/>
              </a:rPr>
              <a:t>- Leyes</a:t>
            </a:r>
          </a:p>
          <a:p>
            <a:r>
              <a:rPr lang="es-ES">
                <a:latin typeface="Arial" panose="020B0604020202020204" pitchFamily="34" charset="0"/>
                <a:cs typeface="Arial" panose="020B0604020202020204" pitchFamily="34" charset="0"/>
              </a:rPr>
              <a:t>- Decretos</a:t>
            </a:r>
          </a:p>
          <a:p>
            <a:r>
              <a:rPr lang="es-ES">
                <a:latin typeface="Arial" panose="020B0604020202020204" pitchFamily="34" charset="0"/>
                <a:cs typeface="Arial" panose="020B0604020202020204" pitchFamily="34" charset="0"/>
              </a:rPr>
              <a:t>- Órdenes</a:t>
            </a:r>
          </a:p>
          <a:p>
            <a:endParaRPr lang="es-ES">
              <a:latin typeface="Arial" panose="020B0604020202020204" pitchFamily="34" charset="0"/>
              <a:cs typeface="Arial" panose="020B0604020202020204" pitchFamily="34" charset="0"/>
            </a:endParaRPr>
          </a:p>
          <a:p>
            <a:endParaRPr lang="es-ES">
              <a:latin typeface="Arial" panose="020B0604020202020204" pitchFamily="34" charset="0"/>
              <a:cs typeface="Arial" panose="020B0604020202020204" pitchFamily="34" charset="0"/>
            </a:endParaRPr>
          </a:p>
          <a:p>
            <a:r>
              <a:rPr lang="es-ES">
                <a:latin typeface="Arial" panose="020B0604020202020204" pitchFamily="34" charset="0"/>
                <a:cs typeface="Arial" panose="020B0604020202020204" pitchFamily="34" charset="0"/>
              </a:rPr>
              <a:t>- Ordenanzas municipales</a:t>
            </a:r>
          </a:p>
        </p:txBody>
      </p:sp>
    </p:spTree>
    <p:extLst>
      <p:ext uri="{BB962C8B-B14F-4D97-AF65-F5344CB8AC3E}">
        <p14:creationId xmlns:p14="http://schemas.microsoft.com/office/powerpoint/2010/main" val="3220492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25</a:t>
            </a:fld>
            <a:endParaRPr lang="en-US" sz="1600" dirty="0">
              <a:solidFill>
                <a:schemeClr val="bg1"/>
              </a:solidFill>
              <a:latin typeface="Arial" panose="020B0604020202020204" pitchFamily="34" charset="0"/>
              <a:cs typeface="Arial" panose="020B0604020202020204" pitchFamily="34" charset="0"/>
            </a:endParaRPr>
          </a:p>
        </p:txBody>
      </p:sp>
      <p:sp>
        <p:nvSpPr>
          <p:cNvPr id="13" name="12 CuadroTexto"/>
          <p:cNvSpPr txBox="1"/>
          <p:nvPr/>
        </p:nvSpPr>
        <p:spPr>
          <a:xfrm>
            <a:off x="3533978" y="673532"/>
            <a:ext cx="2262158"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Marcado CE</a:t>
            </a:r>
          </a:p>
        </p:txBody>
      </p:sp>
      <p:sp>
        <p:nvSpPr>
          <p:cNvPr id="8" name="CuadroTexto 1">
            <a:extLst>
              <a:ext uri="{FF2B5EF4-FFF2-40B4-BE49-F238E27FC236}">
                <a16:creationId xmlns:a16="http://schemas.microsoft.com/office/drawing/2014/main" id="{D94E68B7-F676-4CFE-9F1A-A1328B0DF741}"/>
              </a:ext>
            </a:extLst>
          </p:cNvPr>
          <p:cNvSpPr txBox="1"/>
          <p:nvPr/>
        </p:nvSpPr>
        <p:spPr>
          <a:xfrm>
            <a:off x="741032" y="1628800"/>
            <a:ext cx="7870614" cy="3693319"/>
          </a:xfrm>
          <a:prstGeom prst="rect">
            <a:avLst/>
          </a:prstGeom>
          <a:noFill/>
        </p:spPr>
        <p:txBody>
          <a:bodyPr wrap="square" rtlCol="0">
            <a:spAutoFit/>
          </a:bodyPr>
          <a:lstStyle/>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De obligado cumplimiento desde el 1 de enero de 1995</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Es el testimonio por parte del fabricante de que su producto cumple con los </a:t>
            </a:r>
            <a:r>
              <a:rPr lang="es-ES" b="1" dirty="0">
                <a:latin typeface="Arial" panose="020B0604020202020204" pitchFamily="34" charset="0"/>
                <a:cs typeface="Arial" panose="020B0604020202020204" pitchFamily="34" charset="0"/>
              </a:rPr>
              <a:t>mínimos requisitos legales y técnicos </a:t>
            </a:r>
            <a:r>
              <a:rPr lang="es-ES" dirty="0">
                <a:latin typeface="Arial" panose="020B0604020202020204" pitchFamily="34" charset="0"/>
                <a:cs typeface="Arial" panose="020B0604020202020204" pitchFamily="34" charset="0"/>
              </a:rPr>
              <a:t>en materia de seguridad.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En Europa está prohibida la comercialización de los productos que no reúnan las condiciones de dicho marcado.</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Para la </a:t>
            </a:r>
            <a:r>
              <a:rPr lang="es-ES" b="1" dirty="0">
                <a:latin typeface="Arial" panose="020B0604020202020204" pitchFamily="34" charset="0"/>
                <a:cs typeface="Arial" panose="020B0604020202020204" pitchFamily="34" charset="0"/>
              </a:rPr>
              <a:t>declaración de conformidad CE </a:t>
            </a:r>
            <a:r>
              <a:rPr lang="es-ES"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ES" b="1" i="1" dirty="0">
                <a:latin typeface="Arial" panose="020B0604020202020204" pitchFamily="34" charset="0"/>
                <a:cs typeface="Arial" panose="020B0604020202020204" pitchFamily="34" charset="0"/>
              </a:rPr>
              <a:t>Evaluación del diseño</a:t>
            </a:r>
            <a:endParaRPr lang="es-E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s-ES" b="1" i="1" dirty="0">
                <a:latin typeface="Arial" panose="020B0604020202020204" pitchFamily="34" charset="0"/>
                <a:cs typeface="Arial" panose="020B0604020202020204" pitchFamily="34" charset="0"/>
              </a:rPr>
              <a:t>Evaluación de la producción</a:t>
            </a:r>
            <a:r>
              <a:rPr lang="es-ES" dirty="0">
                <a:latin typeface="Arial" panose="020B0604020202020204" pitchFamily="34" charset="0"/>
                <a:cs typeface="Arial" panose="020B0604020202020204" pitchFamily="34" charset="0"/>
              </a:rPr>
              <a:t> mediante un cierto control de </a:t>
            </a:r>
            <a:r>
              <a:rPr lang="es-ES" u="sng" dirty="0">
                <a:latin typeface="Arial" panose="020B0604020202020204" pitchFamily="34" charset="0"/>
                <a:cs typeface="Arial" panose="020B0604020202020204" pitchFamily="34" charset="0"/>
              </a:rPr>
              <a:t>calidad</a:t>
            </a:r>
            <a:r>
              <a:rPr lang="es-ES" dirty="0">
                <a:latin typeface="Arial" panose="020B0604020202020204" pitchFamily="34" charset="0"/>
                <a:cs typeface="Arial" panose="020B0604020202020204" pitchFamily="34" charset="0"/>
              </a:rPr>
              <a:t> de la producción, preferiblemente basado en las </a:t>
            </a:r>
            <a:r>
              <a:rPr lang="es-ES" u="sng" dirty="0">
                <a:latin typeface="Arial" panose="020B0604020202020204" pitchFamily="34" charset="0"/>
                <a:cs typeface="Arial" panose="020B0604020202020204" pitchFamily="34" charset="0"/>
              </a:rPr>
              <a:t>normas</a:t>
            </a:r>
            <a:r>
              <a:rPr lang="es-ES" dirty="0">
                <a:latin typeface="Arial" panose="020B0604020202020204" pitchFamily="34" charset="0"/>
                <a:cs typeface="Arial" panose="020B0604020202020204" pitchFamily="34" charset="0"/>
              </a:rPr>
              <a:t>  ISO 9000</a:t>
            </a:r>
          </a:p>
          <a:p>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1901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26</a:t>
            </a:fld>
            <a:endParaRPr lang="en-US" sz="1600" dirty="0">
              <a:solidFill>
                <a:schemeClr val="bg1"/>
              </a:solidFill>
              <a:latin typeface="Arial" panose="020B0604020202020204" pitchFamily="34" charset="0"/>
              <a:cs typeface="Arial" panose="020B0604020202020204" pitchFamily="34" charset="0"/>
            </a:endParaRPr>
          </a:p>
        </p:txBody>
      </p:sp>
      <p:sp>
        <p:nvSpPr>
          <p:cNvPr id="13" name="12 CuadroTexto"/>
          <p:cNvSpPr txBox="1"/>
          <p:nvPr/>
        </p:nvSpPr>
        <p:spPr>
          <a:xfrm>
            <a:off x="3533978" y="673532"/>
            <a:ext cx="2262158"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Marcado CE</a:t>
            </a:r>
          </a:p>
        </p:txBody>
      </p:sp>
      <p:pic>
        <p:nvPicPr>
          <p:cNvPr id="8" name="Imagen 2"/>
          <p:cNvPicPr>
            <a:picLocks noChangeAspect="1"/>
          </p:cNvPicPr>
          <p:nvPr/>
        </p:nvPicPr>
        <p:blipFill>
          <a:blip r:embed="rId4">
            <a:extLst>
              <a:ext uri="{BEBA8EAE-BF5A-486C-A8C5-ECC9F3942E4B}">
                <a14:imgProps xmlns:a14="http://schemas.microsoft.com/office/drawing/2010/main">
                  <a14:imgLayer r:embed="rId5">
                    <a14:imgEffect>
                      <a14:backgroundRemoval t="0" b="97758" l="0" r="100000"/>
                    </a14:imgEffect>
                  </a14:imgLayer>
                </a14:imgProps>
              </a:ext>
            </a:extLst>
          </a:blip>
          <a:stretch>
            <a:fillRect/>
          </a:stretch>
        </p:blipFill>
        <p:spPr>
          <a:xfrm>
            <a:off x="6444208" y="1984878"/>
            <a:ext cx="1796902" cy="1804996"/>
          </a:xfrm>
          <a:prstGeom prst="rect">
            <a:avLst/>
          </a:prstGeom>
        </p:spPr>
      </p:pic>
      <p:pic>
        <p:nvPicPr>
          <p:cNvPr id="9" name="Imagen 8"/>
          <p:cNvPicPr>
            <a:picLocks noChangeAspect="1"/>
          </p:cNvPicPr>
          <p:nvPr/>
        </p:nvPicPr>
        <p:blipFill>
          <a:blip r:embed="rId6"/>
          <a:stretch>
            <a:fillRect/>
          </a:stretch>
        </p:blipFill>
        <p:spPr>
          <a:xfrm>
            <a:off x="5580112" y="3861048"/>
            <a:ext cx="3414355" cy="2230546"/>
          </a:xfrm>
          <a:prstGeom prst="rect">
            <a:avLst/>
          </a:prstGeom>
        </p:spPr>
      </p:pic>
      <p:pic>
        <p:nvPicPr>
          <p:cNvPr id="10" name="Imagen 1"/>
          <p:cNvPicPr>
            <a:picLocks noChangeAspect="1"/>
          </p:cNvPicPr>
          <p:nvPr/>
        </p:nvPicPr>
        <p:blipFill>
          <a:blip r:embed="rId7"/>
          <a:stretch>
            <a:fillRect/>
          </a:stretch>
        </p:blipFill>
        <p:spPr>
          <a:xfrm>
            <a:off x="663314" y="1581150"/>
            <a:ext cx="4518286" cy="5010150"/>
          </a:xfrm>
          <a:prstGeom prst="rect">
            <a:avLst/>
          </a:prstGeom>
        </p:spPr>
      </p:pic>
    </p:spTree>
    <p:extLst>
      <p:ext uri="{BB962C8B-B14F-4D97-AF65-F5344CB8AC3E}">
        <p14:creationId xmlns:p14="http://schemas.microsoft.com/office/powerpoint/2010/main" val="1561615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27</a:t>
            </a:fld>
            <a:endParaRPr lang="en-US" sz="1600" dirty="0">
              <a:solidFill>
                <a:schemeClr val="bg1"/>
              </a:solidFill>
              <a:latin typeface="Arial" panose="020B0604020202020204" pitchFamily="34" charset="0"/>
              <a:cs typeface="Arial" panose="020B0604020202020204" pitchFamily="34" charset="0"/>
            </a:endParaRPr>
          </a:p>
        </p:txBody>
      </p:sp>
      <p:sp>
        <p:nvSpPr>
          <p:cNvPr id="13" name="12 CuadroTexto"/>
          <p:cNvSpPr txBox="1"/>
          <p:nvPr/>
        </p:nvSpPr>
        <p:spPr>
          <a:xfrm>
            <a:off x="3533978" y="673532"/>
            <a:ext cx="2262158"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Marcado CE</a:t>
            </a:r>
          </a:p>
        </p:txBody>
      </p:sp>
      <p:sp>
        <p:nvSpPr>
          <p:cNvPr id="8" name="CuadroTexto 1">
            <a:extLst>
              <a:ext uri="{FF2B5EF4-FFF2-40B4-BE49-F238E27FC236}">
                <a16:creationId xmlns:a16="http://schemas.microsoft.com/office/drawing/2014/main" id="{B9BDD1CC-A0F8-48CF-9973-6A8B722569B1}"/>
              </a:ext>
            </a:extLst>
          </p:cNvPr>
          <p:cNvSpPr txBox="1"/>
          <p:nvPr/>
        </p:nvSpPr>
        <p:spPr>
          <a:xfrm>
            <a:off x="964532" y="1473430"/>
            <a:ext cx="7423613" cy="4524315"/>
          </a:xfrm>
          <a:prstGeom prst="rect">
            <a:avLst/>
          </a:prstGeom>
          <a:noFill/>
        </p:spPr>
        <p:txBody>
          <a:bodyPr wrap="square" rtlCol="0">
            <a:spAutoFit/>
          </a:bodyPr>
          <a:lstStyle/>
          <a:p>
            <a:r>
              <a:rPr lang="es-ES" b="1" dirty="0">
                <a:solidFill>
                  <a:srgbClr val="C00000"/>
                </a:solidFill>
                <a:latin typeface="Arial" panose="020B0604020202020204" pitchFamily="34" charset="0"/>
                <a:cs typeface="Arial" panose="020B0604020202020204" pitchFamily="34" charset="0"/>
              </a:rPr>
              <a:t>MECANISMOS PARA EL MARCADO CE DE </a:t>
            </a:r>
            <a:r>
              <a:rPr lang="es-ES" b="1">
                <a:solidFill>
                  <a:srgbClr val="C00000"/>
                </a:solidFill>
                <a:latin typeface="Arial" panose="020B0604020202020204" pitchFamily="34" charset="0"/>
                <a:cs typeface="Arial" panose="020B0604020202020204" pitchFamily="34" charset="0"/>
              </a:rPr>
              <a:t>UN PRODUCTO</a:t>
            </a:r>
          </a:p>
          <a:p>
            <a:endParaRPr lang="es-ES" b="1" dirty="0">
              <a:solidFill>
                <a:srgbClr val="C00000"/>
              </a:solidFill>
              <a:latin typeface="Arial" panose="020B0604020202020204" pitchFamily="34" charset="0"/>
              <a:cs typeface="Arial" panose="020B0604020202020204" pitchFamily="34" charset="0"/>
            </a:endParaRPr>
          </a:p>
          <a:p>
            <a:pPr marL="742950" lvl="1" indent="-285750" algn="just">
              <a:buFont typeface="Arial" panose="020B0604020202020204" pitchFamily="34" charset="0"/>
              <a:buChar char="•"/>
            </a:pPr>
            <a:r>
              <a:rPr lang="es-ES">
                <a:latin typeface="Arial" panose="020B0604020202020204" pitchFamily="34" charset="0"/>
                <a:cs typeface="Arial" panose="020B0604020202020204" pitchFamily="34" charset="0"/>
              </a:rPr>
              <a:t>Sin </a:t>
            </a:r>
            <a:r>
              <a:rPr lang="es-ES" dirty="0">
                <a:latin typeface="Arial" panose="020B0604020202020204" pitchFamily="34" charset="0"/>
                <a:cs typeface="Arial" panose="020B0604020202020204" pitchFamily="34" charset="0"/>
              </a:rPr>
              <a:t>realizar ningún tipo de medida </a:t>
            </a:r>
            <a:r>
              <a:rPr lang="es-ES">
                <a:latin typeface="Arial" panose="020B0604020202020204" pitchFamily="34" charset="0"/>
                <a:cs typeface="Arial" panose="020B0604020202020204" pitchFamily="34" charset="0"/>
              </a:rPr>
              <a:t>certifica porque se está seguro que se cumple la directiva</a:t>
            </a:r>
          </a:p>
          <a:p>
            <a:pPr marL="742950" lvl="1" indent="-285750" algn="just">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742950" lvl="1" indent="-285750" algn="just">
              <a:buFont typeface="Arial" panose="020B0604020202020204" pitchFamily="34" charset="0"/>
              <a:buChar char="•"/>
            </a:pPr>
            <a:r>
              <a:rPr lang="es-ES">
                <a:latin typeface="Arial" panose="020B0604020202020204" pitchFamily="34" charset="0"/>
                <a:cs typeface="Arial" panose="020B0604020202020204" pitchFamily="34" charset="0"/>
              </a:rPr>
              <a:t>Resultados </a:t>
            </a:r>
            <a:r>
              <a:rPr lang="es-ES" dirty="0">
                <a:latin typeface="Arial" panose="020B0604020202020204" pitchFamily="34" charset="0"/>
                <a:cs typeface="Arial" panose="020B0604020202020204" pitchFamily="34" charset="0"/>
              </a:rPr>
              <a:t>existentes de ciertas pruebas</a:t>
            </a:r>
            <a:r>
              <a:rPr lang="es-ES">
                <a:latin typeface="Arial" panose="020B0604020202020204" pitchFamily="34" charset="0"/>
                <a:cs typeface="Arial" panose="020B0604020202020204" pitchFamily="34" charset="0"/>
              </a:rPr>
              <a:t>. </a:t>
            </a:r>
          </a:p>
          <a:p>
            <a:pPr marL="742950" lvl="1" indent="-285750" algn="just">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742950" lvl="1" indent="-285750" algn="just">
              <a:buFont typeface="Arial" panose="020B0604020202020204" pitchFamily="34" charset="0"/>
              <a:buChar char="•"/>
            </a:pPr>
            <a:r>
              <a:rPr lang="es-ES">
                <a:latin typeface="Arial" panose="020B0604020202020204" pitchFamily="34" charset="0"/>
                <a:cs typeface="Arial" panose="020B0604020202020204" pitchFamily="34" charset="0"/>
              </a:rPr>
              <a:t>Correspondientes </a:t>
            </a:r>
            <a:r>
              <a:rPr lang="es-ES" dirty="0">
                <a:latin typeface="Arial" panose="020B0604020202020204" pitchFamily="34" charset="0"/>
                <a:cs typeface="Arial" panose="020B0604020202020204" pitchFamily="34" charset="0"/>
              </a:rPr>
              <a:t>mediciones el cumplimiento de los estándares aplicables o bien elegir la ruta de los protocolos técnicos</a:t>
            </a:r>
            <a:r>
              <a:rPr lang="es-ES">
                <a:latin typeface="Arial" panose="020B0604020202020204" pitchFamily="34" charset="0"/>
                <a:cs typeface="Arial" panose="020B0604020202020204" pitchFamily="34" charset="0"/>
              </a:rPr>
              <a:t>. </a:t>
            </a:r>
          </a:p>
          <a:p>
            <a:pPr lvl="1" algn="just"/>
            <a:endParaRPr lang="es-ES" dirty="0">
              <a:latin typeface="Arial" panose="020B0604020202020204" pitchFamily="34" charset="0"/>
              <a:cs typeface="Arial" panose="020B0604020202020204" pitchFamily="34" charset="0"/>
            </a:endParaRPr>
          </a:p>
          <a:p>
            <a:pPr marL="1200150" lvl="2" indent="-285750">
              <a:buFont typeface="Arial" panose="020B0604020202020204" pitchFamily="34" charset="0"/>
              <a:buChar char="•"/>
            </a:pPr>
            <a:r>
              <a:rPr lang="es-ES" i="1" dirty="0">
                <a:latin typeface="Arial" panose="020B0604020202020204" pitchFamily="34" charset="0"/>
                <a:cs typeface="Arial" panose="020B0604020202020204" pitchFamily="34" charset="0"/>
              </a:rPr>
              <a:t>A.-Evaluación de conformidad de acuerdo a normas (</a:t>
            </a:r>
            <a:r>
              <a:rPr lang="es-ES" i="1" err="1">
                <a:latin typeface="Arial" panose="020B0604020202020204" pitchFamily="34" charset="0"/>
                <a:cs typeface="Arial" panose="020B0604020202020204" pitchFamily="34" charset="0"/>
              </a:rPr>
              <a:t>autocertificación</a:t>
            </a:r>
            <a:r>
              <a:rPr lang="es-ES" i="1">
                <a:latin typeface="Arial" panose="020B0604020202020204" pitchFamily="34" charset="0"/>
                <a:cs typeface="Arial" panose="020B0604020202020204" pitchFamily="34" charset="0"/>
              </a:rPr>
              <a:t>).</a:t>
            </a:r>
          </a:p>
          <a:p>
            <a:pPr marL="1200150" lvl="2" indent="-285750">
              <a:buFont typeface="Arial" panose="020B0604020202020204" pitchFamily="34" charset="0"/>
              <a:buChar char="•"/>
            </a:pPr>
            <a:endParaRPr lang="es-ES" i="1" dirty="0">
              <a:latin typeface="Arial" panose="020B0604020202020204" pitchFamily="34" charset="0"/>
              <a:cs typeface="Arial" panose="020B0604020202020204" pitchFamily="34" charset="0"/>
            </a:endParaRPr>
          </a:p>
          <a:p>
            <a:pPr marL="1200150" lvl="2" indent="-285750">
              <a:buFont typeface="Arial" panose="020B0604020202020204" pitchFamily="34" charset="0"/>
              <a:buChar char="•"/>
            </a:pPr>
            <a:r>
              <a:rPr lang="es-ES" i="1" dirty="0">
                <a:latin typeface="Arial" panose="020B0604020202020204" pitchFamily="34" charset="0"/>
                <a:cs typeface="Arial" panose="020B0604020202020204" pitchFamily="34" charset="0"/>
              </a:rPr>
              <a:t>B.-Evaluación de la conformidad mediante el protocolo técnico de fabricación (TCF, </a:t>
            </a:r>
            <a:r>
              <a:rPr lang="es-ES" i="1" dirty="0" err="1">
                <a:latin typeface="Arial" panose="020B0604020202020204" pitchFamily="34" charset="0"/>
                <a:cs typeface="Arial" panose="020B0604020202020204" pitchFamily="34" charset="0"/>
              </a:rPr>
              <a:t>Technical</a:t>
            </a:r>
            <a:r>
              <a:rPr lang="es-ES" i="1" dirty="0">
                <a:latin typeface="Arial" panose="020B0604020202020204" pitchFamily="34" charset="0"/>
                <a:cs typeface="Arial" panose="020B0604020202020204" pitchFamily="34" charset="0"/>
              </a:rPr>
              <a:t> </a:t>
            </a:r>
            <a:r>
              <a:rPr lang="es-ES" i="1" dirty="0" err="1">
                <a:latin typeface="Arial" panose="020B0604020202020204" pitchFamily="34" charset="0"/>
                <a:cs typeface="Arial" panose="020B0604020202020204" pitchFamily="34" charset="0"/>
              </a:rPr>
              <a:t>Construction</a:t>
            </a:r>
            <a:r>
              <a:rPr lang="es-ES" i="1" dirty="0">
                <a:latin typeface="Arial" panose="020B0604020202020204" pitchFamily="34" charset="0"/>
                <a:cs typeface="Arial" panose="020B0604020202020204" pitchFamily="34" charset="0"/>
              </a:rPr>
              <a:t> File</a:t>
            </a:r>
            <a:r>
              <a:rPr lang="es-E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679902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1403648" y="-33159"/>
            <a:ext cx="6545382"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La validación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08520" y="6309320"/>
            <a:ext cx="660601"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28</a:t>
            </a:fld>
            <a:endParaRPr lang="en-US" sz="1600" dirty="0">
              <a:solidFill>
                <a:schemeClr val="bg1"/>
              </a:solidFill>
              <a:latin typeface="Arial" panose="020B0604020202020204" pitchFamily="34" charset="0"/>
              <a:cs typeface="Arial" panose="020B0604020202020204" pitchFamily="34" charset="0"/>
            </a:endParaRPr>
          </a:p>
        </p:txBody>
      </p:sp>
      <p:sp>
        <p:nvSpPr>
          <p:cNvPr id="13" name="12 CuadroTexto"/>
          <p:cNvSpPr txBox="1"/>
          <p:nvPr/>
        </p:nvSpPr>
        <p:spPr>
          <a:xfrm>
            <a:off x="3533978" y="673532"/>
            <a:ext cx="2262158"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Marcado CE</a:t>
            </a:r>
          </a:p>
        </p:txBody>
      </p:sp>
      <p:sp>
        <p:nvSpPr>
          <p:cNvPr id="8" name="CuadroTexto 1"/>
          <p:cNvSpPr txBox="1"/>
          <p:nvPr/>
        </p:nvSpPr>
        <p:spPr>
          <a:xfrm>
            <a:off x="795579" y="1556792"/>
            <a:ext cx="8136904" cy="1292662"/>
          </a:xfrm>
          <a:prstGeom prst="rect">
            <a:avLst/>
          </a:prstGeom>
          <a:noFill/>
        </p:spPr>
        <p:txBody>
          <a:bodyPr wrap="square" rtlCol="0">
            <a:spAutoFit/>
          </a:bodyPr>
          <a:lstStyle/>
          <a:p>
            <a:r>
              <a:rPr lang="es-ES" b="1" i="1" u="sng" dirty="0">
                <a:solidFill>
                  <a:srgbClr val="953735"/>
                </a:solidFill>
                <a:latin typeface="Arial" panose="020B0604020202020204" pitchFamily="34" charset="0"/>
                <a:cs typeface="Arial" panose="020B0604020202020204" pitchFamily="34" charset="0"/>
              </a:rPr>
              <a:t>A.- Evaluación de conformidad de acuerdo a normas (</a:t>
            </a:r>
            <a:r>
              <a:rPr lang="es-ES" b="1" i="1" u="sng" dirty="0" err="1">
                <a:solidFill>
                  <a:srgbClr val="953735"/>
                </a:solidFill>
                <a:latin typeface="Arial" panose="020B0604020202020204" pitchFamily="34" charset="0"/>
                <a:cs typeface="Arial" panose="020B0604020202020204" pitchFamily="34" charset="0"/>
              </a:rPr>
              <a:t>autocertificación</a:t>
            </a:r>
            <a:r>
              <a:rPr lang="es-ES" b="1" i="1" u="sng" dirty="0">
                <a:solidFill>
                  <a:srgbClr val="953735"/>
                </a:solidFill>
                <a:latin typeface="Arial" panose="020B0604020202020204" pitchFamily="34" charset="0"/>
                <a:cs typeface="Arial" panose="020B0604020202020204" pitchFamily="34" charset="0"/>
              </a:rPr>
              <a:t>)</a:t>
            </a:r>
          </a:p>
          <a:p>
            <a:endParaRPr lang="es-ES" dirty="0">
              <a:solidFill>
                <a:srgbClr val="953735"/>
              </a:solidFill>
              <a:latin typeface="Arial" panose="020B0604020202020204" pitchFamily="34" charset="0"/>
              <a:cs typeface="Arial" panose="020B0604020202020204" pitchFamily="34" charset="0"/>
            </a:endParaRPr>
          </a:p>
          <a:p>
            <a:pPr algn="just"/>
            <a:r>
              <a:rPr lang="es-ES" sz="1400" dirty="0">
                <a:latin typeface="Arial" panose="020B0604020202020204" pitchFamily="34" charset="0"/>
                <a:cs typeface="Arial" panose="020B0604020202020204" pitchFamily="34" charset="0"/>
              </a:rPr>
              <a:t>La </a:t>
            </a:r>
            <a:r>
              <a:rPr lang="es-ES" sz="1400" dirty="0" err="1">
                <a:latin typeface="Arial" panose="020B0604020202020204" pitchFamily="34" charset="0"/>
                <a:cs typeface="Arial" panose="020B0604020202020204" pitchFamily="34" charset="0"/>
              </a:rPr>
              <a:t>autocertificación</a:t>
            </a:r>
            <a:r>
              <a:rPr lang="es-ES" sz="1400" dirty="0">
                <a:latin typeface="Arial" panose="020B0604020202020204" pitchFamily="34" charset="0"/>
                <a:cs typeface="Arial" panose="020B0604020202020204" pitchFamily="34" charset="0"/>
              </a:rPr>
              <a:t> es la ruta que generalmente es empleada por los fabricantes para asegurar el cumplimiento de la normativa de sus fabricados y </a:t>
            </a:r>
            <a:r>
              <a:rPr lang="es-ES" sz="1400" b="1" i="1" dirty="0">
                <a:latin typeface="Arial" panose="020B0604020202020204" pitchFamily="34" charset="0"/>
                <a:cs typeface="Arial" panose="020B0604020202020204" pitchFamily="34" charset="0"/>
              </a:rPr>
              <a:t>es aplicable cuando existen estándares armonizados</a:t>
            </a:r>
            <a:r>
              <a:rPr lang="es-ES" sz="1400" dirty="0">
                <a:latin typeface="Arial" panose="020B0604020202020204" pitchFamily="34" charset="0"/>
                <a:cs typeface="Arial" panose="020B0604020202020204" pitchFamily="34" charset="0"/>
              </a:rPr>
              <a:t> publicados por CENELEC o ETSI con referencia al producto que se desee certificar.</a:t>
            </a:r>
          </a:p>
        </p:txBody>
      </p:sp>
      <p:sp>
        <p:nvSpPr>
          <p:cNvPr id="9" name="CuadroTexto 1"/>
          <p:cNvSpPr txBox="1"/>
          <p:nvPr/>
        </p:nvSpPr>
        <p:spPr>
          <a:xfrm>
            <a:off x="800944" y="3389621"/>
            <a:ext cx="8163544" cy="3354765"/>
          </a:xfrm>
          <a:prstGeom prst="rect">
            <a:avLst/>
          </a:prstGeom>
          <a:noFill/>
        </p:spPr>
        <p:txBody>
          <a:bodyPr wrap="square" rtlCol="0">
            <a:spAutoFit/>
          </a:bodyPr>
          <a:lstStyle/>
          <a:p>
            <a:r>
              <a:rPr lang="es-ES" b="1" i="1" u="sng" dirty="0">
                <a:solidFill>
                  <a:srgbClr val="953735"/>
                </a:solidFill>
                <a:latin typeface="Arial" panose="020B0604020202020204" pitchFamily="34" charset="0"/>
                <a:cs typeface="Arial" panose="020B0604020202020204" pitchFamily="34" charset="0"/>
              </a:rPr>
              <a:t>B.- Evaluación de la conformidad mediante el expediente técnico de fabricación (TCF, </a:t>
            </a:r>
            <a:r>
              <a:rPr lang="es-ES" b="1" i="1" u="sng" dirty="0" err="1">
                <a:solidFill>
                  <a:srgbClr val="953735"/>
                </a:solidFill>
                <a:latin typeface="Arial" panose="020B0604020202020204" pitchFamily="34" charset="0"/>
                <a:cs typeface="Arial" panose="020B0604020202020204" pitchFamily="34" charset="0"/>
              </a:rPr>
              <a:t>Technical</a:t>
            </a:r>
            <a:r>
              <a:rPr lang="es-ES" b="1" i="1" u="sng" dirty="0">
                <a:solidFill>
                  <a:srgbClr val="953735"/>
                </a:solidFill>
                <a:latin typeface="Arial" panose="020B0604020202020204" pitchFamily="34" charset="0"/>
                <a:cs typeface="Arial" panose="020B0604020202020204" pitchFamily="34" charset="0"/>
              </a:rPr>
              <a:t> </a:t>
            </a:r>
            <a:r>
              <a:rPr lang="es-ES" b="1" i="1" u="sng" dirty="0" err="1">
                <a:solidFill>
                  <a:srgbClr val="953735"/>
                </a:solidFill>
                <a:latin typeface="Arial" panose="020B0604020202020204" pitchFamily="34" charset="0"/>
                <a:cs typeface="Arial" panose="020B0604020202020204" pitchFamily="34" charset="0"/>
              </a:rPr>
              <a:t>Construction</a:t>
            </a:r>
            <a:r>
              <a:rPr lang="es-ES" b="1" i="1" u="sng" dirty="0">
                <a:solidFill>
                  <a:srgbClr val="953735"/>
                </a:solidFill>
                <a:latin typeface="Arial" panose="020B0604020202020204" pitchFamily="34" charset="0"/>
                <a:cs typeface="Arial" panose="020B0604020202020204" pitchFamily="34" charset="0"/>
              </a:rPr>
              <a:t> File)</a:t>
            </a:r>
          </a:p>
          <a:p>
            <a:endParaRPr lang="es-ES" b="1" i="1" u="sng" dirty="0">
              <a:solidFill>
                <a:srgbClr val="953735"/>
              </a:solidFill>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Este método se suele utilizar cuando se den alguno de los supuestos siguientes:</a:t>
            </a:r>
          </a:p>
          <a:p>
            <a:pPr marL="742950" lvl="1" indent="-285750" algn="just">
              <a:buClr>
                <a:srgbClr val="007700"/>
              </a:buClr>
              <a:buFont typeface="Wingdings" charset="2"/>
              <a:buChar char=""/>
            </a:pPr>
            <a:r>
              <a:rPr lang="es-ES" sz="1400" dirty="0">
                <a:latin typeface="Arial" panose="020B0604020202020204" pitchFamily="34" charset="0"/>
                <a:cs typeface="Arial" panose="020B0604020202020204" pitchFamily="34" charset="0"/>
              </a:rPr>
              <a:t>Cuando los </a:t>
            </a:r>
            <a:r>
              <a:rPr lang="es-ES" sz="1400" b="1" dirty="0">
                <a:latin typeface="Arial" panose="020B0604020202020204" pitchFamily="34" charset="0"/>
                <a:cs typeface="Arial" panose="020B0604020202020204" pitchFamily="34" charset="0"/>
              </a:rPr>
              <a:t>estándares existentes no se puedan aplicar </a:t>
            </a:r>
            <a:r>
              <a:rPr lang="es-ES" sz="1400" dirty="0">
                <a:latin typeface="Arial" panose="020B0604020202020204" pitchFamily="34" charset="0"/>
                <a:cs typeface="Arial" panose="020B0604020202020204" pitchFamily="34" charset="0"/>
              </a:rPr>
              <a:t>a causa de la naturaleza del aparato o porque incorpora tecnología avanzada que está más allá del la amplitud de la norma.</a:t>
            </a:r>
          </a:p>
          <a:p>
            <a:pPr marL="742950" lvl="1" indent="-285750" algn="just">
              <a:buClr>
                <a:srgbClr val="007700"/>
              </a:buClr>
              <a:buFont typeface="Wingdings" charset="2"/>
              <a:buChar char=""/>
            </a:pPr>
            <a:r>
              <a:rPr lang="es-ES" sz="1400" dirty="0">
                <a:latin typeface="Arial" panose="020B0604020202020204" pitchFamily="34" charset="0"/>
                <a:cs typeface="Arial" panose="020B0604020202020204" pitchFamily="34" charset="0"/>
              </a:rPr>
              <a:t>Cuando la </a:t>
            </a:r>
            <a:r>
              <a:rPr lang="es-ES" sz="1400" b="1" dirty="0">
                <a:latin typeface="Arial" panose="020B0604020202020204" pitchFamily="34" charset="0"/>
                <a:cs typeface="Arial" panose="020B0604020202020204" pitchFamily="34" charset="0"/>
              </a:rPr>
              <a:t>comprobación no sea posible </a:t>
            </a:r>
            <a:r>
              <a:rPr lang="es-ES" sz="1400" dirty="0">
                <a:latin typeface="Arial" panose="020B0604020202020204" pitchFamily="34" charset="0"/>
                <a:cs typeface="Arial" panose="020B0604020202020204" pitchFamily="34" charset="0"/>
              </a:rPr>
              <a:t>debido al tamaño o alcance del aparato.</a:t>
            </a:r>
          </a:p>
          <a:p>
            <a:r>
              <a:rPr lang="es-ES" sz="1400" dirty="0">
                <a:latin typeface="Arial" panose="020B0604020202020204" pitchFamily="34" charset="0"/>
                <a:cs typeface="Arial" panose="020B0604020202020204" pitchFamily="34" charset="0"/>
              </a:rPr>
              <a:t>Para certificar un aparato de acuerdo con el expediente técnico de fabricación, el fabricante debe confeccionar los documentos siguientes:</a:t>
            </a:r>
          </a:p>
          <a:p>
            <a:pPr marL="742950" lvl="1" indent="-285750">
              <a:buClr>
                <a:srgbClr val="008000"/>
              </a:buClr>
              <a:buFont typeface="Wingdings" charset="2"/>
              <a:buChar char=""/>
            </a:pPr>
            <a:r>
              <a:rPr lang="es-ES" sz="1400" b="1" i="1" dirty="0">
                <a:latin typeface="Arial" panose="020B0604020202020204" pitchFamily="34" charset="0"/>
                <a:cs typeface="Arial" panose="020B0604020202020204" pitchFamily="34" charset="0"/>
              </a:rPr>
              <a:t>Expediente técnico de fabricación</a:t>
            </a:r>
          </a:p>
          <a:p>
            <a:pPr marL="742950" lvl="1" indent="-285750">
              <a:buClr>
                <a:srgbClr val="008000"/>
              </a:buClr>
              <a:buFont typeface="Wingdings" charset="2"/>
              <a:buChar char=""/>
            </a:pPr>
            <a:r>
              <a:rPr lang="es-ES" sz="1400" b="1" i="1" dirty="0">
                <a:latin typeface="Arial" panose="020B0604020202020204" pitchFamily="34" charset="0"/>
                <a:cs typeface="Arial" panose="020B0604020202020204" pitchFamily="34" charset="0"/>
              </a:rPr>
              <a:t>Informe o certificado técnico</a:t>
            </a:r>
          </a:p>
          <a:p>
            <a:endParaRPr lang="es-ES" sz="1600" dirty="0">
              <a:latin typeface="Arial" panose="020B0604020202020204" pitchFamily="34" charset="0"/>
              <a:cs typeface="Arial" panose="020B0604020202020204" pitchFamily="34" charset="0"/>
            </a:endParaRPr>
          </a:p>
          <a:p>
            <a:endParaRPr lang="es-E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3808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3705168" y="-33159"/>
            <a:ext cx="1518364"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Índice</a:t>
            </a:r>
          </a:p>
        </p:txBody>
      </p:sp>
      <p:sp>
        <p:nvSpPr>
          <p:cNvPr id="4" name="3 CuadroTexto"/>
          <p:cNvSpPr txBox="1"/>
          <p:nvPr/>
        </p:nvSpPr>
        <p:spPr>
          <a:xfrm>
            <a:off x="954023" y="1052736"/>
            <a:ext cx="3553152"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Tema 3. 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5 Rectángulo"/>
          <p:cNvSpPr/>
          <p:nvPr/>
        </p:nvSpPr>
        <p:spPr>
          <a:xfrm>
            <a:off x="1259632" y="1916832"/>
            <a:ext cx="7992888" cy="1723549"/>
          </a:xfrm>
          <a:prstGeom prst="rect">
            <a:avLst/>
          </a:prstGeom>
        </p:spPr>
        <p:txBody>
          <a:bodyPr wrap="square">
            <a:spAutoFit/>
          </a:bodyPr>
          <a:lstStyle/>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3.1. La ejecución de proyectos industriales</a:t>
            </a:r>
          </a:p>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3.2. La validación de proyectos industriales</a:t>
            </a:r>
          </a:p>
          <a:p>
            <a:pPr lvl="0">
              <a:spcBef>
                <a:spcPts val="400"/>
              </a:spcBef>
            </a:pPr>
            <a:r>
              <a:rPr lang="es-ES" sz="2400" dirty="0">
                <a:latin typeface="Arial" panose="020B0604020202020204" pitchFamily="34" charset="0"/>
                <a:cs typeface="Arial" panose="020B0604020202020204" pitchFamily="34" charset="0"/>
              </a:rPr>
              <a:t>3.3. El control de proyectos</a:t>
            </a:r>
          </a:p>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3.4. El cierre del proyecto</a:t>
            </a:r>
          </a:p>
        </p:txBody>
      </p:sp>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29</a:t>
            </a:fld>
            <a:endParaRPr lang="en-US"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9037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354069" y="-33159"/>
            <a:ext cx="5314275"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control de proyectos</a:t>
            </a:r>
          </a:p>
        </p:txBody>
      </p:sp>
      <p:sp>
        <p:nvSpPr>
          <p:cNvPr id="4" name="3 CuadroTexto"/>
          <p:cNvSpPr txBox="1"/>
          <p:nvPr/>
        </p:nvSpPr>
        <p:spPr>
          <a:xfrm>
            <a:off x="1845312" y="791126"/>
            <a:ext cx="5416868"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El seguimiento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30</a:t>
            </a:fld>
            <a:endParaRPr lang="en-US" sz="1600" dirty="0">
              <a:solidFill>
                <a:schemeClr val="bg1"/>
              </a:solidFill>
              <a:latin typeface="Arial" panose="020B0604020202020204" pitchFamily="34" charset="0"/>
              <a:cs typeface="Arial" panose="020B0604020202020204" pitchFamily="34" charset="0"/>
            </a:endParaRPr>
          </a:p>
        </p:txBody>
      </p:sp>
      <p:sp>
        <p:nvSpPr>
          <p:cNvPr id="8" name="CuadroTexto 21"/>
          <p:cNvSpPr txBox="1"/>
          <p:nvPr/>
        </p:nvSpPr>
        <p:spPr>
          <a:xfrm>
            <a:off x="611560" y="1456898"/>
            <a:ext cx="8064896" cy="1754326"/>
          </a:xfrm>
          <a:prstGeom prst="rect">
            <a:avLst/>
          </a:prstGeom>
          <a:noFill/>
        </p:spPr>
        <p:txBody>
          <a:bodyPr wrap="square" rtlCol="0">
            <a:spAutoFit/>
          </a:bodyPr>
          <a:lstStyle/>
          <a:p>
            <a:pPr algn="just"/>
            <a:endParaRPr lang="es-E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ES" b="1" dirty="0">
                <a:latin typeface="Arial" panose="020B0604020202020204" pitchFamily="34" charset="0"/>
                <a:cs typeface="Arial" panose="020B0604020202020204" pitchFamily="34" charset="0"/>
              </a:rPr>
              <a:t>Cumplimiento de especificaciones técnicas</a:t>
            </a:r>
          </a:p>
          <a:p>
            <a:pPr algn="just"/>
            <a:endParaRPr lang="es-ES"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ES" b="1" dirty="0">
                <a:latin typeface="Arial" panose="020B0604020202020204" pitchFamily="34" charset="0"/>
                <a:cs typeface="Arial" panose="020B0604020202020204" pitchFamily="34" charset="0"/>
              </a:rPr>
              <a:t>Cumplimiento de plazos</a:t>
            </a:r>
          </a:p>
          <a:p>
            <a:pPr algn="just"/>
            <a:endParaRPr lang="es-ES"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ES" b="1" dirty="0">
                <a:latin typeface="Arial" panose="020B0604020202020204" pitchFamily="34" charset="0"/>
                <a:cs typeface="Arial" panose="020B0604020202020204" pitchFamily="34" charset="0"/>
              </a:rPr>
              <a:t>Cumplimiento de costes</a:t>
            </a:r>
          </a:p>
        </p:txBody>
      </p:sp>
      <p:sp>
        <p:nvSpPr>
          <p:cNvPr id="5" name="4 Flecha derecha"/>
          <p:cNvSpPr/>
          <p:nvPr/>
        </p:nvSpPr>
        <p:spPr>
          <a:xfrm rot="5400000">
            <a:off x="2344604" y="4110327"/>
            <a:ext cx="1645109" cy="304610"/>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CuadroTexto 21"/>
          <p:cNvSpPr txBox="1"/>
          <p:nvPr/>
        </p:nvSpPr>
        <p:spPr>
          <a:xfrm>
            <a:off x="1231506" y="5229200"/>
            <a:ext cx="6705498" cy="1231106"/>
          </a:xfrm>
          <a:prstGeom prst="rect">
            <a:avLst/>
          </a:prstGeom>
          <a:solidFill>
            <a:schemeClr val="bg1">
              <a:lumMod val="95000"/>
            </a:schemeClr>
          </a:solidFill>
        </p:spPr>
        <p:txBody>
          <a:bodyPr wrap="square" rtlCol="0">
            <a:spAutoFit/>
          </a:bodyPr>
          <a:lstStyle/>
          <a:p>
            <a:pPr algn="just"/>
            <a:r>
              <a:rPr lang="es-ES" sz="2000" b="1" dirty="0">
                <a:solidFill>
                  <a:srgbClr val="C00000"/>
                </a:solidFill>
                <a:latin typeface="Arial" panose="020B0604020202020204" pitchFamily="34" charset="0"/>
                <a:cs typeface="Arial" panose="020B0604020202020204" pitchFamily="34" charset="0"/>
              </a:rPr>
              <a:t>Informes:</a:t>
            </a:r>
          </a:p>
          <a:p>
            <a:pPr algn="just"/>
            <a:r>
              <a:rPr lang="es-ES" b="1" dirty="0">
                <a:latin typeface="Arial" panose="020B0604020202020204" pitchFamily="34" charset="0"/>
                <a:cs typeface="Arial" panose="020B0604020202020204" pitchFamily="34" charset="0"/>
              </a:rPr>
              <a:t>- </a:t>
            </a:r>
            <a:r>
              <a:rPr lang="es-ES" b="1" dirty="0" err="1">
                <a:latin typeface="Arial" panose="020B0604020202020204" pitchFamily="34" charset="0"/>
                <a:cs typeface="Arial" panose="020B0604020202020204" pitchFamily="34" charset="0"/>
              </a:rPr>
              <a:t>Milestones</a:t>
            </a:r>
            <a:r>
              <a:rPr lang="es-ES" b="1"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 objetivo alcanzado en una fecha determinada </a:t>
            </a:r>
            <a:endParaRPr lang="es-ES" b="1" dirty="0">
              <a:latin typeface="Arial" panose="020B0604020202020204" pitchFamily="34" charset="0"/>
              <a:cs typeface="Arial" panose="020B0604020202020204" pitchFamily="34" charset="0"/>
            </a:endParaRPr>
          </a:p>
          <a:p>
            <a:pPr algn="just"/>
            <a:endParaRPr lang="es-ES" b="1"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 </a:t>
            </a:r>
            <a:r>
              <a:rPr lang="es-ES" b="1" dirty="0" err="1">
                <a:latin typeface="Arial" panose="020B0604020202020204" pitchFamily="34" charset="0"/>
                <a:cs typeface="Arial" panose="020B0604020202020204" pitchFamily="34" charset="0"/>
              </a:rPr>
              <a:t>Deliverables</a:t>
            </a:r>
            <a:r>
              <a:rPr lang="es-ES" b="1"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situación en una fecha determinada </a:t>
            </a:r>
          </a:p>
        </p:txBody>
      </p:sp>
      <p:grpSp>
        <p:nvGrpSpPr>
          <p:cNvPr id="41" name="Agrupar 8"/>
          <p:cNvGrpSpPr/>
          <p:nvPr/>
        </p:nvGrpSpPr>
        <p:grpSpPr>
          <a:xfrm>
            <a:off x="3707904" y="2162619"/>
            <a:ext cx="5375275" cy="2400300"/>
            <a:chOff x="279400" y="4125913"/>
            <a:chExt cx="5375275" cy="2400300"/>
          </a:xfrm>
        </p:grpSpPr>
        <p:grpSp>
          <p:nvGrpSpPr>
            <p:cNvPr id="42" name="Group 1"/>
            <p:cNvGrpSpPr>
              <a:grpSpLocks/>
            </p:cNvGrpSpPr>
            <p:nvPr/>
          </p:nvGrpSpPr>
          <p:grpSpPr bwMode="auto">
            <a:xfrm>
              <a:off x="279400" y="4125913"/>
              <a:ext cx="5375275" cy="2400300"/>
              <a:chOff x="2421" y="1617"/>
              <a:chExt cx="8465" cy="3780"/>
            </a:xfrm>
          </p:grpSpPr>
          <p:sp>
            <p:nvSpPr>
              <p:cNvPr id="46" name="Line 2"/>
              <p:cNvSpPr>
                <a:spLocks noChangeShapeType="1"/>
              </p:cNvSpPr>
              <p:nvPr/>
            </p:nvSpPr>
            <p:spPr bwMode="auto">
              <a:xfrm flipV="1">
                <a:off x="2421" y="2157"/>
                <a:ext cx="0" cy="32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7" name="Line 3"/>
              <p:cNvSpPr>
                <a:spLocks noChangeShapeType="1"/>
              </p:cNvSpPr>
              <p:nvPr/>
            </p:nvSpPr>
            <p:spPr bwMode="auto">
              <a:xfrm>
                <a:off x="2421" y="5397"/>
                <a:ext cx="57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8" name="Line 4"/>
              <p:cNvSpPr>
                <a:spLocks noChangeShapeType="1"/>
              </p:cNvSpPr>
              <p:nvPr/>
            </p:nvSpPr>
            <p:spPr bwMode="auto">
              <a:xfrm flipV="1">
                <a:off x="2421" y="5037"/>
                <a:ext cx="900" cy="360"/>
              </a:xfrm>
              <a:prstGeom prst="line">
                <a:avLst/>
              </a:prstGeom>
              <a:noFill/>
              <a:ln w="38100" cmpd="sng">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9" name="Line 5"/>
              <p:cNvSpPr>
                <a:spLocks noChangeShapeType="1"/>
              </p:cNvSpPr>
              <p:nvPr/>
            </p:nvSpPr>
            <p:spPr bwMode="auto">
              <a:xfrm flipV="1">
                <a:off x="3321" y="4857"/>
                <a:ext cx="1080" cy="180"/>
              </a:xfrm>
              <a:prstGeom prst="line">
                <a:avLst/>
              </a:prstGeom>
              <a:noFill/>
              <a:ln w="38100" cmpd="sng">
                <a:solidFill>
                  <a:srgbClr val="0000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0" name="Line 6"/>
              <p:cNvSpPr>
                <a:spLocks noChangeShapeType="1"/>
              </p:cNvSpPr>
              <p:nvPr/>
            </p:nvSpPr>
            <p:spPr bwMode="auto">
              <a:xfrm flipV="1">
                <a:off x="4401" y="4317"/>
                <a:ext cx="720" cy="540"/>
              </a:xfrm>
              <a:prstGeom prst="line">
                <a:avLst/>
              </a:prstGeom>
              <a:noFill/>
              <a:ln w="38100" cmpd="sng">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1" name="Line 7"/>
              <p:cNvSpPr>
                <a:spLocks noChangeShapeType="1"/>
              </p:cNvSpPr>
              <p:nvPr/>
            </p:nvSpPr>
            <p:spPr bwMode="auto">
              <a:xfrm flipV="1">
                <a:off x="5121" y="3957"/>
                <a:ext cx="900" cy="360"/>
              </a:xfrm>
              <a:prstGeom prst="line">
                <a:avLst/>
              </a:prstGeom>
              <a:noFill/>
              <a:ln w="38100" cmpd="sng">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2" name="Line 8"/>
              <p:cNvSpPr>
                <a:spLocks noChangeShapeType="1"/>
              </p:cNvSpPr>
              <p:nvPr/>
            </p:nvSpPr>
            <p:spPr bwMode="auto">
              <a:xfrm flipV="1">
                <a:off x="6021" y="3237"/>
                <a:ext cx="540" cy="720"/>
              </a:xfrm>
              <a:prstGeom prst="line">
                <a:avLst/>
              </a:prstGeom>
              <a:noFill/>
              <a:ln w="9525" cmpd="sng">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3" name="Line 9"/>
              <p:cNvSpPr>
                <a:spLocks noChangeShapeType="1"/>
              </p:cNvSpPr>
              <p:nvPr/>
            </p:nvSpPr>
            <p:spPr bwMode="auto">
              <a:xfrm flipV="1">
                <a:off x="6561" y="2877"/>
                <a:ext cx="1080" cy="360"/>
              </a:xfrm>
              <a:prstGeom prst="line">
                <a:avLst/>
              </a:prstGeom>
              <a:noFill/>
              <a:ln w="9525" cmpd="sng">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4" name="Line 10"/>
              <p:cNvSpPr>
                <a:spLocks noChangeShapeType="1"/>
              </p:cNvSpPr>
              <p:nvPr/>
            </p:nvSpPr>
            <p:spPr bwMode="auto">
              <a:xfrm flipV="1">
                <a:off x="2421" y="4677"/>
                <a:ext cx="720" cy="720"/>
              </a:xfrm>
              <a:prstGeom prst="line">
                <a:avLst/>
              </a:prstGeom>
              <a:noFill/>
              <a:ln w="28575">
                <a:solidFill>
                  <a:srgbClr val="953735"/>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5" name="Line 11"/>
              <p:cNvSpPr>
                <a:spLocks noChangeShapeType="1"/>
              </p:cNvSpPr>
              <p:nvPr/>
            </p:nvSpPr>
            <p:spPr bwMode="auto">
              <a:xfrm flipV="1">
                <a:off x="3141" y="4317"/>
                <a:ext cx="1080" cy="360"/>
              </a:xfrm>
              <a:prstGeom prst="line">
                <a:avLst/>
              </a:prstGeom>
              <a:noFill/>
              <a:ln w="28575">
                <a:solidFill>
                  <a:schemeClr val="accent2">
                    <a:lumMod val="75000"/>
                  </a:schemeClr>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6" name="Line 12"/>
              <p:cNvSpPr>
                <a:spLocks noChangeShapeType="1"/>
              </p:cNvSpPr>
              <p:nvPr/>
            </p:nvSpPr>
            <p:spPr bwMode="auto">
              <a:xfrm flipV="1">
                <a:off x="4221" y="4137"/>
                <a:ext cx="720" cy="180"/>
              </a:xfrm>
              <a:prstGeom prst="line">
                <a:avLst/>
              </a:prstGeom>
              <a:noFill/>
              <a:ln w="28575">
                <a:solidFill>
                  <a:srgbClr val="953735"/>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7" name="Line 13"/>
              <p:cNvSpPr>
                <a:spLocks noChangeShapeType="1"/>
              </p:cNvSpPr>
              <p:nvPr/>
            </p:nvSpPr>
            <p:spPr bwMode="auto">
              <a:xfrm flipV="1">
                <a:off x="4941" y="3459"/>
                <a:ext cx="1040" cy="678"/>
              </a:xfrm>
              <a:prstGeom prst="line">
                <a:avLst/>
              </a:prstGeom>
              <a:noFill/>
              <a:ln w="28575">
                <a:solidFill>
                  <a:srgbClr val="953735"/>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8" name="Line 15"/>
              <p:cNvSpPr>
                <a:spLocks noChangeShapeType="1"/>
              </p:cNvSpPr>
              <p:nvPr/>
            </p:nvSpPr>
            <p:spPr bwMode="auto">
              <a:xfrm flipV="1">
                <a:off x="5966" y="2877"/>
                <a:ext cx="415" cy="587"/>
              </a:xfrm>
              <a:prstGeom prst="line">
                <a:avLst/>
              </a:prstGeom>
              <a:noFill/>
              <a:ln w="9525">
                <a:solidFill>
                  <a:schemeClr val="accent2">
                    <a:lumMod val="75000"/>
                  </a:schemeClr>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9" name="Line 16"/>
              <p:cNvSpPr>
                <a:spLocks noChangeShapeType="1"/>
              </p:cNvSpPr>
              <p:nvPr/>
            </p:nvSpPr>
            <p:spPr bwMode="auto">
              <a:xfrm flipV="1">
                <a:off x="6381" y="2517"/>
                <a:ext cx="1080" cy="360"/>
              </a:xfrm>
              <a:prstGeom prst="line">
                <a:avLst/>
              </a:prstGeom>
              <a:noFill/>
              <a:ln w="9525">
                <a:solidFill>
                  <a:srgbClr val="953735"/>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0" name="Text Box 17"/>
              <p:cNvSpPr txBox="1">
                <a:spLocks noChangeArrowheads="1"/>
              </p:cNvSpPr>
              <p:nvPr/>
            </p:nvSpPr>
            <p:spPr bwMode="auto">
              <a:xfrm>
                <a:off x="2741" y="2177"/>
                <a:ext cx="234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100" b="0" i="1" u="none" strike="noStrike" cap="none" normalizeH="0" baseline="0" dirty="0">
                    <a:ln>
                      <a:noFill/>
                    </a:ln>
                    <a:solidFill>
                      <a:schemeClr val="tx1"/>
                    </a:solidFill>
                    <a:effectLst/>
                    <a:latin typeface="Arial" charset="0"/>
                    <a:ea typeface="ÇlÇr ñæí©" charset="0"/>
                  </a:rPr>
                  <a:t>Gasto planificado y real</a:t>
                </a:r>
                <a:endParaRPr kumimoji="0" lang="es-ES" sz="2400" b="0" i="0" u="none" strike="noStrike" cap="none" normalizeH="0" baseline="0" dirty="0">
                  <a:ln>
                    <a:noFill/>
                  </a:ln>
                  <a:solidFill>
                    <a:schemeClr val="tx1"/>
                  </a:solidFill>
                  <a:effectLst/>
                  <a:latin typeface="Arial" charset="0"/>
                  <a:ea typeface="ＭＳ Ｐゴシック" charset="0"/>
                </a:endParaRPr>
              </a:p>
            </p:txBody>
          </p:sp>
          <p:sp>
            <p:nvSpPr>
              <p:cNvPr id="61" name="Text Box 18"/>
              <p:cNvSpPr txBox="1">
                <a:spLocks noChangeArrowheads="1"/>
              </p:cNvSpPr>
              <p:nvPr/>
            </p:nvSpPr>
            <p:spPr bwMode="auto">
              <a:xfrm>
                <a:off x="8221" y="4817"/>
                <a:ext cx="216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100" b="0" i="1" u="none" strike="noStrike" cap="none" normalizeH="0" baseline="0" dirty="0">
                    <a:ln>
                      <a:noFill/>
                    </a:ln>
                    <a:solidFill>
                      <a:schemeClr val="tx1"/>
                    </a:solidFill>
                    <a:effectLst/>
                    <a:latin typeface="Arial" charset="0"/>
                    <a:ea typeface="ÇlÇr ñæí©" charset="0"/>
                  </a:rPr>
                  <a:t>Escala temporal</a:t>
                </a:r>
                <a:endParaRPr kumimoji="0" lang="es-ES" sz="2400" b="0" i="0" u="none" strike="noStrike" cap="none" normalizeH="0" baseline="0" dirty="0">
                  <a:ln>
                    <a:noFill/>
                  </a:ln>
                  <a:solidFill>
                    <a:schemeClr val="tx1"/>
                  </a:solidFill>
                  <a:effectLst/>
                  <a:latin typeface="Arial" charset="0"/>
                  <a:ea typeface="ＭＳ Ｐゴシック" charset="0"/>
                </a:endParaRPr>
              </a:p>
            </p:txBody>
          </p:sp>
          <p:sp>
            <p:nvSpPr>
              <p:cNvPr id="62" name="Text Box 20"/>
              <p:cNvSpPr txBox="1">
                <a:spLocks noChangeArrowheads="1"/>
              </p:cNvSpPr>
              <p:nvPr/>
            </p:nvSpPr>
            <p:spPr bwMode="auto">
              <a:xfrm>
                <a:off x="8181" y="3597"/>
                <a:ext cx="1800" cy="540"/>
              </a:xfrm>
              <a:prstGeom prst="rect">
                <a:avLst/>
              </a:prstGeom>
              <a:solidFill>
                <a:srgbClr val="FFFFFF"/>
              </a:solidFill>
              <a:ln w="9525">
                <a:solidFill>
                  <a:srgbClr val="0000FF"/>
                </a:solidFill>
                <a:miter lim="800000"/>
                <a:headEnd/>
                <a:tailEnd/>
              </a:ln>
              <a:effectLst>
                <a:outerShdw blurRad="63500" dist="107763" dir="2700000" algn="ctr" rotWithShape="0">
                  <a:srgbClr val="000000">
                    <a:alpha val="74998"/>
                  </a:srgbClr>
                </a:outerShdw>
              </a:effectLst>
            </p:spPr>
            <p:txBody>
              <a:bodyPr vert="horz" wrap="square" lIns="91440" tIns="45720" rIns="91440" bIns="4572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100" b="0" i="1" u="none" strike="noStrike" cap="none" normalizeH="0" baseline="0" dirty="0">
                    <a:ln>
                      <a:noFill/>
                    </a:ln>
                    <a:solidFill>
                      <a:srgbClr val="0000FF"/>
                    </a:solidFill>
                    <a:effectLst/>
                    <a:latin typeface="Arial" charset="0"/>
                    <a:ea typeface="ÇlÇr ñæí©" charset="0"/>
                  </a:rPr>
                  <a:t>Planificado</a:t>
                </a:r>
                <a:endParaRPr kumimoji="0" lang="es-ES" sz="2400" b="0" i="0" u="none" strike="noStrike" cap="none" normalizeH="0" baseline="0" dirty="0">
                  <a:ln>
                    <a:noFill/>
                  </a:ln>
                  <a:solidFill>
                    <a:srgbClr val="0000FF"/>
                  </a:solidFill>
                  <a:effectLst/>
                  <a:latin typeface="Arial" charset="0"/>
                </a:endParaRPr>
              </a:p>
            </p:txBody>
          </p:sp>
          <p:sp>
            <p:nvSpPr>
              <p:cNvPr id="63" name="Text Box 21"/>
              <p:cNvSpPr txBox="1">
                <a:spLocks noChangeArrowheads="1"/>
              </p:cNvSpPr>
              <p:nvPr/>
            </p:nvSpPr>
            <p:spPr bwMode="auto">
              <a:xfrm>
                <a:off x="5841" y="1617"/>
                <a:ext cx="1440" cy="540"/>
              </a:xfrm>
              <a:prstGeom prst="rect">
                <a:avLst/>
              </a:prstGeom>
              <a:solidFill>
                <a:srgbClr val="FFFFFF"/>
              </a:solidFill>
              <a:ln w="9525">
                <a:solidFill>
                  <a:schemeClr val="accent2">
                    <a:lumMod val="75000"/>
                  </a:schemeClr>
                </a:solidFill>
                <a:miter lim="800000"/>
                <a:headEnd/>
                <a:tailEnd/>
              </a:ln>
              <a:effectLst>
                <a:outerShdw blurRad="63500" dist="107763" dir="2700000" algn="ctr" rotWithShape="0">
                  <a:srgbClr val="000000">
                    <a:alpha val="74998"/>
                  </a:srgbClr>
                </a:outerShdw>
              </a:effectLst>
            </p:spPr>
            <p:txBody>
              <a:bodyPr vert="horz" wrap="square" lIns="91440" tIns="45720" rIns="91440" bIns="4572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defTabSz="914400"/>
                <a:r>
                  <a:rPr kumimoji="0" lang="es-ES" sz="1100" b="0" i="1" u="none" strike="noStrike" cap="none" normalizeH="0" baseline="0" dirty="0">
                    <a:ln>
                      <a:noFill/>
                    </a:ln>
                    <a:solidFill>
                      <a:schemeClr val="accent2">
                        <a:lumMod val="75000"/>
                      </a:schemeClr>
                    </a:solidFill>
                    <a:effectLst/>
                    <a:latin typeface="Arial" charset="0"/>
                    <a:ea typeface="ＭＳ Ｐゴシック" charset="0"/>
                  </a:rPr>
                  <a:t>Ejecutado</a:t>
                </a:r>
              </a:p>
            </p:txBody>
          </p:sp>
          <p:sp>
            <p:nvSpPr>
              <p:cNvPr id="64" name="Line 22"/>
              <p:cNvSpPr>
                <a:spLocks noChangeShapeType="1"/>
              </p:cNvSpPr>
              <p:nvPr/>
            </p:nvSpPr>
            <p:spPr bwMode="auto">
              <a:xfrm flipH="1" flipV="1">
                <a:off x="6381" y="3597"/>
                <a:ext cx="180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5" name="Line 23"/>
              <p:cNvSpPr>
                <a:spLocks noChangeShapeType="1"/>
              </p:cNvSpPr>
              <p:nvPr/>
            </p:nvSpPr>
            <p:spPr bwMode="auto">
              <a:xfrm flipH="1">
                <a:off x="4761" y="2157"/>
                <a:ext cx="1800" cy="19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6" name="Text Box 24"/>
              <p:cNvSpPr txBox="1">
                <a:spLocks noChangeArrowheads="1"/>
              </p:cNvSpPr>
              <p:nvPr/>
            </p:nvSpPr>
            <p:spPr bwMode="auto">
              <a:xfrm>
                <a:off x="8001" y="1617"/>
                <a:ext cx="2340" cy="720"/>
              </a:xfrm>
              <a:prstGeom prst="rect">
                <a:avLst/>
              </a:prstGeom>
              <a:solidFill>
                <a:srgbClr val="FFFFFF"/>
              </a:solidFill>
              <a:ln w="9525">
                <a:solidFill>
                  <a:srgbClr val="953735"/>
                </a:solidFill>
                <a:miter lim="800000"/>
                <a:headEnd/>
                <a:tailEnd/>
              </a:ln>
              <a:effectLst>
                <a:outerShdw blurRad="63500" dist="107763" dir="2700000" algn="ctr" rotWithShape="0">
                  <a:srgbClr val="000000">
                    <a:alpha val="74998"/>
                  </a:srgbClr>
                </a:outerShdw>
              </a:effectLst>
            </p:spPr>
            <p:txBody>
              <a:bodyPr vert="horz" wrap="square" lIns="91440" tIns="45720" rIns="91440" bIns="4572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100" b="0" i="1" u="none" strike="noStrike" cap="none" normalizeH="0" baseline="0" dirty="0">
                    <a:ln>
                      <a:noFill/>
                    </a:ln>
                    <a:solidFill>
                      <a:srgbClr val="953735"/>
                    </a:solidFill>
                    <a:effectLst/>
                    <a:latin typeface="Arial" charset="0"/>
                    <a:ea typeface="ÇlÇr ñæí©" charset="0"/>
                  </a:rPr>
                  <a:t>Nueva previsión de coste del proyecto</a:t>
                </a:r>
                <a:endParaRPr kumimoji="0" lang="es-ES" sz="2400" b="0" i="0" u="none" strike="noStrike" cap="none" normalizeH="0" baseline="0" dirty="0">
                  <a:ln>
                    <a:noFill/>
                  </a:ln>
                  <a:solidFill>
                    <a:srgbClr val="953735"/>
                  </a:solidFill>
                  <a:effectLst/>
                  <a:latin typeface="Arial" charset="0"/>
                </a:endParaRPr>
              </a:p>
            </p:txBody>
          </p:sp>
          <p:sp>
            <p:nvSpPr>
              <p:cNvPr id="67" name="Line 25"/>
              <p:cNvSpPr>
                <a:spLocks noChangeShapeType="1"/>
              </p:cNvSpPr>
              <p:nvPr/>
            </p:nvSpPr>
            <p:spPr bwMode="auto">
              <a:xfrm flipH="1">
                <a:off x="7461" y="1977"/>
                <a:ext cx="54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8" name="Text Box 26"/>
              <p:cNvSpPr txBox="1">
                <a:spLocks noChangeArrowheads="1"/>
              </p:cNvSpPr>
              <p:nvPr/>
            </p:nvSpPr>
            <p:spPr bwMode="auto">
              <a:xfrm>
                <a:off x="8181" y="2697"/>
                <a:ext cx="2705" cy="720"/>
              </a:xfrm>
              <a:prstGeom prst="rect">
                <a:avLst/>
              </a:prstGeom>
              <a:solidFill>
                <a:srgbClr val="FFFFFF"/>
              </a:solidFill>
              <a:ln w="9525">
                <a:solidFill>
                  <a:srgbClr val="0000FF"/>
                </a:solidFill>
                <a:miter lim="800000"/>
                <a:headEnd/>
                <a:tailEnd/>
              </a:ln>
              <a:effectLst>
                <a:outerShdw blurRad="63500" dist="107763" dir="2700000" algn="ctr" rotWithShape="0">
                  <a:srgbClr val="000000">
                    <a:alpha val="74998"/>
                  </a:srgbClr>
                </a:outerShdw>
              </a:effectLst>
            </p:spPr>
            <p:txBody>
              <a:bodyPr vert="horz" wrap="square" lIns="91440" tIns="45720" rIns="91440" bIns="4572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100" b="0" i="1" u="none" strike="noStrike" cap="none" normalizeH="0" baseline="0" dirty="0">
                    <a:ln>
                      <a:noFill/>
                    </a:ln>
                    <a:solidFill>
                      <a:srgbClr val="0000FF"/>
                    </a:solidFill>
                    <a:effectLst/>
                    <a:latin typeface="Arial" charset="0"/>
                    <a:ea typeface="ÇlÇr ñæí©" charset="0"/>
                  </a:rPr>
                  <a:t>Previsión planificada de coste del proyecto</a:t>
                </a:r>
                <a:endParaRPr kumimoji="0" lang="es-ES" sz="2400" b="0" i="0" u="none" strike="noStrike" cap="none" normalizeH="0" baseline="0" dirty="0">
                  <a:ln>
                    <a:noFill/>
                  </a:ln>
                  <a:solidFill>
                    <a:srgbClr val="0000FF"/>
                  </a:solidFill>
                  <a:effectLst/>
                  <a:latin typeface="Arial" charset="0"/>
                </a:endParaRPr>
              </a:p>
            </p:txBody>
          </p:sp>
          <p:sp>
            <p:nvSpPr>
              <p:cNvPr id="69" name="Line 27"/>
              <p:cNvSpPr>
                <a:spLocks noChangeShapeType="1"/>
              </p:cNvSpPr>
              <p:nvPr/>
            </p:nvSpPr>
            <p:spPr bwMode="auto">
              <a:xfrm flipH="1" flipV="1">
                <a:off x="7641" y="2877"/>
                <a:ext cx="540" cy="1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grpSp>
        <p:sp>
          <p:nvSpPr>
            <p:cNvPr id="43" name="CuadroTexto 1"/>
            <p:cNvSpPr txBox="1"/>
            <p:nvPr/>
          </p:nvSpPr>
          <p:spPr>
            <a:xfrm>
              <a:off x="3019425" y="5962650"/>
              <a:ext cx="603250" cy="261610"/>
            </a:xfrm>
            <a:prstGeom prst="rect">
              <a:avLst/>
            </a:prstGeom>
            <a:noFill/>
          </p:spPr>
          <p:txBody>
            <a:bodyPr wrap="square" rtlCol="0">
              <a:spAutoFit/>
            </a:bodyPr>
            <a:lstStyle/>
            <a:p>
              <a:r>
                <a:rPr lang="es-ES" sz="1100" i="1" dirty="0">
                  <a:latin typeface="Arial"/>
                  <a:cs typeface="Arial"/>
                </a:rPr>
                <a:t>Hoy</a:t>
              </a:r>
            </a:p>
          </p:txBody>
        </p:sp>
        <p:cxnSp>
          <p:nvCxnSpPr>
            <p:cNvPr id="44" name="Conector recto 4"/>
            <p:cNvCxnSpPr/>
            <p:nvPr/>
          </p:nvCxnSpPr>
          <p:spPr>
            <a:xfrm flipH="1">
              <a:off x="2571750" y="4683125"/>
              <a:ext cx="31750" cy="180975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Conector recto de flecha 7"/>
            <p:cNvCxnSpPr/>
            <p:nvPr/>
          </p:nvCxnSpPr>
          <p:spPr>
            <a:xfrm flipH="1">
              <a:off x="2600325" y="6093455"/>
              <a:ext cx="355600" cy="39942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4437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354069" y="-33159"/>
            <a:ext cx="5314275"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control de proyectos</a:t>
            </a:r>
          </a:p>
        </p:txBody>
      </p:sp>
      <p:sp>
        <p:nvSpPr>
          <p:cNvPr id="4" name="3 CuadroTexto"/>
          <p:cNvSpPr txBox="1"/>
          <p:nvPr/>
        </p:nvSpPr>
        <p:spPr>
          <a:xfrm>
            <a:off x="1579108" y="723999"/>
            <a:ext cx="7293984"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Método de control del valor añadido (</a:t>
            </a:r>
            <a:r>
              <a:rPr lang="es-ES" sz="2800" b="1" u="sng" dirty="0" err="1">
                <a:solidFill>
                  <a:schemeClr val="accent3">
                    <a:lumMod val="50000"/>
                  </a:schemeClr>
                </a:solidFill>
                <a:latin typeface="Arial" panose="020B0604020202020204" pitchFamily="34" charset="0"/>
                <a:cs typeface="Arial" panose="020B0604020202020204" pitchFamily="34" charset="0"/>
              </a:rPr>
              <a:t>AEI</a:t>
            </a:r>
            <a:r>
              <a:rPr lang="es-ES" sz="2800" b="1" u="sng" dirty="0">
                <a:solidFill>
                  <a:schemeClr val="accent3">
                    <a:lumMod val="50000"/>
                  </a:schemeClr>
                </a:solidFill>
                <a:latin typeface="Arial" panose="020B0604020202020204" pitchFamily="34" charset="0"/>
                <a:cs typeface="Arial" panose="020B0604020202020204" pitchFamily="34" charset="0"/>
              </a:rPr>
              <a:t>)</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31</a:t>
            </a:fld>
            <a:endParaRPr lang="en-US" sz="1600" dirty="0">
              <a:solidFill>
                <a:schemeClr val="bg1"/>
              </a:solidFill>
              <a:latin typeface="Arial" panose="020B0604020202020204" pitchFamily="34" charset="0"/>
              <a:cs typeface="Arial" panose="020B0604020202020204" pitchFamily="34" charset="0"/>
            </a:endParaRPr>
          </a:p>
        </p:txBody>
      </p:sp>
      <p:sp>
        <p:nvSpPr>
          <p:cNvPr id="70" name="CuadroTexto 1"/>
          <p:cNvSpPr txBox="1"/>
          <p:nvPr/>
        </p:nvSpPr>
        <p:spPr>
          <a:xfrm>
            <a:off x="690166" y="1284118"/>
            <a:ext cx="8328025" cy="2092881"/>
          </a:xfrm>
          <a:prstGeom prst="rect">
            <a:avLst/>
          </a:prstGeom>
          <a:noFill/>
        </p:spPr>
        <p:txBody>
          <a:bodyPr wrap="square" rtlCol="0">
            <a:spAutoFit/>
          </a:bodyPr>
          <a:lstStyle/>
          <a:p>
            <a:r>
              <a:rPr lang="es-ES" sz="1600" dirty="0">
                <a:latin typeface="Arial" panose="020B0604020202020204" pitchFamily="34" charset="0"/>
                <a:cs typeface="Arial" panose="020B0604020202020204" pitchFamily="34" charset="0"/>
              </a:rPr>
              <a:t>Diagrama </a:t>
            </a:r>
            <a:r>
              <a:rPr lang="es-ES" sz="1600" b="1" dirty="0">
                <a:latin typeface="Arial" panose="020B0604020202020204" pitchFamily="34" charset="0"/>
                <a:cs typeface="Arial" panose="020B0604020202020204" pitchFamily="34" charset="0"/>
              </a:rPr>
              <a:t>gastos-plazos</a:t>
            </a:r>
            <a:r>
              <a:rPr lang="es-ES" sz="1600" dirty="0">
                <a:latin typeface="Arial" panose="020B0604020202020204" pitchFamily="34" charset="0"/>
                <a:cs typeface="Arial" panose="020B0604020202020204" pitchFamily="34" charset="0"/>
              </a:rPr>
              <a:t>:</a:t>
            </a:r>
          </a:p>
          <a:p>
            <a:pPr marL="742950" lvl="1" indent="-285750">
              <a:buClr>
                <a:srgbClr val="008000"/>
              </a:buClr>
              <a:buFont typeface="Wingdings" charset="2"/>
              <a:buChar char=""/>
            </a:pPr>
            <a:r>
              <a:rPr lang="es-ES" sz="1400" b="1" i="1" u="sng" dirty="0">
                <a:solidFill>
                  <a:srgbClr val="0000FF"/>
                </a:solidFill>
                <a:latin typeface="Arial" panose="020B0604020202020204" pitchFamily="34" charset="0"/>
                <a:cs typeface="Arial" panose="020B0604020202020204" pitchFamily="34" charset="0"/>
              </a:rPr>
              <a:t>Real (A):</a:t>
            </a:r>
            <a:r>
              <a:rPr lang="es-ES" sz="1400" b="1" dirty="0">
                <a:solidFill>
                  <a:srgbClr val="0000FF"/>
                </a:solidFill>
                <a:latin typeface="Arial" panose="020B0604020202020204" pitchFamily="34" charset="0"/>
                <a:cs typeface="Arial" panose="020B0604020202020204" pitchFamily="34" charset="0"/>
              </a:rPr>
              <a:t> </a:t>
            </a:r>
            <a:r>
              <a:rPr lang="es-ES" sz="1400" dirty="0">
                <a:latin typeface="Arial" panose="020B0604020202020204" pitchFamily="34" charset="0"/>
                <a:cs typeface="Arial" panose="020B0604020202020204" pitchFamily="34" charset="0"/>
              </a:rPr>
              <a:t>Gastos reales o acumulados. </a:t>
            </a:r>
          </a:p>
          <a:p>
            <a:pPr lvl="1">
              <a:buClr>
                <a:srgbClr val="008000"/>
              </a:buClr>
            </a:pPr>
            <a:r>
              <a:rPr lang="es-ES" sz="1400" i="1" dirty="0">
                <a:latin typeface="Arial" panose="020B0604020202020204" pitchFamily="34" charset="0"/>
                <a:cs typeface="Arial" panose="020B0604020202020204" pitchFamily="34" charset="0"/>
              </a:rPr>
              <a:t>( </a:t>
            </a:r>
            <a:r>
              <a:rPr lang="es-ES" sz="1400" b="1" i="1" dirty="0">
                <a:solidFill>
                  <a:srgbClr val="0000FF"/>
                </a:solidFill>
                <a:latin typeface="Arial" panose="020B0604020202020204" pitchFamily="34" charset="0"/>
                <a:cs typeface="Arial" panose="020B0604020202020204" pitchFamily="34" charset="0"/>
              </a:rPr>
              <a:t>ACWP</a:t>
            </a:r>
            <a:r>
              <a:rPr lang="es-ES" sz="1400" i="1" dirty="0">
                <a:latin typeface="Arial" panose="020B0604020202020204" pitchFamily="34" charset="0"/>
                <a:cs typeface="Arial" panose="020B0604020202020204" pitchFamily="34" charset="0"/>
              </a:rPr>
              <a:t> </a:t>
            </a:r>
            <a:r>
              <a:rPr lang="es-ES" sz="1400" i="1" dirty="0">
                <a:solidFill>
                  <a:srgbClr val="0000FF"/>
                </a:solidFill>
                <a:latin typeface="Arial" panose="020B0604020202020204" pitchFamily="34" charset="0"/>
                <a:cs typeface="Arial" panose="020B0604020202020204" pitchFamily="34" charset="0"/>
              </a:rPr>
              <a:t>Actual </a:t>
            </a:r>
            <a:r>
              <a:rPr lang="es-ES" sz="1400" i="1" dirty="0" err="1">
                <a:solidFill>
                  <a:srgbClr val="0000FF"/>
                </a:solidFill>
                <a:latin typeface="Arial" panose="020B0604020202020204" pitchFamily="34" charset="0"/>
                <a:cs typeface="Arial" panose="020B0604020202020204" pitchFamily="34" charset="0"/>
              </a:rPr>
              <a:t>Cost</a:t>
            </a:r>
            <a:r>
              <a:rPr lang="es-ES" sz="1400" i="1" dirty="0">
                <a:solidFill>
                  <a:srgbClr val="0000FF"/>
                </a:solidFill>
                <a:latin typeface="Arial" panose="020B0604020202020204" pitchFamily="34" charset="0"/>
                <a:cs typeface="Arial" panose="020B0604020202020204" pitchFamily="34" charset="0"/>
              </a:rPr>
              <a:t> of </a:t>
            </a:r>
            <a:r>
              <a:rPr lang="es-ES" sz="1400" i="1" dirty="0" err="1">
                <a:solidFill>
                  <a:srgbClr val="0000FF"/>
                </a:solidFill>
                <a:latin typeface="Arial" panose="020B0604020202020204" pitchFamily="34" charset="0"/>
                <a:cs typeface="Arial" panose="020B0604020202020204" pitchFamily="34" charset="0"/>
              </a:rPr>
              <a:t>Work</a:t>
            </a:r>
            <a:r>
              <a:rPr lang="es-ES" sz="1400" i="1" dirty="0">
                <a:solidFill>
                  <a:srgbClr val="0000FF"/>
                </a:solidFill>
                <a:latin typeface="Arial" panose="020B0604020202020204" pitchFamily="34" charset="0"/>
                <a:cs typeface="Arial" panose="020B0604020202020204" pitchFamily="34" charset="0"/>
              </a:rPr>
              <a:t> </a:t>
            </a:r>
            <a:r>
              <a:rPr lang="es-ES" sz="1400" i="1" dirty="0" err="1">
                <a:solidFill>
                  <a:srgbClr val="0000FF"/>
                </a:solidFill>
                <a:latin typeface="Arial" panose="020B0604020202020204" pitchFamily="34" charset="0"/>
                <a:cs typeface="Arial" panose="020B0604020202020204" pitchFamily="34" charset="0"/>
              </a:rPr>
              <a:t>Performed</a:t>
            </a:r>
            <a:r>
              <a:rPr lang="es-ES" sz="1400" i="1" dirty="0">
                <a:latin typeface="Arial" panose="020B0604020202020204" pitchFamily="34" charset="0"/>
                <a:cs typeface="Arial" panose="020B0604020202020204" pitchFamily="34" charset="0"/>
              </a:rPr>
              <a:t>)</a:t>
            </a:r>
          </a:p>
          <a:p>
            <a:pPr marL="742950" lvl="1" indent="-285750">
              <a:buClr>
                <a:srgbClr val="008000"/>
              </a:buClr>
              <a:buFont typeface="Wingdings" charset="2"/>
              <a:buChar char=""/>
            </a:pPr>
            <a:r>
              <a:rPr lang="es-ES" sz="1400" b="1" i="1" u="sng" dirty="0">
                <a:solidFill>
                  <a:srgbClr val="007700"/>
                </a:solidFill>
                <a:latin typeface="Arial" panose="020B0604020202020204" pitchFamily="34" charset="0"/>
                <a:cs typeface="Arial" panose="020B0604020202020204" pitchFamily="34" charset="0"/>
              </a:rPr>
              <a:t>ESTIMADO (E)</a:t>
            </a:r>
            <a:r>
              <a:rPr lang="es-ES" sz="1400" b="1" dirty="0">
                <a:solidFill>
                  <a:srgbClr val="007700"/>
                </a:solidFill>
                <a:latin typeface="Arial" panose="020B0604020202020204" pitchFamily="34" charset="0"/>
                <a:cs typeface="Arial" panose="020B0604020202020204" pitchFamily="34" charset="0"/>
              </a:rPr>
              <a:t>: </a:t>
            </a:r>
            <a:r>
              <a:rPr lang="es-ES" sz="1400" i="1" dirty="0">
                <a:latin typeface="Arial" panose="020B0604020202020204" pitchFamily="34" charset="0"/>
                <a:cs typeface="Arial" panose="020B0604020202020204" pitchFamily="34" charset="0"/>
              </a:rPr>
              <a:t>Gastos según lo planificado de acuerdo con el trabajo ejecutado</a:t>
            </a:r>
            <a:r>
              <a:rPr lang="es-ES" sz="1400" dirty="0">
                <a:latin typeface="Arial" panose="020B0604020202020204" pitchFamily="34" charset="0"/>
                <a:cs typeface="Arial" panose="020B0604020202020204" pitchFamily="34" charset="0"/>
              </a:rPr>
              <a:t>. Es decir costos de presupuesto de acuerdo con el grado de cumplimentación. </a:t>
            </a:r>
          </a:p>
          <a:p>
            <a:pPr lvl="1">
              <a:buClr>
                <a:srgbClr val="008000"/>
              </a:buClr>
            </a:pPr>
            <a:r>
              <a:rPr lang="es-ES" sz="1400" i="1" dirty="0">
                <a:latin typeface="Arial" panose="020B0604020202020204" pitchFamily="34" charset="0"/>
                <a:cs typeface="Arial" panose="020B0604020202020204" pitchFamily="34" charset="0"/>
              </a:rPr>
              <a:t>( </a:t>
            </a:r>
            <a:r>
              <a:rPr lang="es-ES" sz="1400" b="1" i="1" dirty="0">
                <a:solidFill>
                  <a:srgbClr val="007700"/>
                </a:solidFill>
                <a:latin typeface="Arial" panose="020B0604020202020204" pitchFamily="34" charset="0"/>
                <a:cs typeface="Arial" panose="020B0604020202020204" pitchFamily="34" charset="0"/>
              </a:rPr>
              <a:t>BCWP</a:t>
            </a:r>
            <a:r>
              <a:rPr lang="es-ES" sz="1400" i="1" dirty="0">
                <a:latin typeface="Arial" panose="020B0604020202020204" pitchFamily="34" charset="0"/>
                <a:cs typeface="Arial" panose="020B0604020202020204" pitchFamily="34" charset="0"/>
              </a:rPr>
              <a:t> </a:t>
            </a:r>
            <a:r>
              <a:rPr lang="es-ES" sz="1400" i="1" dirty="0" err="1">
                <a:solidFill>
                  <a:srgbClr val="007700"/>
                </a:solidFill>
                <a:latin typeface="Arial" panose="020B0604020202020204" pitchFamily="34" charset="0"/>
                <a:cs typeface="Arial" panose="020B0604020202020204" pitchFamily="34" charset="0"/>
              </a:rPr>
              <a:t>Budgeted</a:t>
            </a:r>
            <a:r>
              <a:rPr lang="es-ES" sz="1400" i="1" dirty="0">
                <a:solidFill>
                  <a:srgbClr val="007700"/>
                </a:solidFill>
                <a:latin typeface="Arial" panose="020B0604020202020204" pitchFamily="34" charset="0"/>
                <a:cs typeface="Arial" panose="020B0604020202020204" pitchFamily="34" charset="0"/>
              </a:rPr>
              <a:t> </a:t>
            </a:r>
            <a:r>
              <a:rPr lang="es-ES" sz="1400" i="1" dirty="0" err="1">
                <a:solidFill>
                  <a:srgbClr val="007700"/>
                </a:solidFill>
                <a:latin typeface="Arial" panose="020B0604020202020204" pitchFamily="34" charset="0"/>
                <a:cs typeface="Arial" panose="020B0604020202020204" pitchFamily="34" charset="0"/>
              </a:rPr>
              <a:t>Cost</a:t>
            </a:r>
            <a:r>
              <a:rPr lang="es-ES" sz="1400" i="1" dirty="0">
                <a:solidFill>
                  <a:srgbClr val="007700"/>
                </a:solidFill>
                <a:latin typeface="Arial" panose="020B0604020202020204" pitchFamily="34" charset="0"/>
                <a:cs typeface="Arial" panose="020B0604020202020204" pitchFamily="34" charset="0"/>
              </a:rPr>
              <a:t> of </a:t>
            </a:r>
            <a:r>
              <a:rPr lang="es-ES" sz="1400" i="1" dirty="0" err="1">
                <a:solidFill>
                  <a:srgbClr val="007700"/>
                </a:solidFill>
                <a:latin typeface="Arial" panose="020B0604020202020204" pitchFamily="34" charset="0"/>
                <a:cs typeface="Arial" panose="020B0604020202020204" pitchFamily="34" charset="0"/>
              </a:rPr>
              <a:t>Work</a:t>
            </a:r>
            <a:r>
              <a:rPr lang="es-ES" sz="1400" i="1" dirty="0">
                <a:solidFill>
                  <a:srgbClr val="007700"/>
                </a:solidFill>
                <a:latin typeface="Arial" panose="020B0604020202020204" pitchFamily="34" charset="0"/>
                <a:cs typeface="Arial" panose="020B0604020202020204" pitchFamily="34" charset="0"/>
              </a:rPr>
              <a:t> </a:t>
            </a:r>
            <a:r>
              <a:rPr lang="es-ES" sz="1400" i="1" dirty="0" err="1">
                <a:solidFill>
                  <a:srgbClr val="007700"/>
                </a:solidFill>
                <a:latin typeface="Arial" panose="020B0604020202020204" pitchFamily="34" charset="0"/>
                <a:cs typeface="Arial" panose="020B0604020202020204" pitchFamily="34" charset="0"/>
              </a:rPr>
              <a:t>Performed</a:t>
            </a:r>
            <a:r>
              <a:rPr lang="es-ES" sz="1400" i="1" dirty="0">
                <a:solidFill>
                  <a:srgbClr val="007700"/>
                </a:solidFill>
                <a:latin typeface="Arial" panose="020B0604020202020204" pitchFamily="34" charset="0"/>
                <a:cs typeface="Arial" panose="020B0604020202020204" pitchFamily="34" charset="0"/>
              </a:rPr>
              <a:t>)</a:t>
            </a:r>
            <a:endParaRPr lang="es-ES" sz="1400" dirty="0">
              <a:solidFill>
                <a:srgbClr val="007700"/>
              </a:solidFill>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 sz="1400" b="1" i="1" u="sng" dirty="0">
                <a:solidFill>
                  <a:schemeClr val="bg1">
                    <a:lumMod val="50000"/>
                  </a:schemeClr>
                </a:solidFill>
                <a:latin typeface="Arial" panose="020B0604020202020204" pitchFamily="34" charset="0"/>
                <a:cs typeface="Arial" panose="020B0604020202020204" pitchFamily="34" charset="0"/>
              </a:rPr>
              <a:t>INICIAL (I)</a:t>
            </a:r>
            <a:r>
              <a:rPr lang="es-ES" sz="1400" b="1" dirty="0">
                <a:solidFill>
                  <a:schemeClr val="bg1">
                    <a:lumMod val="50000"/>
                  </a:schemeClr>
                </a:solidFill>
                <a:latin typeface="Arial" panose="020B0604020202020204" pitchFamily="34" charset="0"/>
                <a:cs typeface="Arial" panose="020B0604020202020204" pitchFamily="34" charset="0"/>
              </a:rPr>
              <a:t>: </a:t>
            </a:r>
            <a:r>
              <a:rPr lang="es-ES" sz="1400" dirty="0">
                <a:latin typeface="Arial" panose="020B0604020202020204" pitchFamily="34" charset="0"/>
                <a:cs typeface="Arial" panose="020B0604020202020204" pitchFamily="34" charset="0"/>
              </a:rPr>
              <a:t>Gasto planificado. </a:t>
            </a:r>
          </a:p>
          <a:p>
            <a:pPr lvl="1">
              <a:buClr>
                <a:srgbClr val="008000"/>
              </a:buClr>
            </a:pPr>
            <a:r>
              <a:rPr lang="es-ES" sz="1400" i="1" dirty="0">
                <a:solidFill>
                  <a:schemeClr val="bg1">
                    <a:lumMod val="50000"/>
                  </a:schemeClr>
                </a:solidFill>
                <a:latin typeface="Arial" panose="020B0604020202020204" pitchFamily="34" charset="0"/>
                <a:cs typeface="Arial" panose="020B0604020202020204" pitchFamily="34" charset="0"/>
              </a:rPr>
              <a:t>( </a:t>
            </a:r>
            <a:r>
              <a:rPr lang="es-ES" sz="1400" b="1" i="1" dirty="0">
                <a:solidFill>
                  <a:schemeClr val="bg1">
                    <a:lumMod val="50000"/>
                  </a:schemeClr>
                </a:solidFill>
                <a:latin typeface="Arial" panose="020B0604020202020204" pitchFamily="34" charset="0"/>
                <a:cs typeface="Arial" panose="020B0604020202020204" pitchFamily="34" charset="0"/>
              </a:rPr>
              <a:t>BCWS</a:t>
            </a:r>
            <a:r>
              <a:rPr lang="es-ES" sz="1400" i="1" dirty="0">
                <a:latin typeface="Arial" panose="020B0604020202020204" pitchFamily="34" charset="0"/>
                <a:cs typeface="Arial" panose="020B0604020202020204" pitchFamily="34" charset="0"/>
              </a:rPr>
              <a:t>: </a:t>
            </a:r>
            <a:r>
              <a:rPr lang="es-ES" sz="1400" i="1" dirty="0" err="1">
                <a:solidFill>
                  <a:srgbClr val="7F7F7F"/>
                </a:solidFill>
                <a:latin typeface="Arial" panose="020B0604020202020204" pitchFamily="34" charset="0"/>
                <a:cs typeface="Arial" panose="020B0604020202020204" pitchFamily="34" charset="0"/>
              </a:rPr>
              <a:t>Budgeted</a:t>
            </a:r>
            <a:r>
              <a:rPr lang="es-ES" sz="1400" i="1" dirty="0">
                <a:solidFill>
                  <a:srgbClr val="7F7F7F"/>
                </a:solidFill>
                <a:latin typeface="Arial" panose="020B0604020202020204" pitchFamily="34" charset="0"/>
                <a:cs typeface="Arial" panose="020B0604020202020204" pitchFamily="34" charset="0"/>
              </a:rPr>
              <a:t> </a:t>
            </a:r>
            <a:r>
              <a:rPr lang="es-ES" sz="1400" i="1" dirty="0" err="1">
                <a:solidFill>
                  <a:srgbClr val="7F7F7F"/>
                </a:solidFill>
                <a:latin typeface="Arial" panose="020B0604020202020204" pitchFamily="34" charset="0"/>
                <a:cs typeface="Arial" panose="020B0604020202020204" pitchFamily="34" charset="0"/>
              </a:rPr>
              <a:t>Cost</a:t>
            </a:r>
            <a:r>
              <a:rPr lang="es-ES" sz="1400" i="1" dirty="0">
                <a:solidFill>
                  <a:srgbClr val="7F7F7F"/>
                </a:solidFill>
                <a:latin typeface="Arial" panose="020B0604020202020204" pitchFamily="34" charset="0"/>
                <a:cs typeface="Arial" panose="020B0604020202020204" pitchFamily="34" charset="0"/>
              </a:rPr>
              <a:t> of </a:t>
            </a:r>
            <a:r>
              <a:rPr lang="es-ES" sz="1400" i="1" dirty="0" err="1">
                <a:solidFill>
                  <a:srgbClr val="7F7F7F"/>
                </a:solidFill>
                <a:latin typeface="Arial" panose="020B0604020202020204" pitchFamily="34" charset="0"/>
                <a:cs typeface="Arial" panose="020B0604020202020204" pitchFamily="34" charset="0"/>
              </a:rPr>
              <a:t>Work</a:t>
            </a:r>
            <a:r>
              <a:rPr lang="es-ES" sz="1400" i="1" dirty="0">
                <a:solidFill>
                  <a:srgbClr val="7F7F7F"/>
                </a:solidFill>
                <a:latin typeface="Arial" panose="020B0604020202020204" pitchFamily="34" charset="0"/>
                <a:cs typeface="Arial" panose="020B0604020202020204" pitchFamily="34" charset="0"/>
              </a:rPr>
              <a:t> </a:t>
            </a:r>
            <a:r>
              <a:rPr lang="es-ES" sz="1400" i="1" dirty="0" err="1">
                <a:solidFill>
                  <a:srgbClr val="7F7F7F"/>
                </a:solidFill>
                <a:latin typeface="Arial" panose="020B0604020202020204" pitchFamily="34" charset="0"/>
                <a:cs typeface="Arial" panose="020B0604020202020204" pitchFamily="34" charset="0"/>
              </a:rPr>
              <a:t>Scheduled</a:t>
            </a:r>
            <a:r>
              <a:rPr lang="es-ES" sz="1400" i="1" dirty="0">
                <a:solidFill>
                  <a:srgbClr val="7F7F7F"/>
                </a:solidFill>
                <a:latin typeface="Arial" panose="020B0604020202020204" pitchFamily="34" charset="0"/>
                <a:cs typeface="Arial" panose="020B0604020202020204" pitchFamily="34" charset="0"/>
              </a:rPr>
              <a:t>)</a:t>
            </a:r>
          </a:p>
          <a:p>
            <a:endParaRPr lang="es-ES" sz="1600" dirty="0">
              <a:latin typeface="Arial" panose="020B0604020202020204" pitchFamily="34" charset="0"/>
              <a:cs typeface="Arial" panose="020B0604020202020204" pitchFamily="34" charset="0"/>
            </a:endParaRPr>
          </a:p>
        </p:txBody>
      </p:sp>
      <p:graphicFrame>
        <p:nvGraphicFramePr>
          <p:cNvPr id="71" name="Tabla 4"/>
          <p:cNvGraphicFramePr>
            <a:graphicFrameLocks noGrp="1"/>
          </p:cNvGraphicFramePr>
          <p:nvPr>
            <p:extLst>
              <p:ext uri="{D42A27DB-BD31-4B8C-83A1-F6EECF244321}">
                <p14:modId xmlns:p14="http://schemas.microsoft.com/office/powerpoint/2010/main" val="3662355944"/>
              </p:ext>
            </p:extLst>
          </p:nvPr>
        </p:nvGraphicFramePr>
        <p:xfrm>
          <a:off x="1854250" y="3628107"/>
          <a:ext cx="6096000" cy="2966720"/>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20000"/>
                    </a:ext>
                  </a:extLst>
                </a:gridCol>
              </a:tblGrid>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E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cxnSp>
        <p:nvCxnSpPr>
          <p:cNvPr id="72" name="Conector recto 7"/>
          <p:cNvCxnSpPr/>
          <p:nvPr/>
        </p:nvCxnSpPr>
        <p:spPr>
          <a:xfrm flipV="1">
            <a:off x="1886000" y="4677792"/>
            <a:ext cx="2736850" cy="1866900"/>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73" name="Conector recto 10"/>
          <p:cNvCxnSpPr/>
          <p:nvPr/>
        </p:nvCxnSpPr>
        <p:spPr>
          <a:xfrm flipV="1">
            <a:off x="1879650" y="5935092"/>
            <a:ext cx="2711450" cy="596900"/>
          </a:xfrm>
          <a:prstGeom prst="line">
            <a:avLst/>
          </a:prstGeom>
          <a:ln>
            <a:solidFill>
              <a:srgbClr val="007700"/>
            </a:solidFill>
          </a:ln>
        </p:spPr>
        <p:style>
          <a:lnRef idx="2">
            <a:schemeClr val="accent1"/>
          </a:lnRef>
          <a:fillRef idx="0">
            <a:schemeClr val="accent1"/>
          </a:fillRef>
          <a:effectRef idx="1">
            <a:schemeClr val="accent1"/>
          </a:effectRef>
          <a:fontRef idx="minor">
            <a:schemeClr val="tx1"/>
          </a:fontRef>
        </p:style>
      </p:cxnSp>
      <p:cxnSp>
        <p:nvCxnSpPr>
          <p:cNvPr id="74" name="Conector recto 16"/>
          <p:cNvCxnSpPr/>
          <p:nvPr/>
        </p:nvCxnSpPr>
        <p:spPr>
          <a:xfrm flipV="1">
            <a:off x="1943150" y="3776092"/>
            <a:ext cx="5778500" cy="276225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75" name="Conector recto 19"/>
          <p:cNvCxnSpPr/>
          <p:nvPr/>
        </p:nvCxnSpPr>
        <p:spPr>
          <a:xfrm flipH="1">
            <a:off x="4603800" y="3356992"/>
            <a:ext cx="25400" cy="3327400"/>
          </a:xfrm>
          <a:prstGeom prst="line">
            <a:avLst/>
          </a:prstGeom>
          <a:ln>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76" name="CuadroTexto 20"/>
          <p:cNvSpPr txBox="1"/>
          <p:nvPr/>
        </p:nvSpPr>
        <p:spPr>
          <a:xfrm>
            <a:off x="4660950" y="5903342"/>
            <a:ext cx="1130300" cy="369332"/>
          </a:xfrm>
          <a:prstGeom prst="rect">
            <a:avLst/>
          </a:prstGeom>
          <a:solidFill>
            <a:srgbClr val="008000"/>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 dirty="0"/>
              <a:t>Estimado</a:t>
            </a:r>
          </a:p>
        </p:txBody>
      </p:sp>
      <p:sp>
        <p:nvSpPr>
          <p:cNvPr id="77" name="CuadroTexto 21"/>
          <p:cNvSpPr txBox="1"/>
          <p:nvPr/>
        </p:nvSpPr>
        <p:spPr>
          <a:xfrm>
            <a:off x="6896150" y="4245992"/>
            <a:ext cx="774700" cy="369332"/>
          </a:xfrm>
          <a:prstGeom prst="rect">
            <a:avLst/>
          </a:prstGeom>
          <a:solidFill>
            <a:schemeClr val="bg1">
              <a:lumMod val="50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 dirty="0"/>
              <a:t>Inicial</a:t>
            </a:r>
          </a:p>
        </p:txBody>
      </p:sp>
      <p:sp>
        <p:nvSpPr>
          <p:cNvPr id="78" name="CuadroTexto 22"/>
          <p:cNvSpPr txBox="1"/>
          <p:nvPr/>
        </p:nvSpPr>
        <p:spPr>
          <a:xfrm>
            <a:off x="3346500" y="4309492"/>
            <a:ext cx="1130300" cy="369332"/>
          </a:xfrm>
          <a:prstGeom prst="rect">
            <a:avLst/>
          </a:prstGeom>
          <a:solidFill>
            <a:srgbClr val="0000FF"/>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 dirty="0"/>
              <a:t>Real</a:t>
            </a:r>
          </a:p>
        </p:txBody>
      </p:sp>
      <p:sp>
        <p:nvSpPr>
          <p:cNvPr id="79" name="CuadroTexto 23"/>
          <p:cNvSpPr txBox="1"/>
          <p:nvPr/>
        </p:nvSpPr>
        <p:spPr>
          <a:xfrm>
            <a:off x="3972533" y="6581591"/>
            <a:ext cx="698500" cy="276999"/>
          </a:xfrm>
          <a:prstGeom prst="rect">
            <a:avLst/>
          </a:prstGeom>
          <a:noFill/>
        </p:spPr>
        <p:txBody>
          <a:bodyPr wrap="square" rtlCol="0">
            <a:spAutoFit/>
          </a:bodyPr>
          <a:lstStyle/>
          <a:p>
            <a:pPr algn="ctr"/>
            <a:r>
              <a:rPr lang="es-ES" sz="1200" b="1" dirty="0"/>
              <a:t>hoy</a:t>
            </a:r>
          </a:p>
        </p:txBody>
      </p:sp>
      <p:sp>
        <p:nvSpPr>
          <p:cNvPr id="80" name="CuadroTexto 24"/>
          <p:cNvSpPr txBox="1"/>
          <p:nvPr/>
        </p:nvSpPr>
        <p:spPr>
          <a:xfrm>
            <a:off x="971600" y="3661792"/>
            <a:ext cx="882650" cy="369332"/>
          </a:xfrm>
          <a:prstGeom prst="rect">
            <a:avLst/>
          </a:prstGeom>
          <a:noFill/>
        </p:spPr>
        <p:txBody>
          <a:bodyPr wrap="square" rtlCol="0">
            <a:spAutoFit/>
          </a:bodyPr>
          <a:lstStyle/>
          <a:p>
            <a:pPr algn="ctr"/>
            <a:r>
              <a:rPr lang="es-ES" b="1" dirty="0"/>
              <a:t>Gasto</a:t>
            </a:r>
          </a:p>
        </p:txBody>
      </p:sp>
      <p:sp>
        <p:nvSpPr>
          <p:cNvPr id="81" name="CuadroTexto 25"/>
          <p:cNvSpPr txBox="1"/>
          <p:nvPr/>
        </p:nvSpPr>
        <p:spPr>
          <a:xfrm>
            <a:off x="7956376" y="6392292"/>
            <a:ext cx="1035000" cy="369332"/>
          </a:xfrm>
          <a:prstGeom prst="rect">
            <a:avLst/>
          </a:prstGeom>
          <a:noFill/>
        </p:spPr>
        <p:txBody>
          <a:bodyPr wrap="square" rtlCol="0">
            <a:spAutoFit/>
          </a:bodyPr>
          <a:lstStyle/>
          <a:p>
            <a:pPr algn="ctr"/>
            <a:r>
              <a:rPr lang="es-ES" b="1" dirty="0"/>
              <a:t>Tiempo</a:t>
            </a:r>
          </a:p>
        </p:txBody>
      </p:sp>
    </p:spTree>
    <p:extLst>
      <p:ext uri="{BB962C8B-B14F-4D97-AF65-F5344CB8AC3E}">
        <p14:creationId xmlns:p14="http://schemas.microsoft.com/office/powerpoint/2010/main" val="1141580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074216" y="-1177839"/>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354069" y="-33159"/>
            <a:ext cx="5314275"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control de proyectos</a:t>
            </a:r>
          </a:p>
        </p:txBody>
      </p:sp>
      <p:sp>
        <p:nvSpPr>
          <p:cNvPr id="4" name="3 CuadroTexto"/>
          <p:cNvSpPr txBox="1"/>
          <p:nvPr/>
        </p:nvSpPr>
        <p:spPr>
          <a:xfrm>
            <a:off x="1579108" y="723999"/>
            <a:ext cx="7293984"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Método de control del valor añadido (</a:t>
            </a:r>
            <a:r>
              <a:rPr lang="es-ES" sz="2800" b="1" u="sng" dirty="0" err="1">
                <a:solidFill>
                  <a:schemeClr val="accent3">
                    <a:lumMod val="50000"/>
                  </a:schemeClr>
                </a:solidFill>
                <a:latin typeface="Arial" panose="020B0604020202020204" pitchFamily="34" charset="0"/>
                <a:cs typeface="Arial" panose="020B0604020202020204" pitchFamily="34" charset="0"/>
              </a:rPr>
              <a:t>AEI</a:t>
            </a:r>
            <a:r>
              <a:rPr lang="es-ES" sz="2800" b="1" u="sng" dirty="0">
                <a:solidFill>
                  <a:schemeClr val="accent3">
                    <a:lumMod val="50000"/>
                  </a:schemeClr>
                </a:solidFill>
                <a:latin typeface="Arial" panose="020B0604020202020204" pitchFamily="34" charset="0"/>
                <a:cs typeface="Arial" panose="020B0604020202020204" pitchFamily="34" charset="0"/>
              </a:rPr>
              <a:t>)</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32</a:t>
            </a:fld>
            <a:endParaRPr lang="en-US" sz="1600" dirty="0">
              <a:solidFill>
                <a:schemeClr val="bg1"/>
              </a:solidFill>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82EDDB30-AD33-4975-A147-8A68C7A26FD3}"/>
              </a:ext>
            </a:extLst>
          </p:cNvPr>
          <p:cNvPicPr>
            <a:picLocks noChangeAspect="1"/>
          </p:cNvPicPr>
          <p:nvPr/>
        </p:nvPicPr>
        <p:blipFill>
          <a:blip r:embed="rId4"/>
          <a:stretch>
            <a:fillRect/>
          </a:stretch>
        </p:blipFill>
        <p:spPr>
          <a:xfrm>
            <a:off x="2354069" y="1557849"/>
            <a:ext cx="4867620" cy="5109275"/>
          </a:xfrm>
          <a:prstGeom prst="rect">
            <a:avLst/>
          </a:prstGeom>
        </p:spPr>
      </p:pic>
    </p:spTree>
    <p:extLst>
      <p:ext uri="{BB962C8B-B14F-4D97-AF65-F5344CB8AC3E}">
        <p14:creationId xmlns:p14="http://schemas.microsoft.com/office/powerpoint/2010/main" val="239047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354069" y="-33159"/>
            <a:ext cx="5314275"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control de proyectos</a:t>
            </a:r>
          </a:p>
        </p:txBody>
      </p:sp>
      <p:sp>
        <p:nvSpPr>
          <p:cNvPr id="4" name="3 CuadroTexto"/>
          <p:cNvSpPr txBox="1"/>
          <p:nvPr/>
        </p:nvSpPr>
        <p:spPr>
          <a:xfrm>
            <a:off x="1403648" y="620688"/>
            <a:ext cx="7293984"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Método de control del valor añadido (</a:t>
            </a:r>
            <a:r>
              <a:rPr lang="es-ES" sz="2800" b="1" u="sng" dirty="0" err="1">
                <a:solidFill>
                  <a:schemeClr val="accent3">
                    <a:lumMod val="50000"/>
                  </a:schemeClr>
                </a:solidFill>
                <a:latin typeface="Arial" panose="020B0604020202020204" pitchFamily="34" charset="0"/>
                <a:cs typeface="Arial" panose="020B0604020202020204" pitchFamily="34" charset="0"/>
              </a:rPr>
              <a:t>AEI</a:t>
            </a:r>
            <a:r>
              <a:rPr lang="es-ES" sz="2800" b="1" u="sng" dirty="0">
                <a:solidFill>
                  <a:schemeClr val="accent3">
                    <a:lumMod val="50000"/>
                  </a:schemeClr>
                </a:solidFill>
                <a:latin typeface="Arial" panose="020B0604020202020204" pitchFamily="34" charset="0"/>
                <a:cs typeface="Arial" panose="020B0604020202020204" pitchFamily="34" charset="0"/>
              </a:rPr>
              <a:t>)</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33</a:t>
            </a:fld>
            <a:endParaRPr lang="en-US" sz="1600" dirty="0">
              <a:solidFill>
                <a:schemeClr val="bg1"/>
              </a:solidFill>
              <a:latin typeface="Arial" panose="020B0604020202020204" pitchFamily="34" charset="0"/>
              <a:cs typeface="Arial" panose="020B0604020202020204" pitchFamily="34" charset="0"/>
            </a:endParaRPr>
          </a:p>
        </p:txBody>
      </p:sp>
      <p:grpSp>
        <p:nvGrpSpPr>
          <p:cNvPr id="16" name="Grupo 15">
            <a:extLst>
              <a:ext uri="{FF2B5EF4-FFF2-40B4-BE49-F238E27FC236}">
                <a16:creationId xmlns:a16="http://schemas.microsoft.com/office/drawing/2014/main" id="{59E0F660-6CF3-4992-877F-0AC38F4E0F4E}"/>
              </a:ext>
            </a:extLst>
          </p:cNvPr>
          <p:cNvGrpSpPr/>
          <p:nvPr/>
        </p:nvGrpSpPr>
        <p:grpSpPr>
          <a:xfrm>
            <a:off x="4268434" y="1653146"/>
            <a:ext cx="2706153" cy="1593241"/>
            <a:chOff x="777447" y="1145876"/>
            <a:chExt cx="2706153" cy="1593241"/>
          </a:xfrm>
        </p:grpSpPr>
        <p:grpSp>
          <p:nvGrpSpPr>
            <p:cNvPr id="45" name="Agrupar 20">
              <a:extLst>
                <a:ext uri="{FF2B5EF4-FFF2-40B4-BE49-F238E27FC236}">
                  <a16:creationId xmlns:a16="http://schemas.microsoft.com/office/drawing/2014/main" id="{359F0EFD-7190-4CDC-85D9-939F125634A2}"/>
                </a:ext>
              </a:extLst>
            </p:cNvPr>
            <p:cNvGrpSpPr/>
            <p:nvPr/>
          </p:nvGrpSpPr>
          <p:grpSpPr>
            <a:xfrm>
              <a:off x="1253026" y="1150252"/>
              <a:ext cx="2203450" cy="1583267"/>
              <a:chOff x="793750" y="1155700"/>
              <a:chExt cx="2203450" cy="1583267"/>
            </a:xfrm>
          </p:grpSpPr>
          <p:cxnSp>
            <p:nvCxnSpPr>
              <p:cNvPr id="86" name="Conector recto de flecha 85">
                <a:extLst>
                  <a:ext uri="{FF2B5EF4-FFF2-40B4-BE49-F238E27FC236}">
                    <a16:creationId xmlns:a16="http://schemas.microsoft.com/office/drawing/2014/main" id="{7CEF0FE1-CE0E-412C-8030-147600E5CDB0}"/>
                  </a:ext>
                </a:extLst>
              </p:cNvPr>
              <p:cNvCxnSpPr/>
              <p:nvPr/>
            </p:nvCxnSpPr>
            <p:spPr>
              <a:xfrm flipV="1">
                <a:off x="793750" y="1155700"/>
                <a:ext cx="12700" cy="131445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87" name="Conector recto de flecha 86">
                <a:extLst>
                  <a:ext uri="{FF2B5EF4-FFF2-40B4-BE49-F238E27FC236}">
                    <a16:creationId xmlns:a16="http://schemas.microsoft.com/office/drawing/2014/main" id="{BCAA1DB4-B31B-4E48-B6F6-47C5B5BD78ED}"/>
                  </a:ext>
                </a:extLst>
              </p:cNvPr>
              <p:cNvCxnSpPr/>
              <p:nvPr/>
            </p:nvCxnSpPr>
            <p:spPr>
              <a:xfrm>
                <a:off x="793750" y="2463800"/>
                <a:ext cx="2203450" cy="127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8" name="Conector recto 87">
                <a:extLst>
                  <a:ext uri="{FF2B5EF4-FFF2-40B4-BE49-F238E27FC236}">
                    <a16:creationId xmlns:a16="http://schemas.microsoft.com/office/drawing/2014/main" id="{27A9222E-BF2C-4ACB-B9C9-70C65CB24532}"/>
                  </a:ext>
                </a:extLst>
              </p:cNvPr>
              <p:cNvCxnSpPr/>
              <p:nvPr/>
            </p:nvCxnSpPr>
            <p:spPr>
              <a:xfrm flipH="1">
                <a:off x="1339850" y="1303867"/>
                <a:ext cx="6350" cy="1435100"/>
              </a:xfrm>
              <a:prstGeom prst="line">
                <a:avLst/>
              </a:prstGeom>
              <a:ln w="19050" cmpd="sng">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grpSp>
          <p:nvGrpSpPr>
            <p:cNvPr id="6" name="Grupo 5">
              <a:extLst>
                <a:ext uri="{FF2B5EF4-FFF2-40B4-BE49-F238E27FC236}">
                  <a16:creationId xmlns:a16="http://schemas.microsoft.com/office/drawing/2014/main" id="{7C7A652C-42B7-4E14-93C1-DE67A508170C}"/>
                </a:ext>
              </a:extLst>
            </p:cNvPr>
            <p:cNvGrpSpPr/>
            <p:nvPr/>
          </p:nvGrpSpPr>
          <p:grpSpPr>
            <a:xfrm>
              <a:off x="777447" y="1145876"/>
              <a:ext cx="2706153" cy="1593241"/>
              <a:chOff x="777447" y="1145876"/>
              <a:chExt cx="2706153" cy="1593241"/>
            </a:xfrm>
          </p:grpSpPr>
          <p:cxnSp>
            <p:nvCxnSpPr>
              <p:cNvPr id="32" name="Conector recto 31">
                <a:extLst>
                  <a:ext uri="{FF2B5EF4-FFF2-40B4-BE49-F238E27FC236}">
                    <a16:creationId xmlns:a16="http://schemas.microsoft.com/office/drawing/2014/main" id="{E57CB649-C2F2-4819-8E8A-B5F0C7B828DB}"/>
                  </a:ext>
                </a:extLst>
              </p:cNvPr>
              <p:cNvCxnSpPr/>
              <p:nvPr/>
            </p:nvCxnSpPr>
            <p:spPr>
              <a:xfrm flipH="1">
                <a:off x="2568790" y="1236133"/>
                <a:ext cx="6350" cy="1435100"/>
              </a:xfrm>
              <a:prstGeom prst="line">
                <a:avLst/>
              </a:prstGeom>
              <a:ln w="19050" cmpd="sng">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33" name="Rectángulo 32">
                <a:extLst>
                  <a:ext uri="{FF2B5EF4-FFF2-40B4-BE49-F238E27FC236}">
                    <a16:creationId xmlns:a16="http://schemas.microsoft.com/office/drawing/2014/main" id="{2F15A0D2-2C93-45E8-92F4-0B6809E28AEC}"/>
                  </a:ext>
                </a:extLst>
              </p:cNvPr>
              <p:cNvSpPr/>
              <p:nvPr/>
            </p:nvSpPr>
            <p:spPr>
              <a:xfrm>
                <a:off x="1271274" y="1295400"/>
                <a:ext cx="1295400" cy="8043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22" name="CuadroTexto 121">
                <a:extLst>
                  <a:ext uri="{FF2B5EF4-FFF2-40B4-BE49-F238E27FC236}">
                    <a16:creationId xmlns:a16="http://schemas.microsoft.com/office/drawing/2014/main" id="{552CDFD4-1253-493F-B436-5FE5658CA671}"/>
                  </a:ext>
                </a:extLst>
              </p:cNvPr>
              <p:cNvSpPr txBox="1"/>
              <p:nvPr/>
            </p:nvSpPr>
            <p:spPr>
              <a:xfrm>
                <a:off x="1529506" y="2470150"/>
                <a:ext cx="431800" cy="246221"/>
              </a:xfrm>
              <a:prstGeom prst="rect">
                <a:avLst/>
              </a:prstGeom>
              <a:noFill/>
            </p:spPr>
            <p:txBody>
              <a:bodyPr wrap="square" rtlCol="0">
                <a:spAutoFit/>
              </a:bodyPr>
              <a:lstStyle/>
              <a:p>
                <a:r>
                  <a:rPr lang="es-ES" sz="1000" dirty="0"/>
                  <a:t>hoy</a:t>
                </a:r>
              </a:p>
            </p:txBody>
          </p:sp>
          <p:cxnSp>
            <p:nvCxnSpPr>
              <p:cNvPr id="135" name="Conector recto 134">
                <a:extLst>
                  <a:ext uri="{FF2B5EF4-FFF2-40B4-BE49-F238E27FC236}">
                    <a16:creationId xmlns:a16="http://schemas.microsoft.com/office/drawing/2014/main" id="{0E0C5F20-419E-4FE4-AF1F-D104AA66FFE4}"/>
                  </a:ext>
                </a:extLst>
              </p:cNvPr>
              <p:cNvCxnSpPr/>
              <p:nvPr/>
            </p:nvCxnSpPr>
            <p:spPr>
              <a:xfrm flipV="1">
                <a:off x="1269156" y="1866900"/>
                <a:ext cx="536575" cy="574675"/>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36" name="Conector recto 135">
                <a:extLst>
                  <a:ext uri="{FF2B5EF4-FFF2-40B4-BE49-F238E27FC236}">
                    <a16:creationId xmlns:a16="http://schemas.microsoft.com/office/drawing/2014/main" id="{FD3AAB29-BF1B-48EA-97DC-B466313E5380}"/>
                  </a:ext>
                </a:extLst>
              </p:cNvPr>
              <p:cNvCxnSpPr/>
              <p:nvPr/>
            </p:nvCxnSpPr>
            <p:spPr>
              <a:xfrm flipV="1">
                <a:off x="1307256" y="2063750"/>
                <a:ext cx="488950" cy="355600"/>
              </a:xfrm>
              <a:prstGeom prst="line">
                <a:avLst/>
              </a:prstGeom>
              <a:ln>
                <a:solidFill>
                  <a:srgbClr val="007700"/>
                </a:solidFill>
              </a:ln>
            </p:spPr>
            <p:style>
              <a:lnRef idx="2">
                <a:schemeClr val="accent1"/>
              </a:lnRef>
              <a:fillRef idx="0">
                <a:schemeClr val="accent1"/>
              </a:fillRef>
              <a:effectRef idx="1">
                <a:schemeClr val="accent1"/>
              </a:effectRef>
              <a:fontRef idx="minor">
                <a:schemeClr val="tx1"/>
              </a:fontRef>
            </p:style>
          </p:cxnSp>
          <p:cxnSp>
            <p:nvCxnSpPr>
              <p:cNvPr id="137" name="Conector recto 136">
                <a:extLst>
                  <a:ext uri="{FF2B5EF4-FFF2-40B4-BE49-F238E27FC236}">
                    <a16:creationId xmlns:a16="http://schemas.microsoft.com/office/drawing/2014/main" id="{B06D26F8-9F36-4BF1-86C2-09A504BE1957}"/>
                  </a:ext>
                </a:extLst>
              </p:cNvPr>
              <p:cNvCxnSpPr/>
              <p:nvPr/>
            </p:nvCxnSpPr>
            <p:spPr>
              <a:xfrm flipV="1">
                <a:off x="1278681" y="1943100"/>
                <a:ext cx="1692275" cy="492125"/>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8" name="Conector recto de flecha 137">
                <a:extLst>
                  <a:ext uri="{FF2B5EF4-FFF2-40B4-BE49-F238E27FC236}">
                    <a16:creationId xmlns:a16="http://schemas.microsoft.com/office/drawing/2014/main" id="{88AC8EF6-09BA-4DE4-9496-A4D115155438}"/>
                  </a:ext>
                </a:extLst>
              </p:cNvPr>
              <p:cNvCxnSpPr/>
              <p:nvPr/>
            </p:nvCxnSpPr>
            <p:spPr>
              <a:xfrm>
                <a:off x="1808906" y="2051050"/>
                <a:ext cx="781050" cy="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39" name="Conector recto de flecha 138">
                <a:extLst>
                  <a:ext uri="{FF2B5EF4-FFF2-40B4-BE49-F238E27FC236}">
                    <a16:creationId xmlns:a16="http://schemas.microsoft.com/office/drawing/2014/main" id="{53CF979A-F439-4834-B279-34B24578B38D}"/>
                  </a:ext>
                </a:extLst>
              </p:cNvPr>
              <p:cNvCxnSpPr/>
              <p:nvPr/>
            </p:nvCxnSpPr>
            <p:spPr>
              <a:xfrm flipV="1">
                <a:off x="1804672" y="1852082"/>
                <a:ext cx="1" cy="2032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 name="CuadroTexto 4">
                <a:extLst>
                  <a:ext uri="{FF2B5EF4-FFF2-40B4-BE49-F238E27FC236}">
                    <a16:creationId xmlns:a16="http://schemas.microsoft.com/office/drawing/2014/main" id="{82E0795E-1CD7-489E-9819-24D751962073}"/>
                  </a:ext>
                </a:extLst>
              </p:cNvPr>
              <p:cNvSpPr txBox="1"/>
              <p:nvPr/>
            </p:nvSpPr>
            <p:spPr>
              <a:xfrm>
                <a:off x="1387068" y="1811437"/>
                <a:ext cx="295274" cy="276999"/>
              </a:xfrm>
              <a:prstGeom prst="rect">
                <a:avLst/>
              </a:prstGeom>
              <a:noFill/>
            </p:spPr>
            <p:txBody>
              <a:bodyPr wrap="none" rtlCol="0">
                <a:spAutoFit/>
              </a:bodyPr>
              <a:lstStyle/>
              <a:p>
                <a:r>
                  <a:rPr lang="es-ES" sz="1200" b="1">
                    <a:solidFill>
                      <a:srgbClr val="0000CC"/>
                    </a:solidFill>
                    <a:latin typeface="Arial" panose="020B0604020202020204" pitchFamily="34" charset="0"/>
                    <a:cs typeface="Arial" panose="020B0604020202020204" pitchFamily="34" charset="0"/>
                  </a:rPr>
                  <a:t>A</a:t>
                </a:r>
              </a:p>
            </p:txBody>
          </p:sp>
          <p:sp>
            <p:nvSpPr>
              <p:cNvPr id="167" name="CuadroTexto 166">
                <a:extLst>
                  <a:ext uri="{FF2B5EF4-FFF2-40B4-BE49-F238E27FC236}">
                    <a16:creationId xmlns:a16="http://schemas.microsoft.com/office/drawing/2014/main" id="{406DBADC-0FBD-47A8-A1D6-34A4591CFA3E}"/>
                  </a:ext>
                </a:extLst>
              </p:cNvPr>
              <p:cNvSpPr txBox="1"/>
              <p:nvPr/>
            </p:nvSpPr>
            <p:spPr>
              <a:xfrm>
                <a:off x="1784109" y="2017780"/>
                <a:ext cx="295274" cy="276999"/>
              </a:xfrm>
              <a:prstGeom prst="rect">
                <a:avLst/>
              </a:prstGeom>
              <a:noFill/>
            </p:spPr>
            <p:txBody>
              <a:bodyPr wrap="none" rtlCol="0">
                <a:spAutoFit/>
              </a:bodyPr>
              <a:lstStyle/>
              <a:p>
                <a:r>
                  <a:rPr lang="es-ES" sz="1200" b="1">
                    <a:solidFill>
                      <a:srgbClr val="006600"/>
                    </a:solidFill>
                    <a:latin typeface="Arial" panose="020B0604020202020204" pitchFamily="34" charset="0"/>
                    <a:cs typeface="Arial" panose="020B0604020202020204" pitchFamily="34" charset="0"/>
                  </a:rPr>
                  <a:t>E</a:t>
                </a:r>
              </a:p>
            </p:txBody>
          </p:sp>
          <p:sp>
            <p:nvSpPr>
              <p:cNvPr id="173" name="CuadroTexto 172">
                <a:extLst>
                  <a:ext uri="{FF2B5EF4-FFF2-40B4-BE49-F238E27FC236}">
                    <a16:creationId xmlns:a16="http://schemas.microsoft.com/office/drawing/2014/main" id="{946E96E6-BB10-455C-9AF6-616E926E9A93}"/>
                  </a:ext>
                </a:extLst>
              </p:cNvPr>
              <p:cNvSpPr txBox="1"/>
              <p:nvPr/>
            </p:nvSpPr>
            <p:spPr>
              <a:xfrm>
                <a:off x="2663307" y="2049815"/>
                <a:ext cx="227948" cy="276999"/>
              </a:xfrm>
              <a:prstGeom prst="rect">
                <a:avLst/>
              </a:prstGeom>
              <a:noFill/>
            </p:spPr>
            <p:txBody>
              <a:bodyPr wrap="none" rtlCol="0">
                <a:spAutoFit/>
              </a:bodyPr>
              <a:lstStyle/>
              <a:p>
                <a:r>
                  <a:rPr lang="es-ES" sz="1200" b="1">
                    <a:solidFill>
                      <a:schemeClr val="bg1">
                        <a:lumMod val="50000"/>
                      </a:schemeClr>
                    </a:solidFill>
                    <a:latin typeface="Arial" panose="020B0604020202020204" pitchFamily="34" charset="0"/>
                    <a:cs typeface="Arial" panose="020B0604020202020204" pitchFamily="34" charset="0"/>
                  </a:rPr>
                  <a:t>I</a:t>
                </a:r>
              </a:p>
            </p:txBody>
          </p:sp>
          <p:sp>
            <p:nvSpPr>
              <p:cNvPr id="182" name="CuadroTexto 181">
                <a:extLst>
                  <a:ext uri="{FF2B5EF4-FFF2-40B4-BE49-F238E27FC236}">
                    <a16:creationId xmlns:a16="http://schemas.microsoft.com/office/drawing/2014/main" id="{70B90F72-02C6-4BFF-936C-C3B89F50CC86}"/>
                  </a:ext>
                </a:extLst>
              </p:cNvPr>
              <p:cNvSpPr txBox="1"/>
              <p:nvPr/>
            </p:nvSpPr>
            <p:spPr>
              <a:xfrm>
                <a:off x="2915816" y="2492896"/>
                <a:ext cx="567784"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tiempo</a:t>
                </a:r>
              </a:p>
            </p:txBody>
          </p:sp>
          <p:sp>
            <p:nvSpPr>
              <p:cNvPr id="185" name="CuadroTexto 184">
                <a:extLst>
                  <a:ext uri="{FF2B5EF4-FFF2-40B4-BE49-F238E27FC236}">
                    <a16:creationId xmlns:a16="http://schemas.microsoft.com/office/drawing/2014/main" id="{5A9BDCC8-300A-4EF0-98CE-5C6FDB945EFE}"/>
                  </a:ext>
                </a:extLst>
              </p:cNvPr>
              <p:cNvSpPr txBox="1"/>
              <p:nvPr/>
            </p:nvSpPr>
            <p:spPr>
              <a:xfrm>
                <a:off x="777447" y="1145876"/>
                <a:ext cx="495649"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gasto</a:t>
                </a:r>
              </a:p>
            </p:txBody>
          </p:sp>
        </p:grpSp>
      </p:grpSp>
      <p:grpSp>
        <p:nvGrpSpPr>
          <p:cNvPr id="17" name="Grupo 16">
            <a:extLst>
              <a:ext uri="{FF2B5EF4-FFF2-40B4-BE49-F238E27FC236}">
                <a16:creationId xmlns:a16="http://schemas.microsoft.com/office/drawing/2014/main" id="{350282A4-6B05-4AD9-A9AB-C6813F34470F}"/>
              </a:ext>
            </a:extLst>
          </p:cNvPr>
          <p:cNvGrpSpPr/>
          <p:nvPr/>
        </p:nvGrpSpPr>
        <p:grpSpPr>
          <a:xfrm>
            <a:off x="4067944" y="5056718"/>
            <a:ext cx="2736304" cy="1651084"/>
            <a:chOff x="755576" y="2816225"/>
            <a:chExt cx="2736304" cy="1651084"/>
          </a:xfrm>
        </p:grpSpPr>
        <p:grpSp>
          <p:nvGrpSpPr>
            <p:cNvPr id="47" name="Agrupar 34">
              <a:extLst>
                <a:ext uri="{FF2B5EF4-FFF2-40B4-BE49-F238E27FC236}">
                  <a16:creationId xmlns:a16="http://schemas.microsoft.com/office/drawing/2014/main" id="{C985E88D-DAD4-458F-A3D7-7ACEB41F45E5}"/>
                </a:ext>
              </a:extLst>
            </p:cNvPr>
            <p:cNvGrpSpPr/>
            <p:nvPr/>
          </p:nvGrpSpPr>
          <p:grpSpPr>
            <a:xfrm>
              <a:off x="1265726" y="2902852"/>
              <a:ext cx="2203450" cy="1558925"/>
              <a:chOff x="793750" y="1155700"/>
              <a:chExt cx="2203450" cy="1558925"/>
            </a:xfrm>
          </p:grpSpPr>
          <p:cxnSp>
            <p:nvCxnSpPr>
              <p:cNvPr id="68" name="Conector recto de flecha 67">
                <a:extLst>
                  <a:ext uri="{FF2B5EF4-FFF2-40B4-BE49-F238E27FC236}">
                    <a16:creationId xmlns:a16="http://schemas.microsoft.com/office/drawing/2014/main" id="{690B2DCF-1783-4D2A-8850-AE09A20201C5}"/>
                  </a:ext>
                </a:extLst>
              </p:cNvPr>
              <p:cNvCxnSpPr/>
              <p:nvPr/>
            </p:nvCxnSpPr>
            <p:spPr>
              <a:xfrm flipV="1">
                <a:off x="793750" y="1155700"/>
                <a:ext cx="12700" cy="131445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69" name="Conector recto de flecha 68">
                <a:extLst>
                  <a:ext uri="{FF2B5EF4-FFF2-40B4-BE49-F238E27FC236}">
                    <a16:creationId xmlns:a16="http://schemas.microsoft.com/office/drawing/2014/main" id="{A73C8717-06F3-48AE-A506-A04253D08008}"/>
                  </a:ext>
                </a:extLst>
              </p:cNvPr>
              <p:cNvCxnSpPr/>
              <p:nvPr/>
            </p:nvCxnSpPr>
            <p:spPr>
              <a:xfrm>
                <a:off x="793750" y="2463800"/>
                <a:ext cx="2203450" cy="127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2" name="Conector recto 81">
                <a:extLst>
                  <a:ext uri="{FF2B5EF4-FFF2-40B4-BE49-F238E27FC236}">
                    <a16:creationId xmlns:a16="http://schemas.microsoft.com/office/drawing/2014/main" id="{5256627A-5A73-4ED0-8451-EE399CF9F9B1}"/>
                  </a:ext>
                </a:extLst>
              </p:cNvPr>
              <p:cNvCxnSpPr/>
              <p:nvPr/>
            </p:nvCxnSpPr>
            <p:spPr>
              <a:xfrm flipH="1">
                <a:off x="1771650" y="1279525"/>
                <a:ext cx="6350" cy="1435100"/>
              </a:xfrm>
              <a:prstGeom prst="line">
                <a:avLst/>
              </a:prstGeom>
              <a:ln w="19050" cmpd="sng">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grpSp>
          <p:nvGrpSpPr>
            <p:cNvPr id="8" name="Grupo 7">
              <a:extLst>
                <a:ext uri="{FF2B5EF4-FFF2-40B4-BE49-F238E27FC236}">
                  <a16:creationId xmlns:a16="http://schemas.microsoft.com/office/drawing/2014/main" id="{10913BC7-46CC-496D-A398-E458A7E03DE7}"/>
                </a:ext>
              </a:extLst>
            </p:cNvPr>
            <p:cNvGrpSpPr/>
            <p:nvPr/>
          </p:nvGrpSpPr>
          <p:grpSpPr>
            <a:xfrm>
              <a:off x="755576" y="2816225"/>
              <a:ext cx="2736304" cy="1651084"/>
              <a:chOff x="755576" y="2816225"/>
              <a:chExt cx="2736304" cy="1651084"/>
            </a:xfrm>
          </p:grpSpPr>
          <p:cxnSp>
            <p:nvCxnSpPr>
              <p:cNvPr id="36" name="Conector recto de flecha 35">
                <a:extLst>
                  <a:ext uri="{FF2B5EF4-FFF2-40B4-BE49-F238E27FC236}">
                    <a16:creationId xmlns:a16="http://schemas.microsoft.com/office/drawing/2014/main" id="{D846A904-8C7D-4103-964E-BE9B5067FF51}"/>
                  </a:ext>
                </a:extLst>
              </p:cNvPr>
              <p:cNvCxnSpPr/>
              <p:nvPr/>
            </p:nvCxnSpPr>
            <p:spPr>
              <a:xfrm flipV="1">
                <a:off x="2258697" y="3683000"/>
                <a:ext cx="1059" cy="239182"/>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7" name="Conector recto 36">
                <a:extLst>
                  <a:ext uri="{FF2B5EF4-FFF2-40B4-BE49-F238E27FC236}">
                    <a16:creationId xmlns:a16="http://schemas.microsoft.com/office/drawing/2014/main" id="{C097EFF9-E21B-4B34-B2A5-0B8042914202}"/>
                  </a:ext>
                </a:extLst>
              </p:cNvPr>
              <p:cNvCxnSpPr/>
              <p:nvPr/>
            </p:nvCxnSpPr>
            <p:spPr>
              <a:xfrm flipH="1">
                <a:off x="1600415" y="3017308"/>
                <a:ext cx="6350" cy="1435100"/>
              </a:xfrm>
              <a:prstGeom prst="line">
                <a:avLst/>
              </a:prstGeom>
              <a:ln w="19050" cmpd="sng">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38" name="Rectángulo 37">
                <a:extLst>
                  <a:ext uri="{FF2B5EF4-FFF2-40B4-BE49-F238E27FC236}">
                    <a16:creationId xmlns:a16="http://schemas.microsoft.com/office/drawing/2014/main" id="{8C68ADA8-285E-409F-A246-95E3740B71C7}"/>
                  </a:ext>
                </a:extLst>
              </p:cNvPr>
              <p:cNvSpPr/>
              <p:nvPr/>
            </p:nvSpPr>
            <p:spPr>
              <a:xfrm>
                <a:off x="1290323" y="3048000"/>
                <a:ext cx="299507" cy="952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20" name="CuadroTexto 119">
                <a:extLst>
                  <a:ext uri="{FF2B5EF4-FFF2-40B4-BE49-F238E27FC236}">
                    <a16:creationId xmlns:a16="http://schemas.microsoft.com/office/drawing/2014/main" id="{9680E1DB-1E06-4177-8C2E-ED54B93819D8}"/>
                  </a:ext>
                </a:extLst>
              </p:cNvPr>
              <p:cNvSpPr txBox="1"/>
              <p:nvPr/>
            </p:nvSpPr>
            <p:spPr>
              <a:xfrm>
                <a:off x="2545506" y="4197350"/>
                <a:ext cx="431800" cy="246221"/>
              </a:xfrm>
              <a:prstGeom prst="rect">
                <a:avLst/>
              </a:prstGeom>
              <a:noFill/>
            </p:spPr>
            <p:txBody>
              <a:bodyPr wrap="square" rtlCol="0">
                <a:spAutoFit/>
              </a:bodyPr>
              <a:lstStyle/>
              <a:p>
                <a:r>
                  <a:rPr lang="es-ES" sz="1000" dirty="0"/>
                  <a:t>hoy</a:t>
                </a:r>
              </a:p>
            </p:txBody>
          </p:sp>
          <p:cxnSp>
            <p:nvCxnSpPr>
              <p:cNvPr id="145" name="Conector recto 144">
                <a:extLst>
                  <a:ext uri="{FF2B5EF4-FFF2-40B4-BE49-F238E27FC236}">
                    <a16:creationId xmlns:a16="http://schemas.microsoft.com/office/drawing/2014/main" id="{F1DBBB8F-A9FC-4230-A99D-796E9F0D10FD}"/>
                  </a:ext>
                </a:extLst>
              </p:cNvPr>
              <p:cNvCxnSpPr/>
              <p:nvPr/>
            </p:nvCxnSpPr>
            <p:spPr>
              <a:xfrm flipV="1">
                <a:off x="1288206" y="3898900"/>
                <a:ext cx="981075" cy="295276"/>
              </a:xfrm>
              <a:prstGeom prst="line">
                <a:avLst/>
              </a:prstGeom>
              <a:ln>
                <a:solidFill>
                  <a:srgbClr val="007700"/>
                </a:solidFill>
              </a:ln>
            </p:spPr>
            <p:style>
              <a:lnRef idx="2">
                <a:schemeClr val="accent1"/>
              </a:lnRef>
              <a:fillRef idx="0">
                <a:schemeClr val="accent1"/>
              </a:fillRef>
              <a:effectRef idx="1">
                <a:schemeClr val="accent1"/>
              </a:effectRef>
              <a:fontRef idx="minor">
                <a:schemeClr val="tx1"/>
              </a:fontRef>
            </p:style>
          </p:cxnSp>
          <p:cxnSp>
            <p:nvCxnSpPr>
              <p:cNvPr id="146" name="Conector recto 145">
                <a:extLst>
                  <a:ext uri="{FF2B5EF4-FFF2-40B4-BE49-F238E27FC236}">
                    <a16:creationId xmlns:a16="http://schemas.microsoft.com/office/drawing/2014/main" id="{D4572051-7EA4-478E-9F50-DC867476BC2F}"/>
                  </a:ext>
                </a:extLst>
              </p:cNvPr>
              <p:cNvCxnSpPr/>
              <p:nvPr/>
            </p:nvCxnSpPr>
            <p:spPr>
              <a:xfrm flipV="1">
                <a:off x="1285031" y="3683000"/>
                <a:ext cx="981075" cy="504826"/>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47" name="Conector recto 146">
                <a:extLst>
                  <a:ext uri="{FF2B5EF4-FFF2-40B4-BE49-F238E27FC236}">
                    <a16:creationId xmlns:a16="http://schemas.microsoft.com/office/drawing/2014/main" id="{068D8BDB-4221-45C8-B083-5832A1ABC542}"/>
                  </a:ext>
                </a:extLst>
              </p:cNvPr>
              <p:cNvCxnSpPr/>
              <p:nvPr/>
            </p:nvCxnSpPr>
            <p:spPr>
              <a:xfrm flipV="1">
                <a:off x="1291381" y="2816225"/>
                <a:ext cx="1530350" cy="1362077"/>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48" name="Conector recto de flecha 147">
                <a:extLst>
                  <a:ext uri="{FF2B5EF4-FFF2-40B4-BE49-F238E27FC236}">
                    <a16:creationId xmlns:a16="http://schemas.microsoft.com/office/drawing/2014/main" id="{4E5021ED-2596-4524-8DCC-F474A565D671}"/>
                  </a:ext>
                </a:extLst>
              </p:cNvPr>
              <p:cNvCxnSpPr/>
              <p:nvPr/>
            </p:nvCxnSpPr>
            <p:spPr>
              <a:xfrm flipH="1">
                <a:off x="1589831" y="3895725"/>
                <a:ext cx="666752" cy="127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2" name="CuadroTexto 161">
                <a:extLst>
                  <a:ext uri="{FF2B5EF4-FFF2-40B4-BE49-F238E27FC236}">
                    <a16:creationId xmlns:a16="http://schemas.microsoft.com/office/drawing/2014/main" id="{00EFFE1B-EF94-4A52-B9DB-3836B0B9029B}"/>
                  </a:ext>
                </a:extLst>
              </p:cNvPr>
              <p:cNvSpPr txBox="1"/>
              <p:nvPr/>
            </p:nvSpPr>
            <p:spPr>
              <a:xfrm>
                <a:off x="1900462" y="3501008"/>
                <a:ext cx="295274" cy="276999"/>
              </a:xfrm>
              <a:prstGeom prst="rect">
                <a:avLst/>
              </a:prstGeom>
              <a:noFill/>
            </p:spPr>
            <p:txBody>
              <a:bodyPr wrap="none" rtlCol="0">
                <a:spAutoFit/>
              </a:bodyPr>
              <a:lstStyle/>
              <a:p>
                <a:r>
                  <a:rPr lang="es-ES" sz="1200" b="1">
                    <a:solidFill>
                      <a:srgbClr val="0000CC"/>
                    </a:solidFill>
                    <a:latin typeface="Arial" panose="020B0604020202020204" pitchFamily="34" charset="0"/>
                    <a:cs typeface="Arial" panose="020B0604020202020204" pitchFamily="34" charset="0"/>
                  </a:rPr>
                  <a:t>A</a:t>
                </a:r>
              </a:p>
            </p:txBody>
          </p:sp>
          <p:sp>
            <p:nvSpPr>
              <p:cNvPr id="168" name="CuadroTexto 167">
                <a:extLst>
                  <a:ext uri="{FF2B5EF4-FFF2-40B4-BE49-F238E27FC236}">
                    <a16:creationId xmlns:a16="http://schemas.microsoft.com/office/drawing/2014/main" id="{4AB0CCCD-FF4A-4EB8-B1AF-93355F3023A9}"/>
                  </a:ext>
                </a:extLst>
              </p:cNvPr>
              <p:cNvSpPr txBox="1"/>
              <p:nvPr/>
            </p:nvSpPr>
            <p:spPr>
              <a:xfrm>
                <a:off x="1907704" y="3933056"/>
                <a:ext cx="295274" cy="276999"/>
              </a:xfrm>
              <a:prstGeom prst="rect">
                <a:avLst/>
              </a:prstGeom>
              <a:noFill/>
            </p:spPr>
            <p:txBody>
              <a:bodyPr wrap="none" rtlCol="0">
                <a:spAutoFit/>
              </a:bodyPr>
              <a:lstStyle/>
              <a:p>
                <a:r>
                  <a:rPr lang="es-ES" sz="1200" b="1">
                    <a:solidFill>
                      <a:srgbClr val="006600"/>
                    </a:solidFill>
                    <a:latin typeface="Arial" panose="020B0604020202020204" pitchFamily="34" charset="0"/>
                    <a:cs typeface="Arial" panose="020B0604020202020204" pitchFamily="34" charset="0"/>
                  </a:rPr>
                  <a:t>E</a:t>
                </a:r>
              </a:p>
            </p:txBody>
          </p:sp>
          <p:sp>
            <p:nvSpPr>
              <p:cNvPr id="174" name="CuadroTexto 173">
                <a:extLst>
                  <a:ext uri="{FF2B5EF4-FFF2-40B4-BE49-F238E27FC236}">
                    <a16:creationId xmlns:a16="http://schemas.microsoft.com/office/drawing/2014/main" id="{A05DB477-CE4D-4E38-9B77-D0F9B66F75C6}"/>
                  </a:ext>
                </a:extLst>
              </p:cNvPr>
              <p:cNvSpPr txBox="1"/>
              <p:nvPr/>
            </p:nvSpPr>
            <p:spPr>
              <a:xfrm>
                <a:off x="2627784" y="2935977"/>
                <a:ext cx="227948" cy="276999"/>
              </a:xfrm>
              <a:prstGeom prst="rect">
                <a:avLst/>
              </a:prstGeom>
              <a:noFill/>
            </p:spPr>
            <p:txBody>
              <a:bodyPr wrap="none" rtlCol="0">
                <a:spAutoFit/>
              </a:bodyPr>
              <a:lstStyle/>
              <a:p>
                <a:r>
                  <a:rPr lang="es-ES" sz="1200" b="1">
                    <a:solidFill>
                      <a:schemeClr val="bg1">
                        <a:lumMod val="50000"/>
                      </a:schemeClr>
                    </a:solidFill>
                    <a:latin typeface="Arial" panose="020B0604020202020204" pitchFamily="34" charset="0"/>
                    <a:cs typeface="Arial" panose="020B0604020202020204" pitchFamily="34" charset="0"/>
                  </a:rPr>
                  <a:t>I</a:t>
                </a:r>
              </a:p>
            </p:txBody>
          </p:sp>
          <p:sp>
            <p:nvSpPr>
              <p:cNvPr id="183" name="CuadroTexto 182">
                <a:extLst>
                  <a:ext uri="{FF2B5EF4-FFF2-40B4-BE49-F238E27FC236}">
                    <a16:creationId xmlns:a16="http://schemas.microsoft.com/office/drawing/2014/main" id="{3E11F0C1-6CE3-466F-BFB3-D841F48DF67E}"/>
                  </a:ext>
                </a:extLst>
              </p:cNvPr>
              <p:cNvSpPr txBox="1"/>
              <p:nvPr/>
            </p:nvSpPr>
            <p:spPr>
              <a:xfrm>
                <a:off x="2924096" y="4221088"/>
                <a:ext cx="567784"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tiempo</a:t>
                </a:r>
              </a:p>
            </p:txBody>
          </p:sp>
          <p:sp>
            <p:nvSpPr>
              <p:cNvPr id="186" name="CuadroTexto 185">
                <a:extLst>
                  <a:ext uri="{FF2B5EF4-FFF2-40B4-BE49-F238E27FC236}">
                    <a16:creationId xmlns:a16="http://schemas.microsoft.com/office/drawing/2014/main" id="{ED5E9CFF-3C05-4588-9F12-BBD82DDCE304}"/>
                  </a:ext>
                </a:extLst>
              </p:cNvPr>
              <p:cNvSpPr txBox="1"/>
              <p:nvPr/>
            </p:nvSpPr>
            <p:spPr>
              <a:xfrm>
                <a:off x="755576" y="2996952"/>
                <a:ext cx="495649"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gasto</a:t>
                </a:r>
              </a:p>
            </p:txBody>
          </p:sp>
        </p:grpSp>
      </p:grpSp>
      <p:grpSp>
        <p:nvGrpSpPr>
          <p:cNvPr id="18" name="Grupo 17">
            <a:extLst>
              <a:ext uri="{FF2B5EF4-FFF2-40B4-BE49-F238E27FC236}">
                <a16:creationId xmlns:a16="http://schemas.microsoft.com/office/drawing/2014/main" id="{04537A70-C6AF-4784-8C42-96D14CE5D349}"/>
              </a:ext>
            </a:extLst>
          </p:cNvPr>
          <p:cNvGrpSpPr/>
          <p:nvPr/>
        </p:nvGrpSpPr>
        <p:grpSpPr>
          <a:xfrm>
            <a:off x="725519" y="5057405"/>
            <a:ext cx="2808312" cy="1662271"/>
            <a:chOff x="755576" y="4895850"/>
            <a:chExt cx="2808312" cy="1662271"/>
          </a:xfrm>
        </p:grpSpPr>
        <p:grpSp>
          <p:nvGrpSpPr>
            <p:cNvPr id="49" name="Agrupar 48">
              <a:extLst>
                <a:ext uri="{FF2B5EF4-FFF2-40B4-BE49-F238E27FC236}">
                  <a16:creationId xmlns:a16="http://schemas.microsoft.com/office/drawing/2014/main" id="{7C7A4FC9-D5EE-4D81-9472-BE2DC23A9F75}"/>
                </a:ext>
              </a:extLst>
            </p:cNvPr>
            <p:cNvGrpSpPr/>
            <p:nvPr/>
          </p:nvGrpSpPr>
          <p:grpSpPr>
            <a:xfrm>
              <a:off x="1265726" y="5004702"/>
              <a:ext cx="2203450" cy="1536700"/>
              <a:chOff x="793750" y="1155700"/>
              <a:chExt cx="2203450" cy="1536700"/>
            </a:xfrm>
          </p:grpSpPr>
          <p:cxnSp>
            <p:nvCxnSpPr>
              <p:cNvPr id="62" name="Conector recto de flecha 61">
                <a:extLst>
                  <a:ext uri="{FF2B5EF4-FFF2-40B4-BE49-F238E27FC236}">
                    <a16:creationId xmlns:a16="http://schemas.microsoft.com/office/drawing/2014/main" id="{D9777C21-0C34-46CE-BF3B-ED5A91C8858D}"/>
                  </a:ext>
                </a:extLst>
              </p:cNvPr>
              <p:cNvCxnSpPr/>
              <p:nvPr/>
            </p:nvCxnSpPr>
            <p:spPr>
              <a:xfrm flipV="1">
                <a:off x="793750" y="1155700"/>
                <a:ext cx="12700" cy="131445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63" name="Conector recto de flecha 62">
                <a:extLst>
                  <a:ext uri="{FF2B5EF4-FFF2-40B4-BE49-F238E27FC236}">
                    <a16:creationId xmlns:a16="http://schemas.microsoft.com/office/drawing/2014/main" id="{05281F05-5C1B-4653-9827-FB81756139F7}"/>
                  </a:ext>
                </a:extLst>
              </p:cNvPr>
              <p:cNvCxnSpPr/>
              <p:nvPr/>
            </p:nvCxnSpPr>
            <p:spPr>
              <a:xfrm>
                <a:off x="793750" y="2463800"/>
                <a:ext cx="2203450" cy="127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4" name="Conector recto 63">
                <a:extLst>
                  <a:ext uri="{FF2B5EF4-FFF2-40B4-BE49-F238E27FC236}">
                    <a16:creationId xmlns:a16="http://schemas.microsoft.com/office/drawing/2014/main" id="{12F0C1FD-4E2E-4841-87B4-2651596CBECC}"/>
                  </a:ext>
                </a:extLst>
              </p:cNvPr>
              <p:cNvCxnSpPr/>
              <p:nvPr/>
            </p:nvCxnSpPr>
            <p:spPr>
              <a:xfrm flipH="1">
                <a:off x="2076450" y="1257300"/>
                <a:ext cx="6350" cy="1435100"/>
              </a:xfrm>
              <a:prstGeom prst="line">
                <a:avLst/>
              </a:prstGeom>
              <a:ln w="19050" cmpd="sng">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grpSp>
          <p:nvGrpSpPr>
            <p:cNvPr id="12" name="Grupo 11">
              <a:extLst>
                <a:ext uri="{FF2B5EF4-FFF2-40B4-BE49-F238E27FC236}">
                  <a16:creationId xmlns:a16="http://schemas.microsoft.com/office/drawing/2014/main" id="{BF40F7E8-A3FE-48FE-938C-A57B238DD5C1}"/>
                </a:ext>
              </a:extLst>
            </p:cNvPr>
            <p:cNvGrpSpPr/>
            <p:nvPr/>
          </p:nvGrpSpPr>
          <p:grpSpPr>
            <a:xfrm>
              <a:off x="755576" y="4895850"/>
              <a:ext cx="2808312" cy="1662271"/>
              <a:chOff x="755576" y="4895850"/>
              <a:chExt cx="2808312" cy="1662271"/>
            </a:xfrm>
          </p:grpSpPr>
          <p:cxnSp>
            <p:nvCxnSpPr>
              <p:cNvPr id="42" name="Conector recto de flecha 41">
                <a:extLst>
                  <a:ext uri="{FF2B5EF4-FFF2-40B4-BE49-F238E27FC236}">
                    <a16:creationId xmlns:a16="http://schemas.microsoft.com/office/drawing/2014/main" id="{6294CDBF-9AF5-4741-91C2-C412407B9A58}"/>
                  </a:ext>
                </a:extLst>
              </p:cNvPr>
              <p:cNvCxnSpPr/>
              <p:nvPr/>
            </p:nvCxnSpPr>
            <p:spPr>
              <a:xfrm flipH="1">
                <a:off x="2021631" y="5651500"/>
                <a:ext cx="568325" cy="127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43" name="Conector recto 42">
                <a:extLst>
                  <a:ext uri="{FF2B5EF4-FFF2-40B4-BE49-F238E27FC236}">
                    <a16:creationId xmlns:a16="http://schemas.microsoft.com/office/drawing/2014/main" id="{95FB34B0-883F-4859-A615-1B6AC3208F1E}"/>
                  </a:ext>
                </a:extLst>
              </p:cNvPr>
              <p:cNvCxnSpPr/>
              <p:nvPr/>
            </p:nvCxnSpPr>
            <p:spPr>
              <a:xfrm flipH="1">
                <a:off x="2044915" y="5093758"/>
                <a:ext cx="6350" cy="1435100"/>
              </a:xfrm>
              <a:prstGeom prst="line">
                <a:avLst/>
              </a:prstGeom>
              <a:ln w="19050" cmpd="sng">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44" name="Rectángulo 43">
                <a:extLst>
                  <a:ext uri="{FF2B5EF4-FFF2-40B4-BE49-F238E27FC236}">
                    <a16:creationId xmlns:a16="http://schemas.microsoft.com/office/drawing/2014/main" id="{F4721227-21EC-4299-99A7-C3DDF03760DE}"/>
                  </a:ext>
                </a:extLst>
              </p:cNvPr>
              <p:cNvSpPr/>
              <p:nvPr/>
            </p:nvSpPr>
            <p:spPr>
              <a:xfrm>
                <a:off x="1296673" y="5168900"/>
                <a:ext cx="744007" cy="1079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18" name="CuadroTexto 117">
                <a:extLst>
                  <a:ext uri="{FF2B5EF4-FFF2-40B4-BE49-F238E27FC236}">
                    <a16:creationId xmlns:a16="http://schemas.microsoft.com/office/drawing/2014/main" id="{33B4504D-FB88-4A56-AE09-998E45E5D0A4}"/>
                  </a:ext>
                </a:extLst>
              </p:cNvPr>
              <p:cNvSpPr txBox="1"/>
              <p:nvPr/>
            </p:nvSpPr>
            <p:spPr>
              <a:xfrm>
                <a:off x="2558206" y="6311900"/>
                <a:ext cx="431800" cy="246221"/>
              </a:xfrm>
              <a:prstGeom prst="rect">
                <a:avLst/>
              </a:prstGeom>
              <a:noFill/>
            </p:spPr>
            <p:txBody>
              <a:bodyPr wrap="square" rtlCol="0">
                <a:spAutoFit/>
              </a:bodyPr>
              <a:lstStyle/>
              <a:p>
                <a:r>
                  <a:rPr lang="es-ES" sz="1000" dirty="0"/>
                  <a:t>hoy</a:t>
                </a:r>
              </a:p>
            </p:txBody>
          </p:sp>
          <p:cxnSp>
            <p:nvCxnSpPr>
              <p:cNvPr id="158" name="Conector recto 157">
                <a:extLst>
                  <a:ext uri="{FF2B5EF4-FFF2-40B4-BE49-F238E27FC236}">
                    <a16:creationId xmlns:a16="http://schemas.microsoft.com/office/drawing/2014/main" id="{5B018063-825C-4B16-BB6A-871DD43E45DA}"/>
                  </a:ext>
                </a:extLst>
              </p:cNvPr>
              <p:cNvCxnSpPr/>
              <p:nvPr/>
            </p:nvCxnSpPr>
            <p:spPr>
              <a:xfrm flipV="1">
                <a:off x="1281856" y="5978525"/>
                <a:ext cx="1276350" cy="320680"/>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59" name="Conector recto 158">
                <a:extLst>
                  <a:ext uri="{FF2B5EF4-FFF2-40B4-BE49-F238E27FC236}">
                    <a16:creationId xmlns:a16="http://schemas.microsoft.com/office/drawing/2014/main" id="{D5E64C33-FF1B-4FB1-8F4A-B6E873F8F4CA}"/>
                  </a:ext>
                </a:extLst>
              </p:cNvPr>
              <p:cNvCxnSpPr/>
              <p:nvPr/>
            </p:nvCxnSpPr>
            <p:spPr>
              <a:xfrm flipV="1">
                <a:off x="1285031" y="5664200"/>
                <a:ext cx="1289050" cy="625475"/>
              </a:xfrm>
              <a:prstGeom prst="line">
                <a:avLst/>
              </a:prstGeom>
              <a:ln>
                <a:solidFill>
                  <a:srgbClr val="007700"/>
                </a:solidFill>
              </a:ln>
            </p:spPr>
            <p:style>
              <a:lnRef idx="2">
                <a:schemeClr val="accent1"/>
              </a:lnRef>
              <a:fillRef idx="0">
                <a:schemeClr val="accent1"/>
              </a:fillRef>
              <a:effectRef idx="1">
                <a:schemeClr val="accent1"/>
              </a:effectRef>
              <a:fontRef idx="minor">
                <a:schemeClr val="tx1"/>
              </a:fontRef>
            </p:style>
          </p:cxnSp>
          <p:cxnSp>
            <p:nvCxnSpPr>
              <p:cNvPr id="160" name="Conector recto 159">
                <a:extLst>
                  <a:ext uri="{FF2B5EF4-FFF2-40B4-BE49-F238E27FC236}">
                    <a16:creationId xmlns:a16="http://schemas.microsoft.com/office/drawing/2014/main" id="{883E9007-4193-4D9B-A1C7-2BE06EABE019}"/>
                  </a:ext>
                </a:extLst>
              </p:cNvPr>
              <p:cNvCxnSpPr/>
              <p:nvPr/>
            </p:nvCxnSpPr>
            <p:spPr>
              <a:xfrm flipV="1">
                <a:off x="1323131" y="4895850"/>
                <a:ext cx="1577975" cy="1384306"/>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1" name="Conector recto de flecha 160">
                <a:extLst>
                  <a:ext uri="{FF2B5EF4-FFF2-40B4-BE49-F238E27FC236}">
                    <a16:creationId xmlns:a16="http://schemas.microsoft.com/office/drawing/2014/main" id="{B2A82B08-ABDD-448E-86B3-ED96D3049609}"/>
                  </a:ext>
                </a:extLst>
              </p:cNvPr>
              <p:cNvCxnSpPr/>
              <p:nvPr/>
            </p:nvCxnSpPr>
            <p:spPr>
              <a:xfrm flipH="1">
                <a:off x="2558207" y="5654675"/>
                <a:ext cx="6349" cy="32702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3" name="CuadroTexto 162">
                <a:extLst>
                  <a:ext uri="{FF2B5EF4-FFF2-40B4-BE49-F238E27FC236}">
                    <a16:creationId xmlns:a16="http://schemas.microsoft.com/office/drawing/2014/main" id="{DCE4FFAE-9774-496D-B2C5-75DA7A4CEE63}"/>
                  </a:ext>
                </a:extLst>
              </p:cNvPr>
              <p:cNvSpPr txBox="1"/>
              <p:nvPr/>
            </p:nvSpPr>
            <p:spPr>
              <a:xfrm>
                <a:off x="2188494" y="6032321"/>
                <a:ext cx="295274" cy="276999"/>
              </a:xfrm>
              <a:prstGeom prst="rect">
                <a:avLst/>
              </a:prstGeom>
              <a:noFill/>
            </p:spPr>
            <p:txBody>
              <a:bodyPr wrap="none" rtlCol="0">
                <a:spAutoFit/>
              </a:bodyPr>
              <a:lstStyle/>
              <a:p>
                <a:r>
                  <a:rPr lang="es-ES" sz="1200" b="1">
                    <a:solidFill>
                      <a:srgbClr val="0000CC"/>
                    </a:solidFill>
                    <a:latin typeface="Arial" panose="020B0604020202020204" pitchFamily="34" charset="0"/>
                    <a:cs typeface="Arial" panose="020B0604020202020204" pitchFamily="34" charset="0"/>
                  </a:rPr>
                  <a:t>A</a:t>
                </a:r>
              </a:p>
            </p:txBody>
          </p:sp>
          <p:sp>
            <p:nvSpPr>
              <p:cNvPr id="169" name="CuadroTexto 168">
                <a:extLst>
                  <a:ext uri="{FF2B5EF4-FFF2-40B4-BE49-F238E27FC236}">
                    <a16:creationId xmlns:a16="http://schemas.microsoft.com/office/drawing/2014/main" id="{A61CEE72-2F4D-47B0-9DC6-A8ABE3839609}"/>
                  </a:ext>
                </a:extLst>
              </p:cNvPr>
              <p:cNvSpPr txBox="1"/>
              <p:nvPr/>
            </p:nvSpPr>
            <p:spPr>
              <a:xfrm>
                <a:off x="2260502" y="5744289"/>
                <a:ext cx="295274" cy="276999"/>
              </a:xfrm>
              <a:prstGeom prst="rect">
                <a:avLst/>
              </a:prstGeom>
              <a:noFill/>
            </p:spPr>
            <p:txBody>
              <a:bodyPr wrap="none" rtlCol="0">
                <a:spAutoFit/>
              </a:bodyPr>
              <a:lstStyle/>
              <a:p>
                <a:r>
                  <a:rPr lang="es-ES" sz="1200" b="1">
                    <a:solidFill>
                      <a:srgbClr val="006600"/>
                    </a:solidFill>
                    <a:latin typeface="Arial" panose="020B0604020202020204" pitchFamily="34" charset="0"/>
                    <a:cs typeface="Arial" panose="020B0604020202020204" pitchFamily="34" charset="0"/>
                  </a:rPr>
                  <a:t>E</a:t>
                </a:r>
              </a:p>
            </p:txBody>
          </p:sp>
          <p:sp>
            <p:nvSpPr>
              <p:cNvPr id="175" name="CuadroTexto 174">
                <a:extLst>
                  <a:ext uri="{FF2B5EF4-FFF2-40B4-BE49-F238E27FC236}">
                    <a16:creationId xmlns:a16="http://schemas.microsoft.com/office/drawing/2014/main" id="{F4B6A360-68E1-4232-B1FB-7F30237959C9}"/>
                  </a:ext>
                </a:extLst>
              </p:cNvPr>
              <p:cNvSpPr txBox="1"/>
              <p:nvPr/>
            </p:nvSpPr>
            <p:spPr>
              <a:xfrm>
                <a:off x="2699792" y="5013176"/>
                <a:ext cx="227948" cy="276999"/>
              </a:xfrm>
              <a:prstGeom prst="rect">
                <a:avLst/>
              </a:prstGeom>
              <a:noFill/>
            </p:spPr>
            <p:txBody>
              <a:bodyPr wrap="none" rtlCol="0">
                <a:spAutoFit/>
              </a:bodyPr>
              <a:lstStyle/>
              <a:p>
                <a:r>
                  <a:rPr lang="es-ES" sz="1200" b="1">
                    <a:solidFill>
                      <a:schemeClr val="bg1">
                        <a:lumMod val="50000"/>
                      </a:schemeClr>
                    </a:solidFill>
                    <a:latin typeface="Arial" panose="020B0604020202020204" pitchFamily="34" charset="0"/>
                    <a:cs typeface="Arial" panose="020B0604020202020204" pitchFamily="34" charset="0"/>
                  </a:rPr>
                  <a:t>I</a:t>
                </a:r>
              </a:p>
            </p:txBody>
          </p:sp>
          <p:sp>
            <p:nvSpPr>
              <p:cNvPr id="184" name="CuadroTexto 183">
                <a:extLst>
                  <a:ext uri="{FF2B5EF4-FFF2-40B4-BE49-F238E27FC236}">
                    <a16:creationId xmlns:a16="http://schemas.microsoft.com/office/drawing/2014/main" id="{E07DD595-A978-4C88-AC40-1EFA7FEDC351}"/>
                  </a:ext>
                </a:extLst>
              </p:cNvPr>
              <p:cNvSpPr txBox="1"/>
              <p:nvPr/>
            </p:nvSpPr>
            <p:spPr>
              <a:xfrm>
                <a:off x="2996104" y="6309320"/>
                <a:ext cx="567784"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tiempo</a:t>
                </a:r>
              </a:p>
            </p:txBody>
          </p:sp>
          <p:sp>
            <p:nvSpPr>
              <p:cNvPr id="187" name="CuadroTexto 186">
                <a:extLst>
                  <a:ext uri="{FF2B5EF4-FFF2-40B4-BE49-F238E27FC236}">
                    <a16:creationId xmlns:a16="http://schemas.microsoft.com/office/drawing/2014/main" id="{7E28F3B2-C0F4-439C-AA56-720BD6BF65A0}"/>
                  </a:ext>
                </a:extLst>
              </p:cNvPr>
              <p:cNvSpPr txBox="1"/>
              <p:nvPr/>
            </p:nvSpPr>
            <p:spPr>
              <a:xfrm>
                <a:off x="755576" y="5157192"/>
                <a:ext cx="495649"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gasto</a:t>
                </a:r>
              </a:p>
            </p:txBody>
          </p:sp>
        </p:grpSp>
      </p:grpSp>
      <p:grpSp>
        <p:nvGrpSpPr>
          <p:cNvPr id="15" name="Grupo 14">
            <a:extLst>
              <a:ext uri="{FF2B5EF4-FFF2-40B4-BE49-F238E27FC236}">
                <a16:creationId xmlns:a16="http://schemas.microsoft.com/office/drawing/2014/main" id="{125518EA-0BA8-4F7F-9686-FD6125174E2C}"/>
              </a:ext>
            </a:extLst>
          </p:cNvPr>
          <p:cNvGrpSpPr/>
          <p:nvPr/>
        </p:nvGrpSpPr>
        <p:grpSpPr>
          <a:xfrm>
            <a:off x="769714" y="3105053"/>
            <a:ext cx="2744558" cy="1611971"/>
            <a:chOff x="3788319" y="5074552"/>
            <a:chExt cx="2744558" cy="1611971"/>
          </a:xfrm>
        </p:grpSpPr>
        <p:grpSp>
          <p:nvGrpSpPr>
            <p:cNvPr id="50" name="Agrupar 55">
              <a:extLst>
                <a:ext uri="{FF2B5EF4-FFF2-40B4-BE49-F238E27FC236}">
                  <a16:creationId xmlns:a16="http://schemas.microsoft.com/office/drawing/2014/main" id="{97C1FED8-AF71-4377-A5C1-23630888F1A2}"/>
                </a:ext>
              </a:extLst>
            </p:cNvPr>
            <p:cNvGrpSpPr/>
            <p:nvPr/>
          </p:nvGrpSpPr>
          <p:grpSpPr>
            <a:xfrm>
              <a:off x="4250226" y="5074552"/>
              <a:ext cx="2203450" cy="1435100"/>
              <a:chOff x="793750" y="1136650"/>
              <a:chExt cx="2203450" cy="1435100"/>
            </a:xfrm>
          </p:grpSpPr>
          <p:cxnSp>
            <p:nvCxnSpPr>
              <p:cNvPr id="59" name="Conector recto de flecha 58">
                <a:extLst>
                  <a:ext uri="{FF2B5EF4-FFF2-40B4-BE49-F238E27FC236}">
                    <a16:creationId xmlns:a16="http://schemas.microsoft.com/office/drawing/2014/main" id="{152C4BA5-05C7-4184-BB10-9E5B8FA2A8D5}"/>
                  </a:ext>
                </a:extLst>
              </p:cNvPr>
              <p:cNvCxnSpPr/>
              <p:nvPr/>
            </p:nvCxnSpPr>
            <p:spPr>
              <a:xfrm flipV="1">
                <a:off x="793750" y="1155700"/>
                <a:ext cx="12700" cy="131445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60" name="Conector recto de flecha 59">
                <a:extLst>
                  <a:ext uri="{FF2B5EF4-FFF2-40B4-BE49-F238E27FC236}">
                    <a16:creationId xmlns:a16="http://schemas.microsoft.com/office/drawing/2014/main" id="{E26AE61A-ED0E-4BC4-A7CE-54218185D3C8}"/>
                  </a:ext>
                </a:extLst>
              </p:cNvPr>
              <p:cNvCxnSpPr/>
              <p:nvPr/>
            </p:nvCxnSpPr>
            <p:spPr>
              <a:xfrm>
                <a:off x="793750" y="2463800"/>
                <a:ext cx="2203450" cy="127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1" name="Conector recto 60">
                <a:extLst>
                  <a:ext uri="{FF2B5EF4-FFF2-40B4-BE49-F238E27FC236}">
                    <a16:creationId xmlns:a16="http://schemas.microsoft.com/office/drawing/2014/main" id="{720348CE-DDE8-4720-8ADD-DCE9F9B43BD9}"/>
                  </a:ext>
                </a:extLst>
              </p:cNvPr>
              <p:cNvCxnSpPr/>
              <p:nvPr/>
            </p:nvCxnSpPr>
            <p:spPr>
              <a:xfrm flipH="1">
                <a:off x="1157817" y="1136650"/>
                <a:ext cx="6350" cy="1435100"/>
              </a:xfrm>
              <a:prstGeom prst="line">
                <a:avLst/>
              </a:prstGeom>
              <a:ln w="19050" cmpd="sng">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grpSp>
          <p:nvGrpSpPr>
            <p:cNvPr id="11" name="Grupo 10">
              <a:extLst>
                <a:ext uri="{FF2B5EF4-FFF2-40B4-BE49-F238E27FC236}">
                  <a16:creationId xmlns:a16="http://schemas.microsoft.com/office/drawing/2014/main" id="{2D68FA56-C346-4801-8795-C048253847A8}"/>
                </a:ext>
              </a:extLst>
            </p:cNvPr>
            <p:cNvGrpSpPr/>
            <p:nvPr/>
          </p:nvGrpSpPr>
          <p:grpSpPr>
            <a:xfrm>
              <a:off x="3788319" y="5081058"/>
              <a:ext cx="2744558" cy="1605465"/>
              <a:chOff x="3788319" y="5081058"/>
              <a:chExt cx="2744558" cy="1605465"/>
            </a:xfrm>
          </p:grpSpPr>
          <p:sp>
            <p:nvSpPr>
              <p:cNvPr id="117" name="CuadroTexto 116">
                <a:extLst>
                  <a:ext uri="{FF2B5EF4-FFF2-40B4-BE49-F238E27FC236}">
                    <a16:creationId xmlns:a16="http://schemas.microsoft.com/office/drawing/2014/main" id="{19DFA24D-86C9-45B0-88BB-71F6FAF6499C}"/>
                  </a:ext>
                </a:extLst>
              </p:cNvPr>
              <p:cNvSpPr txBox="1"/>
              <p:nvPr/>
            </p:nvSpPr>
            <p:spPr>
              <a:xfrm>
                <a:off x="4583856" y="6369050"/>
                <a:ext cx="431800" cy="246221"/>
              </a:xfrm>
              <a:prstGeom prst="rect">
                <a:avLst/>
              </a:prstGeom>
              <a:noFill/>
            </p:spPr>
            <p:txBody>
              <a:bodyPr wrap="square" rtlCol="0">
                <a:spAutoFit/>
              </a:bodyPr>
              <a:lstStyle/>
              <a:p>
                <a:r>
                  <a:rPr lang="es-ES" sz="1000" dirty="0"/>
                  <a:t>hoy</a:t>
                </a:r>
              </a:p>
            </p:txBody>
          </p:sp>
          <p:cxnSp>
            <p:nvCxnSpPr>
              <p:cNvPr id="123" name="Conector recto 122">
                <a:extLst>
                  <a:ext uri="{FF2B5EF4-FFF2-40B4-BE49-F238E27FC236}">
                    <a16:creationId xmlns:a16="http://schemas.microsoft.com/office/drawing/2014/main" id="{70FA88C2-D041-439E-9479-A5DCE2024A2F}"/>
                  </a:ext>
                </a:extLst>
              </p:cNvPr>
              <p:cNvCxnSpPr/>
              <p:nvPr/>
            </p:nvCxnSpPr>
            <p:spPr>
              <a:xfrm flipH="1">
                <a:off x="5292940" y="5081058"/>
                <a:ext cx="6350" cy="1435100"/>
              </a:xfrm>
              <a:prstGeom prst="line">
                <a:avLst/>
              </a:prstGeom>
              <a:ln w="19050" cmpd="sng">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124" name="Rectángulo 123">
                <a:extLst>
                  <a:ext uri="{FF2B5EF4-FFF2-40B4-BE49-F238E27FC236}">
                    <a16:creationId xmlns:a16="http://schemas.microsoft.com/office/drawing/2014/main" id="{65BB20BB-3D5E-470D-8CE8-35523E64E7E5}"/>
                  </a:ext>
                </a:extLst>
              </p:cNvPr>
              <p:cNvSpPr/>
              <p:nvPr/>
            </p:nvSpPr>
            <p:spPr>
              <a:xfrm>
                <a:off x="4287524" y="5168900"/>
                <a:ext cx="1001182" cy="114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cxnSp>
            <p:nvCxnSpPr>
              <p:cNvPr id="153" name="Conector recto 152">
                <a:extLst>
                  <a:ext uri="{FF2B5EF4-FFF2-40B4-BE49-F238E27FC236}">
                    <a16:creationId xmlns:a16="http://schemas.microsoft.com/office/drawing/2014/main" id="{2D35D3C1-80E8-4218-A85E-1B8E28D64342}"/>
                  </a:ext>
                </a:extLst>
              </p:cNvPr>
              <p:cNvCxnSpPr/>
              <p:nvPr/>
            </p:nvCxnSpPr>
            <p:spPr>
              <a:xfrm flipV="1">
                <a:off x="4269531" y="5768976"/>
                <a:ext cx="346075" cy="606424"/>
              </a:xfrm>
              <a:prstGeom prst="line">
                <a:avLst/>
              </a:prstGeom>
              <a:ln>
                <a:solidFill>
                  <a:srgbClr val="007700"/>
                </a:solidFill>
              </a:ln>
            </p:spPr>
            <p:style>
              <a:lnRef idx="2">
                <a:schemeClr val="accent1"/>
              </a:lnRef>
              <a:fillRef idx="0">
                <a:schemeClr val="accent1"/>
              </a:fillRef>
              <a:effectRef idx="1">
                <a:schemeClr val="accent1"/>
              </a:effectRef>
              <a:fontRef idx="minor">
                <a:schemeClr val="tx1"/>
              </a:fontRef>
            </p:style>
          </p:cxnSp>
          <p:cxnSp>
            <p:nvCxnSpPr>
              <p:cNvPr id="154" name="Conector recto 153">
                <a:extLst>
                  <a:ext uri="{FF2B5EF4-FFF2-40B4-BE49-F238E27FC236}">
                    <a16:creationId xmlns:a16="http://schemas.microsoft.com/office/drawing/2014/main" id="{29E33CFD-5AEE-4C8A-B99A-8B37DA4148C4}"/>
                  </a:ext>
                </a:extLst>
              </p:cNvPr>
              <p:cNvCxnSpPr/>
              <p:nvPr/>
            </p:nvCxnSpPr>
            <p:spPr>
              <a:xfrm flipV="1">
                <a:off x="4272706" y="6280150"/>
                <a:ext cx="355600" cy="92080"/>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55" name="Conector recto 154">
                <a:extLst>
                  <a:ext uri="{FF2B5EF4-FFF2-40B4-BE49-F238E27FC236}">
                    <a16:creationId xmlns:a16="http://schemas.microsoft.com/office/drawing/2014/main" id="{354B0F1A-9E9D-4B66-A591-BC1DA2B0E36A}"/>
                  </a:ext>
                </a:extLst>
              </p:cNvPr>
              <p:cNvCxnSpPr/>
              <p:nvPr/>
            </p:nvCxnSpPr>
            <p:spPr>
              <a:xfrm flipV="1">
                <a:off x="4272706" y="5384800"/>
                <a:ext cx="1704975" cy="977906"/>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56" name="Conector recto de flecha 155">
                <a:extLst>
                  <a:ext uri="{FF2B5EF4-FFF2-40B4-BE49-F238E27FC236}">
                    <a16:creationId xmlns:a16="http://schemas.microsoft.com/office/drawing/2014/main" id="{BF4074C5-9FFF-4728-A8C2-11DD832175D8}"/>
                  </a:ext>
                </a:extLst>
              </p:cNvPr>
              <p:cNvCxnSpPr/>
              <p:nvPr/>
            </p:nvCxnSpPr>
            <p:spPr>
              <a:xfrm>
                <a:off x="4624073" y="5774269"/>
                <a:ext cx="677333" cy="1056"/>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57" name="Conector recto de flecha 156">
                <a:extLst>
                  <a:ext uri="{FF2B5EF4-FFF2-40B4-BE49-F238E27FC236}">
                    <a16:creationId xmlns:a16="http://schemas.microsoft.com/office/drawing/2014/main" id="{CB516F29-6B12-4DD4-A1E8-1AD5D94F9F6A}"/>
                  </a:ext>
                </a:extLst>
              </p:cNvPr>
              <p:cNvCxnSpPr/>
              <p:nvPr/>
            </p:nvCxnSpPr>
            <p:spPr>
              <a:xfrm flipH="1">
                <a:off x="4612431" y="5773207"/>
                <a:ext cx="3175" cy="51011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4" name="CuadroTexto 163">
                <a:extLst>
                  <a:ext uri="{FF2B5EF4-FFF2-40B4-BE49-F238E27FC236}">
                    <a16:creationId xmlns:a16="http://schemas.microsoft.com/office/drawing/2014/main" id="{933CDA34-DAFA-4F4C-832C-A2163BEA4AD6}"/>
                  </a:ext>
                </a:extLst>
              </p:cNvPr>
              <p:cNvSpPr txBox="1"/>
              <p:nvPr/>
            </p:nvSpPr>
            <p:spPr>
              <a:xfrm>
                <a:off x="4636766" y="6165304"/>
                <a:ext cx="295274" cy="276999"/>
              </a:xfrm>
              <a:prstGeom prst="rect">
                <a:avLst/>
              </a:prstGeom>
              <a:noFill/>
            </p:spPr>
            <p:txBody>
              <a:bodyPr wrap="none" rtlCol="0">
                <a:spAutoFit/>
              </a:bodyPr>
              <a:lstStyle/>
              <a:p>
                <a:r>
                  <a:rPr lang="es-ES" sz="1200" b="1">
                    <a:solidFill>
                      <a:srgbClr val="0000CC"/>
                    </a:solidFill>
                    <a:latin typeface="Arial" panose="020B0604020202020204" pitchFamily="34" charset="0"/>
                    <a:cs typeface="Arial" panose="020B0604020202020204" pitchFamily="34" charset="0"/>
                  </a:rPr>
                  <a:t>A</a:t>
                </a:r>
              </a:p>
            </p:txBody>
          </p:sp>
          <p:sp>
            <p:nvSpPr>
              <p:cNvPr id="170" name="CuadroTexto 169">
                <a:extLst>
                  <a:ext uri="{FF2B5EF4-FFF2-40B4-BE49-F238E27FC236}">
                    <a16:creationId xmlns:a16="http://schemas.microsoft.com/office/drawing/2014/main" id="{FFE2510F-A14F-43F9-9162-CD1903DF0450}"/>
                  </a:ext>
                </a:extLst>
              </p:cNvPr>
              <p:cNvSpPr txBox="1"/>
              <p:nvPr/>
            </p:nvSpPr>
            <p:spPr>
              <a:xfrm>
                <a:off x="4283968" y="5733256"/>
                <a:ext cx="295274" cy="276999"/>
              </a:xfrm>
              <a:prstGeom prst="rect">
                <a:avLst/>
              </a:prstGeom>
              <a:noFill/>
            </p:spPr>
            <p:txBody>
              <a:bodyPr wrap="none" rtlCol="0">
                <a:spAutoFit/>
              </a:bodyPr>
              <a:lstStyle/>
              <a:p>
                <a:r>
                  <a:rPr lang="es-ES" sz="1200" b="1">
                    <a:solidFill>
                      <a:srgbClr val="006600"/>
                    </a:solidFill>
                    <a:latin typeface="Arial" panose="020B0604020202020204" pitchFamily="34" charset="0"/>
                    <a:cs typeface="Arial" panose="020B0604020202020204" pitchFamily="34" charset="0"/>
                  </a:rPr>
                  <a:t>E</a:t>
                </a:r>
              </a:p>
            </p:txBody>
          </p:sp>
          <p:sp>
            <p:nvSpPr>
              <p:cNvPr id="176" name="CuadroTexto 175">
                <a:extLst>
                  <a:ext uri="{FF2B5EF4-FFF2-40B4-BE49-F238E27FC236}">
                    <a16:creationId xmlns:a16="http://schemas.microsoft.com/office/drawing/2014/main" id="{5532EF1E-6FE3-4FC0-B8B3-7FE938A71E59}"/>
                  </a:ext>
                </a:extLst>
              </p:cNvPr>
              <p:cNvSpPr txBox="1"/>
              <p:nvPr/>
            </p:nvSpPr>
            <p:spPr>
              <a:xfrm>
                <a:off x="5712204" y="5528265"/>
                <a:ext cx="227948" cy="276999"/>
              </a:xfrm>
              <a:prstGeom prst="rect">
                <a:avLst/>
              </a:prstGeom>
              <a:noFill/>
            </p:spPr>
            <p:txBody>
              <a:bodyPr wrap="none" rtlCol="0">
                <a:spAutoFit/>
              </a:bodyPr>
              <a:lstStyle/>
              <a:p>
                <a:r>
                  <a:rPr lang="es-ES" sz="1200" b="1">
                    <a:solidFill>
                      <a:schemeClr val="bg1">
                        <a:lumMod val="50000"/>
                      </a:schemeClr>
                    </a:solidFill>
                    <a:latin typeface="Arial" panose="020B0604020202020204" pitchFamily="34" charset="0"/>
                    <a:cs typeface="Arial" panose="020B0604020202020204" pitchFamily="34" charset="0"/>
                  </a:rPr>
                  <a:t>I</a:t>
                </a:r>
              </a:p>
            </p:txBody>
          </p:sp>
          <p:sp>
            <p:nvSpPr>
              <p:cNvPr id="179" name="CuadroTexto 178">
                <a:extLst>
                  <a:ext uri="{FF2B5EF4-FFF2-40B4-BE49-F238E27FC236}">
                    <a16:creationId xmlns:a16="http://schemas.microsoft.com/office/drawing/2014/main" id="{5BBE7460-BA46-4C40-8D12-834AC6236502}"/>
                  </a:ext>
                </a:extLst>
              </p:cNvPr>
              <p:cNvSpPr txBox="1"/>
              <p:nvPr/>
            </p:nvSpPr>
            <p:spPr>
              <a:xfrm>
                <a:off x="5965093" y="6440302"/>
                <a:ext cx="567784"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tiempo</a:t>
                </a:r>
              </a:p>
            </p:txBody>
          </p:sp>
          <p:sp>
            <p:nvSpPr>
              <p:cNvPr id="188" name="CuadroTexto 187">
                <a:extLst>
                  <a:ext uri="{FF2B5EF4-FFF2-40B4-BE49-F238E27FC236}">
                    <a16:creationId xmlns:a16="http://schemas.microsoft.com/office/drawing/2014/main" id="{1EAAA116-22F1-4F36-BE79-A79A0BC44EC7}"/>
                  </a:ext>
                </a:extLst>
              </p:cNvPr>
              <p:cNvSpPr txBox="1"/>
              <p:nvPr/>
            </p:nvSpPr>
            <p:spPr>
              <a:xfrm>
                <a:off x="3788319" y="5199003"/>
                <a:ext cx="495649"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gasto</a:t>
                </a:r>
              </a:p>
            </p:txBody>
          </p:sp>
        </p:grpSp>
      </p:grpSp>
      <p:grpSp>
        <p:nvGrpSpPr>
          <p:cNvPr id="13" name="Grupo 12">
            <a:extLst>
              <a:ext uri="{FF2B5EF4-FFF2-40B4-BE49-F238E27FC236}">
                <a16:creationId xmlns:a16="http://schemas.microsoft.com/office/drawing/2014/main" id="{CE8EF2AC-A28F-4EB3-B599-28AE4706714C}"/>
              </a:ext>
            </a:extLst>
          </p:cNvPr>
          <p:cNvGrpSpPr/>
          <p:nvPr/>
        </p:nvGrpSpPr>
        <p:grpSpPr>
          <a:xfrm>
            <a:off x="755576" y="1590203"/>
            <a:ext cx="2842294" cy="1550765"/>
            <a:chOff x="3779912" y="1188352"/>
            <a:chExt cx="2842294" cy="1550765"/>
          </a:xfrm>
        </p:grpSpPr>
        <p:grpSp>
          <p:nvGrpSpPr>
            <p:cNvPr id="46" name="Agrupar 27">
              <a:extLst>
                <a:ext uri="{FF2B5EF4-FFF2-40B4-BE49-F238E27FC236}">
                  <a16:creationId xmlns:a16="http://schemas.microsoft.com/office/drawing/2014/main" id="{FCE3427F-50F4-49DE-A571-235716203FD9}"/>
                </a:ext>
              </a:extLst>
            </p:cNvPr>
            <p:cNvGrpSpPr/>
            <p:nvPr/>
          </p:nvGrpSpPr>
          <p:grpSpPr>
            <a:xfrm>
              <a:off x="4250226" y="1188352"/>
              <a:ext cx="2203450" cy="1543050"/>
              <a:chOff x="793750" y="1155700"/>
              <a:chExt cx="2203450" cy="1543050"/>
            </a:xfrm>
          </p:grpSpPr>
          <p:cxnSp>
            <p:nvCxnSpPr>
              <p:cNvPr id="83" name="Conector recto de flecha 82">
                <a:extLst>
                  <a:ext uri="{FF2B5EF4-FFF2-40B4-BE49-F238E27FC236}">
                    <a16:creationId xmlns:a16="http://schemas.microsoft.com/office/drawing/2014/main" id="{0E5D62C8-B49F-4410-98B1-F2937EDF5563}"/>
                  </a:ext>
                </a:extLst>
              </p:cNvPr>
              <p:cNvCxnSpPr/>
              <p:nvPr/>
            </p:nvCxnSpPr>
            <p:spPr>
              <a:xfrm flipV="1">
                <a:off x="793750" y="1155700"/>
                <a:ext cx="12700" cy="131445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84" name="Conector recto de flecha 83">
                <a:extLst>
                  <a:ext uri="{FF2B5EF4-FFF2-40B4-BE49-F238E27FC236}">
                    <a16:creationId xmlns:a16="http://schemas.microsoft.com/office/drawing/2014/main" id="{566D81B5-6E8B-44ED-8829-CD2FF2CB6E43}"/>
                  </a:ext>
                </a:extLst>
              </p:cNvPr>
              <p:cNvCxnSpPr/>
              <p:nvPr/>
            </p:nvCxnSpPr>
            <p:spPr>
              <a:xfrm>
                <a:off x="793750" y="2463800"/>
                <a:ext cx="2203450" cy="127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5" name="Conector recto 84">
                <a:extLst>
                  <a:ext uri="{FF2B5EF4-FFF2-40B4-BE49-F238E27FC236}">
                    <a16:creationId xmlns:a16="http://schemas.microsoft.com/office/drawing/2014/main" id="{67B8784D-8C75-496C-AF6B-B6DE486D16B0}"/>
                  </a:ext>
                </a:extLst>
              </p:cNvPr>
              <p:cNvCxnSpPr/>
              <p:nvPr/>
            </p:nvCxnSpPr>
            <p:spPr>
              <a:xfrm flipH="1">
                <a:off x="2317750" y="1263650"/>
                <a:ext cx="6350" cy="1435100"/>
              </a:xfrm>
              <a:prstGeom prst="line">
                <a:avLst/>
              </a:prstGeom>
              <a:ln w="19050" cmpd="sng">
                <a:solidFill>
                  <a:srgbClr val="953735"/>
                </a:solidFill>
                <a:prstDash val="dash"/>
              </a:ln>
            </p:spPr>
            <p:style>
              <a:lnRef idx="2">
                <a:schemeClr val="accent1"/>
              </a:lnRef>
              <a:fillRef idx="0">
                <a:schemeClr val="accent1"/>
              </a:fillRef>
              <a:effectRef idx="1">
                <a:schemeClr val="accent1"/>
              </a:effectRef>
              <a:fontRef idx="minor">
                <a:schemeClr val="tx1"/>
              </a:fontRef>
            </p:style>
          </p:cxnSp>
        </p:grpSp>
        <p:grpSp>
          <p:nvGrpSpPr>
            <p:cNvPr id="9" name="Grupo 8">
              <a:extLst>
                <a:ext uri="{FF2B5EF4-FFF2-40B4-BE49-F238E27FC236}">
                  <a16:creationId xmlns:a16="http://schemas.microsoft.com/office/drawing/2014/main" id="{77234EF0-0B46-45E3-B8D7-5BE3C2B9330A}"/>
                </a:ext>
              </a:extLst>
            </p:cNvPr>
            <p:cNvGrpSpPr/>
            <p:nvPr/>
          </p:nvGrpSpPr>
          <p:grpSpPr>
            <a:xfrm>
              <a:off x="3779912" y="1238563"/>
              <a:ext cx="2842294" cy="1500554"/>
              <a:chOff x="3779912" y="1238563"/>
              <a:chExt cx="2842294" cy="1500554"/>
            </a:xfrm>
          </p:grpSpPr>
          <p:cxnSp>
            <p:nvCxnSpPr>
              <p:cNvPr id="34" name="Conector recto 33">
                <a:extLst>
                  <a:ext uri="{FF2B5EF4-FFF2-40B4-BE49-F238E27FC236}">
                    <a16:creationId xmlns:a16="http://schemas.microsoft.com/office/drawing/2014/main" id="{FAE8EEFE-A51E-4637-BCBF-E7D25FC71E06}"/>
                  </a:ext>
                </a:extLst>
              </p:cNvPr>
              <p:cNvCxnSpPr/>
              <p:nvPr/>
            </p:nvCxnSpPr>
            <p:spPr>
              <a:xfrm flipH="1">
                <a:off x="4598673" y="1262592"/>
                <a:ext cx="6350" cy="1435100"/>
              </a:xfrm>
              <a:prstGeom prst="line">
                <a:avLst/>
              </a:prstGeom>
              <a:ln w="19050" cmpd="sng">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sp>
            <p:nvSpPr>
              <p:cNvPr id="35" name="Rectángulo 34">
                <a:extLst>
                  <a:ext uri="{FF2B5EF4-FFF2-40B4-BE49-F238E27FC236}">
                    <a16:creationId xmlns:a16="http://schemas.microsoft.com/office/drawing/2014/main" id="{85F74B70-943C-4DA6-897A-4DBB49C260C3}"/>
                  </a:ext>
                </a:extLst>
              </p:cNvPr>
              <p:cNvSpPr/>
              <p:nvPr/>
            </p:nvSpPr>
            <p:spPr>
              <a:xfrm>
                <a:off x="4287524" y="1295401"/>
                <a:ext cx="1490132" cy="7937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21" name="CuadroTexto 120">
                <a:extLst>
                  <a:ext uri="{FF2B5EF4-FFF2-40B4-BE49-F238E27FC236}">
                    <a16:creationId xmlns:a16="http://schemas.microsoft.com/office/drawing/2014/main" id="{361D6300-C999-4519-BF7C-724084BA2DD5}"/>
                  </a:ext>
                </a:extLst>
              </p:cNvPr>
              <p:cNvSpPr txBox="1"/>
              <p:nvPr/>
            </p:nvSpPr>
            <p:spPr>
              <a:xfrm>
                <a:off x="4520356" y="2476500"/>
                <a:ext cx="431800" cy="246221"/>
              </a:xfrm>
              <a:prstGeom prst="rect">
                <a:avLst/>
              </a:prstGeom>
              <a:noFill/>
            </p:spPr>
            <p:txBody>
              <a:bodyPr wrap="square" rtlCol="0">
                <a:spAutoFit/>
              </a:bodyPr>
              <a:lstStyle/>
              <a:p>
                <a:r>
                  <a:rPr lang="es-ES" sz="1000" dirty="0"/>
                  <a:t>hoy</a:t>
                </a:r>
              </a:p>
            </p:txBody>
          </p:sp>
          <p:cxnSp>
            <p:nvCxnSpPr>
              <p:cNvPr id="140" name="Conector recto 139">
                <a:extLst>
                  <a:ext uri="{FF2B5EF4-FFF2-40B4-BE49-F238E27FC236}">
                    <a16:creationId xmlns:a16="http://schemas.microsoft.com/office/drawing/2014/main" id="{C5F6AD29-7B07-4FDC-B81A-72D86A1E0930}"/>
                  </a:ext>
                </a:extLst>
              </p:cNvPr>
              <p:cNvCxnSpPr/>
              <p:nvPr/>
            </p:nvCxnSpPr>
            <p:spPr>
              <a:xfrm flipV="1">
                <a:off x="4256831" y="1851025"/>
                <a:ext cx="355600" cy="635000"/>
              </a:xfrm>
              <a:prstGeom prst="line">
                <a:avLst/>
              </a:prstGeom>
              <a:ln>
                <a:solidFill>
                  <a:srgbClr val="007700"/>
                </a:solidFill>
              </a:ln>
            </p:spPr>
            <p:style>
              <a:lnRef idx="2">
                <a:schemeClr val="accent1"/>
              </a:lnRef>
              <a:fillRef idx="0">
                <a:schemeClr val="accent1"/>
              </a:fillRef>
              <a:effectRef idx="1">
                <a:schemeClr val="accent1"/>
              </a:effectRef>
              <a:fontRef idx="minor">
                <a:schemeClr val="tx1"/>
              </a:fontRef>
            </p:style>
          </p:cxnSp>
          <p:cxnSp>
            <p:nvCxnSpPr>
              <p:cNvPr id="141" name="Conector recto de flecha 140">
                <a:extLst>
                  <a:ext uri="{FF2B5EF4-FFF2-40B4-BE49-F238E27FC236}">
                    <a16:creationId xmlns:a16="http://schemas.microsoft.com/office/drawing/2014/main" id="{950E6BF0-53E6-4AC9-B331-09BA8877EB51}"/>
                  </a:ext>
                </a:extLst>
              </p:cNvPr>
              <p:cNvCxnSpPr/>
              <p:nvPr/>
            </p:nvCxnSpPr>
            <p:spPr>
              <a:xfrm flipH="1">
                <a:off x="4609256" y="1858432"/>
                <a:ext cx="1057" cy="20531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2" name="Conector recto 141">
                <a:extLst>
                  <a:ext uri="{FF2B5EF4-FFF2-40B4-BE49-F238E27FC236}">
                    <a16:creationId xmlns:a16="http://schemas.microsoft.com/office/drawing/2014/main" id="{62D6ABB9-0F66-44D2-9C38-4878766797F5}"/>
                  </a:ext>
                </a:extLst>
              </p:cNvPr>
              <p:cNvCxnSpPr/>
              <p:nvPr/>
            </p:nvCxnSpPr>
            <p:spPr>
              <a:xfrm flipV="1">
                <a:off x="4263181" y="2057400"/>
                <a:ext cx="355600" cy="431801"/>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43" name="Conector recto 142">
                <a:extLst>
                  <a:ext uri="{FF2B5EF4-FFF2-40B4-BE49-F238E27FC236}">
                    <a16:creationId xmlns:a16="http://schemas.microsoft.com/office/drawing/2014/main" id="{8AF24CE6-59D8-44D2-AD48-CA336F35404D}"/>
                  </a:ext>
                </a:extLst>
              </p:cNvPr>
              <p:cNvCxnSpPr/>
              <p:nvPr/>
            </p:nvCxnSpPr>
            <p:spPr>
              <a:xfrm flipV="1">
                <a:off x="4266356" y="1536700"/>
                <a:ext cx="2355850" cy="942977"/>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44" name="Conector recto de flecha 143">
                <a:extLst>
                  <a:ext uri="{FF2B5EF4-FFF2-40B4-BE49-F238E27FC236}">
                    <a16:creationId xmlns:a16="http://schemas.microsoft.com/office/drawing/2014/main" id="{4A9F7CD3-8C70-4D18-934F-7F9EA72C0992}"/>
                  </a:ext>
                </a:extLst>
              </p:cNvPr>
              <p:cNvCxnSpPr/>
              <p:nvPr/>
            </p:nvCxnSpPr>
            <p:spPr>
              <a:xfrm flipV="1">
                <a:off x="4616665" y="1857375"/>
                <a:ext cx="1180041" cy="211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6" name="CuadroTexto 165">
                <a:extLst>
                  <a:ext uri="{FF2B5EF4-FFF2-40B4-BE49-F238E27FC236}">
                    <a16:creationId xmlns:a16="http://schemas.microsoft.com/office/drawing/2014/main" id="{DC98D253-7367-4845-93B8-9642712006C3}"/>
                  </a:ext>
                </a:extLst>
              </p:cNvPr>
              <p:cNvSpPr txBox="1"/>
              <p:nvPr/>
            </p:nvSpPr>
            <p:spPr>
              <a:xfrm>
                <a:off x="4572000" y="1927865"/>
                <a:ext cx="295274" cy="276999"/>
              </a:xfrm>
              <a:prstGeom prst="rect">
                <a:avLst/>
              </a:prstGeom>
              <a:noFill/>
            </p:spPr>
            <p:txBody>
              <a:bodyPr wrap="none" rtlCol="0">
                <a:spAutoFit/>
              </a:bodyPr>
              <a:lstStyle/>
              <a:p>
                <a:r>
                  <a:rPr lang="es-ES" sz="1200" b="1">
                    <a:solidFill>
                      <a:srgbClr val="0000CC"/>
                    </a:solidFill>
                    <a:latin typeface="Arial" panose="020B0604020202020204" pitchFamily="34" charset="0"/>
                    <a:cs typeface="Arial" panose="020B0604020202020204" pitchFamily="34" charset="0"/>
                  </a:rPr>
                  <a:t>A</a:t>
                </a:r>
              </a:p>
            </p:txBody>
          </p:sp>
          <p:sp>
            <p:nvSpPr>
              <p:cNvPr id="172" name="CuadroTexto 171">
                <a:extLst>
                  <a:ext uri="{FF2B5EF4-FFF2-40B4-BE49-F238E27FC236}">
                    <a16:creationId xmlns:a16="http://schemas.microsoft.com/office/drawing/2014/main" id="{CAEAEEE4-2319-4F2A-AD7C-AFF74853BE19}"/>
                  </a:ext>
                </a:extLst>
              </p:cNvPr>
              <p:cNvSpPr txBox="1"/>
              <p:nvPr/>
            </p:nvSpPr>
            <p:spPr>
              <a:xfrm>
                <a:off x="4276726" y="1772816"/>
                <a:ext cx="295274" cy="276999"/>
              </a:xfrm>
              <a:prstGeom prst="rect">
                <a:avLst/>
              </a:prstGeom>
              <a:noFill/>
            </p:spPr>
            <p:txBody>
              <a:bodyPr wrap="none" rtlCol="0">
                <a:spAutoFit/>
              </a:bodyPr>
              <a:lstStyle/>
              <a:p>
                <a:r>
                  <a:rPr lang="es-ES" sz="1200" b="1">
                    <a:solidFill>
                      <a:srgbClr val="006600"/>
                    </a:solidFill>
                    <a:latin typeface="Arial" panose="020B0604020202020204" pitchFamily="34" charset="0"/>
                    <a:cs typeface="Arial" panose="020B0604020202020204" pitchFamily="34" charset="0"/>
                  </a:rPr>
                  <a:t>E</a:t>
                </a:r>
              </a:p>
            </p:txBody>
          </p:sp>
          <p:sp>
            <p:nvSpPr>
              <p:cNvPr id="178" name="CuadroTexto 177">
                <a:extLst>
                  <a:ext uri="{FF2B5EF4-FFF2-40B4-BE49-F238E27FC236}">
                    <a16:creationId xmlns:a16="http://schemas.microsoft.com/office/drawing/2014/main" id="{5A3FA5FD-2BDB-4CF3-A721-A3F07B9E9F58}"/>
                  </a:ext>
                </a:extLst>
              </p:cNvPr>
              <p:cNvSpPr txBox="1"/>
              <p:nvPr/>
            </p:nvSpPr>
            <p:spPr>
              <a:xfrm>
                <a:off x="6152636" y="1628800"/>
                <a:ext cx="227948" cy="276999"/>
              </a:xfrm>
              <a:prstGeom prst="rect">
                <a:avLst/>
              </a:prstGeom>
              <a:noFill/>
            </p:spPr>
            <p:txBody>
              <a:bodyPr wrap="none" rtlCol="0">
                <a:spAutoFit/>
              </a:bodyPr>
              <a:lstStyle/>
              <a:p>
                <a:r>
                  <a:rPr lang="es-ES" sz="1200" b="1">
                    <a:solidFill>
                      <a:schemeClr val="bg1">
                        <a:lumMod val="50000"/>
                      </a:schemeClr>
                    </a:solidFill>
                    <a:latin typeface="Arial" panose="020B0604020202020204" pitchFamily="34" charset="0"/>
                    <a:cs typeface="Arial" panose="020B0604020202020204" pitchFamily="34" charset="0"/>
                  </a:rPr>
                  <a:t>I</a:t>
                </a:r>
              </a:p>
            </p:txBody>
          </p:sp>
          <p:sp>
            <p:nvSpPr>
              <p:cNvPr id="181" name="CuadroTexto 180">
                <a:extLst>
                  <a:ext uri="{FF2B5EF4-FFF2-40B4-BE49-F238E27FC236}">
                    <a16:creationId xmlns:a16="http://schemas.microsoft.com/office/drawing/2014/main" id="{468DFD52-896F-4784-9873-557E568792C4}"/>
                  </a:ext>
                </a:extLst>
              </p:cNvPr>
              <p:cNvSpPr txBox="1"/>
              <p:nvPr/>
            </p:nvSpPr>
            <p:spPr>
              <a:xfrm>
                <a:off x="6012160" y="2492896"/>
                <a:ext cx="567784"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tiempo</a:t>
                </a:r>
              </a:p>
            </p:txBody>
          </p:sp>
          <p:sp>
            <p:nvSpPr>
              <p:cNvPr id="190" name="CuadroTexto 189">
                <a:extLst>
                  <a:ext uri="{FF2B5EF4-FFF2-40B4-BE49-F238E27FC236}">
                    <a16:creationId xmlns:a16="http://schemas.microsoft.com/office/drawing/2014/main" id="{C28A0F6C-F4E4-4BBC-BD4A-70B70BA5B488}"/>
                  </a:ext>
                </a:extLst>
              </p:cNvPr>
              <p:cNvSpPr txBox="1"/>
              <p:nvPr/>
            </p:nvSpPr>
            <p:spPr>
              <a:xfrm>
                <a:off x="3779912" y="1238563"/>
                <a:ext cx="495649"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gasto</a:t>
                </a:r>
              </a:p>
            </p:txBody>
          </p:sp>
        </p:grpSp>
      </p:grpSp>
      <p:grpSp>
        <p:nvGrpSpPr>
          <p:cNvPr id="214" name="Grupo 213">
            <a:extLst>
              <a:ext uri="{FF2B5EF4-FFF2-40B4-BE49-F238E27FC236}">
                <a16:creationId xmlns:a16="http://schemas.microsoft.com/office/drawing/2014/main" id="{6EEF0A4B-A530-44D0-8B62-0477D17C8BB7}"/>
              </a:ext>
            </a:extLst>
          </p:cNvPr>
          <p:cNvGrpSpPr/>
          <p:nvPr/>
        </p:nvGrpSpPr>
        <p:grpSpPr>
          <a:xfrm>
            <a:off x="4064620" y="3359693"/>
            <a:ext cx="2706153" cy="1593241"/>
            <a:chOff x="8884754" y="3416849"/>
            <a:chExt cx="2706153" cy="1593241"/>
          </a:xfrm>
        </p:grpSpPr>
        <p:grpSp>
          <p:nvGrpSpPr>
            <p:cNvPr id="193" name="Agrupar 20">
              <a:extLst>
                <a:ext uri="{FF2B5EF4-FFF2-40B4-BE49-F238E27FC236}">
                  <a16:creationId xmlns:a16="http://schemas.microsoft.com/office/drawing/2014/main" id="{206A9BDC-D132-440F-9652-DCBA9B455EA2}"/>
                </a:ext>
              </a:extLst>
            </p:cNvPr>
            <p:cNvGrpSpPr/>
            <p:nvPr/>
          </p:nvGrpSpPr>
          <p:grpSpPr>
            <a:xfrm>
              <a:off x="9360333" y="3421225"/>
              <a:ext cx="2203450" cy="1583267"/>
              <a:chOff x="793750" y="1155700"/>
              <a:chExt cx="2203450" cy="1583267"/>
            </a:xfrm>
          </p:grpSpPr>
          <p:cxnSp>
            <p:nvCxnSpPr>
              <p:cNvPr id="208" name="Conector recto de flecha 207">
                <a:extLst>
                  <a:ext uri="{FF2B5EF4-FFF2-40B4-BE49-F238E27FC236}">
                    <a16:creationId xmlns:a16="http://schemas.microsoft.com/office/drawing/2014/main" id="{C566D195-FB05-4E11-8C44-A6DE958DF92B}"/>
                  </a:ext>
                </a:extLst>
              </p:cNvPr>
              <p:cNvCxnSpPr/>
              <p:nvPr/>
            </p:nvCxnSpPr>
            <p:spPr>
              <a:xfrm flipV="1">
                <a:off x="793750" y="1155700"/>
                <a:ext cx="12700" cy="131445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09" name="Conector recto de flecha 208">
                <a:extLst>
                  <a:ext uri="{FF2B5EF4-FFF2-40B4-BE49-F238E27FC236}">
                    <a16:creationId xmlns:a16="http://schemas.microsoft.com/office/drawing/2014/main" id="{A9890F74-727F-4149-B200-F867624518F1}"/>
                  </a:ext>
                </a:extLst>
              </p:cNvPr>
              <p:cNvCxnSpPr/>
              <p:nvPr/>
            </p:nvCxnSpPr>
            <p:spPr>
              <a:xfrm>
                <a:off x="793750" y="2463800"/>
                <a:ext cx="2203450" cy="127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10" name="Conector recto 209">
                <a:extLst>
                  <a:ext uri="{FF2B5EF4-FFF2-40B4-BE49-F238E27FC236}">
                    <a16:creationId xmlns:a16="http://schemas.microsoft.com/office/drawing/2014/main" id="{BE1189C2-3CC6-4EBE-AEE9-94ACA8BE0465}"/>
                  </a:ext>
                </a:extLst>
              </p:cNvPr>
              <p:cNvCxnSpPr/>
              <p:nvPr/>
            </p:nvCxnSpPr>
            <p:spPr>
              <a:xfrm flipH="1">
                <a:off x="1339850" y="1303867"/>
                <a:ext cx="6350" cy="1435100"/>
              </a:xfrm>
              <a:prstGeom prst="line">
                <a:avLst/>
              </a:prstGeom>
              <a:ln w="19050" cmpd="sng">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cxnSp>
          <p:nvCxnSpPr>
            <p:cNvPr id="195" name="Conector recto 194">
              <a:extLst>
                <a:ext uri="{FF2B5EF4-FFF2-40B4-BE49-F238E27FC236}">
                  <a16:creationId xmlns:a16="http://schemas.microsoft.com/office/drawing/2014/main" id="{86D62F2F-8575-4230-8B4E-A5AC30368002}"/>
                </a:ext>
              </a:extLst>
            </p:cNvPr>
            <p:cNvCxnSpPr/>
            <p:nvPr/>
          </p:nvCxnSpPr>
          <p:spPr>
            <a:xfrm flipH="1">
              <a:off x="10676097" y="3507106"/>
              <a:ext cx="6350" cy="1435100"/>
            </a:xfrm>
            <a:prstGeom prst="line">
              <a:avLst/>
            </a:prstGeom>
            <a:ln w="19050" cmpd="sng">
              <a:solidFill>
                <a:schemeClr val="accent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196" name="Rectángulo 195">
              <a:extLst>
                <a:ext uri="{FF2B5EF4-FFF2-40B4-BE49-F238E27FC236}">
                  <a16:creationId xmlns:a16="http://schemas.microsoft.com/office/drawing/2014/main" id="{64971E07-D4E0-42E3-86F2-09DDB773C9FF}"/>
                </a:ext>
              </a:extLst>
            </p:cNvPr>
            <p:cNvSpPr/>
            <p:nvPr/>
          </p:nvSpPr>
          <p:spPr>
            <a:xfrm>
              <a:off x="9378581" y="3566373"/>
              <a:ext cx="1295400" cy="8043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97" name="CuadroTexto 196">
              <a:extLst>
                <a:ext uri="{FF2B5EF4-FFF2-40B4-BE49-F238E27FC236}">
                  <a16:creationId xmlns:a16="http://schemas.microsoft.com/office/drawing/2014/main" id="{4F9E9F1E-1F9F-48BE-AE74-E62CC7A4577C}"/>
                </a:ext>
              </a:extLst>
            </p:cNvPr>
            <p:cNvSpPr txBox="1"/>
            <p:nvPr/>
          </p:nvSpPr>
          <p:spPr>
            <a:xfrm>
              <a:off x="9636813" y="4741123"/>
              <a:ext cx="431800" cy="246221"/>
            </a:xfrm>
            <a:prstGeom prst="rect">
              <a:avLst/>
            </a:prstGeom>
            <a:noFill/>
          </p:spPr>
          <p:txBody>
            <a:bodyPr wrap="square" rtlCol="0">
              <a:spAutoFit/>
            </a:bodyPr>
            <a:lstStyle/>
            <a:p>
              <a:r>
                <a:rPr lang="es-ES" sz="1000" dirty="0"/>
                <a:t>hoy</a:t>
              </a:r>
            </a:p>
          </p:txBody>
        </p:sp>
        <p:cxnSp>
          <p:nvCxnSpPr>
            <p:cNvPr id="198" name="Conector recto 197">
              <a:extLst>
                <a:ext uri="{FF2B5EF4-FFF2-40B4-BE49-F238E27FC236}">
                  <a16:creationId xmlns:a16="http://schemas.microsoft.com/office/drawing/2014/main" id="{E82186B7-4FE3-476A-AD52-BC9A1A147FDB}"/>
                </a:ext>
              </a:extLst>
            </p:cNvPr>
            <p:cNvCxnSpPr/>
            <p:nvPr/>
          </p:nvCxnSpPr>
          <p:spPr>
            <a:xfrm flipV="1">
              <a:off x="9376463" y="4137873"/>
              <a:ext cx="536575" cy="574675"/>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99" name="Conector recto 198">
              <a:extLst>
                <a:ext uri="{FF2B5EF4-FFF2-40B4-BE49-F238E27FC236}">
                  <a16:creationId xmlns:a16="http://schemas.microsoft.com/office/drawing/2014/main" id="{2E1466C2-A180-4F5C-B180-5CCF5D8CA733}"/>
                </a:ext>
              </a:extLst>
            </p:cNvPr>
            <p:cNvCxnSpPr>
              <a:cxnSpLocks/>
            </p:cNvCxnSpPr>
            <p:nvPr/>
          </p:nvCxnSpPr>
          <p:spPr>
            <a:xfrm flipV="1">
              <a:off x="9414563" y="4557424"/>
              <a:ext cx="491615" cy="132899"/>
            </a:xfrm>
            <a:prstGeom prst="line">
              <a:avLst/>
            </a:prstGeom>
            <a:ln>
              <a:solidFill>
                <a:srgbClr val="007700"/>
              </a:solidFill>
            </a:ln>
          </p:spPr>
          <p:style>
            <a:lnRef idx="2">
              <a:schemeClr val="accent1"/>
            </a:lnRef>
            <a:fillRef idx="0">
              <a:schemeClr val="accent1"/>
            </a:fillRef>
            <a:effectRef idx="1">
              <a:schemeClr val="accent1"/>
            </a:effectRef>
            <a:fontRef idx="minor">
              <a:schemeClr val="tx1"/>
            </a:fontRef>
          </p:style>
        </p:cxnSp>
        <p:cxnSp>
          <p:nvCxnSpPr>
            <p:cNvPr id="200" name="Conector recto 199">
              <a:extLst>
                <a:ext uri="{FF2B5EF4-FFF2-40B4-BE49-F238E27FC236}">
                  <a16:creationId xmlns:a16="http://schemas.microsoft.com/office/drawing/2014/main" id="{158F4E16-4547-43CF-B46A-F0071BFCA337}"/>
                </a:ext>
              </a:extLst>
            </p:cNvPr>
            <p:cNvCxnSpPr>
              <a:cxnSpLocks/>
            </p:cNvCxnSpPr>
            <p:nvPr/>
          </p:nvCxnSpPr>
          <p:spPr>
            <a:xfrm flipV="1">
              <a:off x="9385988" y="3950135"/>
              <a:ext cx="1384626" cy="756064"/>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01" name="Conector recto de flecha 200">
              <a:extLst>
                <a:ext uri="{FF2B5EF4-FFF2-40B4-BE49-F238E27FC236}">
                  <a16:creationId xmlns:a16="http://schemas.microsoft.com/office/drawing/2014/main" id="{E1D31E39-B1DE-4BCD-B887-55A0246FF6FE}"/>
                </a:ext>
              </a:extLst>
            </p:cNvPr>
            <p:cNvCxnSpPr>
              <a:cxnSpLocks/>
            </p:cNvCxnSpPr>
            <p:nvPr/>
          </p:nvCxnSpPr>
          <p:spPr>
            <a:xfrm flipH="1">
              <a:off x="9663937" y="4557424"/>
              <a:ext cx="227479" cy="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02" name="Conector recto de flecha 201">
              <a:extLst>
                <a:ext uri="{FF2B5EF4-FFF2-40B4-BE49-F238E27FC236}">
                  <a16:creationId xmlns:a16="http://schemas.microsoft.com/office/drawing/2014/main" id="{71583D56-A885-4F3A-9E89-6AD7031A250D}"/>
                </a:ext>
              </a:extLst>
            </p:cNvPr>
            <p:cNvCxnSpPr>
              <a:cxnSpLocks/>
            </p:cNvCxnSpPr>
            <p:nvPr/>
          </p:nvCxnSpPr>
          <p:spPr>
            <a:xfrm flipV="1">
              <a:off x="9906105" y="4123055"/>
              <a:ext cx="5875" cy="44269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03" name="CuadroTexto 202">
              <a:extLst>
                <a:ext uri="{FF2B5EF4-FFF2-40B4-BE49-F238E27FC236}">
                  <a16:creationId xmlns:a16="http://schemas.microsoft.com/office/drawing/2014/main" id="{43357008-218A-41BB-93A7-95FCF7648645}"/>
                </a:ext>
              </a:extLst>
            </p:cNvPr>
            <p:cNvSpPr txBox="1"/>
            <p:nvPr/>
          </p:nvSpPr>
          <p:spPr>
            <a:xfrm>
              <a:off x="9494375" y="4082410"/>
              <a:ext cx="295274" cy="276999"/>
            </a:xfrm>
            <a:prstGeom prst="rect">
              <a:avLst/>
            </a:prstGeom>
            <a:noFill/>
          </p:spPr>
          <p:txBody>
            <a:bodyPr wrap="none" rtlCol="0">
              <a:spAutoFit/>
            </a:bodyPr>
            <a:lstStyle/>
            <a:p>
              <a:r>
                <a:rPr lang="es-ES" sz="1200" b="1">
                  <a:solidFill>
                    <a:srgbClr val="0000CC"/>
                  </a:solidFill>
                  <a:latin typeface="Arial" panose="020B0604020202020204" pitchFamily="34" charset="0"/>
                  <a:cs typeface="Arial" panose="020B0604020202020204" pitchFamily="34" charset="0"/>
                </a:rPr>
                <a:t>A</a:t>
              </a:r>
            </a:p>
          </p:txBody>
        </p:sp>
        <p:sp>
          <p:nvSpPr>
            <p:cNvPr id="204" name="CuadroTexto 203">
              <a:extLst>
                <a:ext uri="{FF2B5EF4-FFF2-40B4-BE49-F238E27FC236}">
                  <a16:creationId xmlns:a16="http://schemas.microsoft.com/office/drawing/2014/main" id="{A5CD7E81-0AA9-4756-80CB-E879E30186AE}"/>
                </a:ext>
              </a:extLst>
            </p:cNvPr>
            <p:cNvSpPr txBox="1"/>
            <p:nvPr/>
          </p:nvSpPr>
          <p:spPr>
            <a:xfrm>
              <a:off x="9891416" y="4288753"/>
              <a:ext cx="295274" cy="276999"/>
            </a:xfrm>
            <a:prstGeom prst="rect">
              <a:avLst/>
            </a:prstGeom>
            <a:noFill/>
          </p:spPr>
          <p:txBody>
            <a:bodyPr wrap="none" rtlCol="0">
              <a:spAutoFit/>
            </a:bodyPr>
            <a:lstStyle/>
            <a:p>
              <a:r>
                <a:rPr lang="es-ES" sz="1200" b="1">
                  <a:solidFill>
                    <a:srgbClr val="006600"/>
                  </a:solidFill>
                  <a:latin typeface="Arial" panose="020B0604020202020204" pitchFamily="34" charset="0"/>
                  <a:cs typeface="Arial" panose="020B0604020202020204" pitchFamily="34" charset="0"/>
                </a:rPr>
                <a:t>E</a:t>
              </a:r>
            </a:p>
          </p:txBody>
        </p:sp>
        <p:sp>
          <p:nvSpPr>
            <p:cNvPr id="205" name="CuadroTexto 204">
              <a:extLst>
                <a:ext uri="{FF2B5EF4-FFF2-40B4-BE49-F238E27FC236}">
                  <a16:creationId xmlns:a16="http://schemas.microsoft.com/office/drawing/2014/main" id="{0162CD68-045E-444E-9B50-7CE163F402D9}"/>
                </a:ext>
              </a:extLst>
            </p:cNvPr>
            <p:cNvSpPr txBox="1"/>
            <p:nvPr/>
          </p:nvSpPr>
          <p:spPr>
            <a:xfrm>
              <a:off x="10770614" y="4320788"/>
              <a:ext cx="227948" cy="276999"/>
            </a:xfrm>
            <a:prstGeom prst="rect">
              <a:avLst/>
            </a:prstGeom>
            <a:noFill/>
          </p:spPr>
          <p:txBody>
            <a:bodyPr wrap="none" rtlCol="0">
              <a:spAutoFit/>
            </a:bodyPr>
            <a:lstStyle/>
            <a:p>
              <a:r>
                <a:rPr lang="es-ES" sz="1200" b="1">
                  <a:solidFill>
                    <a:schemeClr val="bg1">
                      <a:lumMod val="50000"/>
                    </a:schemeClr>
                  </a:solidFill>
                  <a:latin typeface="Arial" panose="020B0604020202020204" pitchFamily="34" charset="0"/>
                  <a:cs typeface="Arial" panose="020B0604020202020204" pitchFamily="34" charset="0"/>
                </a:rPr>
                <a:t>I</a:t>
              </a:r>
            </a:p>
          </p:txBody>
        </p:sp>
        <p:sp>
          <p:nvSpPr>
            <p:cNvPr id="206" name="CuadroTexto 205">
              <a:extLst>
                <a:ext uri="{FF2B5EF4-FFF2-40B4-BE49-F238E27FC236}">
                  <a16:creationId xmlns:a16="http://schemas.microsoft.com/office/drawing/2014/main" id="{5EDA6814-BF81-48AE-962A-44D09302ADDC}"/>
                </a:ext>
              </a:extLst>
            </p:cNvPr>
            <p:cNvSpPr txBox="1"/>
            <p:nvPr/>
          </p:nvSpPr>
          <p:spPr>
            <a:xfrm>
              <a:off x="11023123" y="4763869"/>
              <a:ext cx="567784"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tiempo</a:t>
              </a:r>
            </a:p>
          </p:txBody>
        </p:sp>
        <p:sp>
          <p:nvSpPr>
            <p:cNvPr id="207" name="CuadroTexto 206">
              <a:extLst>
                <a:ext uri="{FF2B5EF4-FFF2-40B4-BE49-F238E27FC236}">
                  <a16:creationId xmlns:a16="http://schemas.microsoft.com/office/drawing/2014/main" id="{6303E1BC-77AF-4D1B-9694-B0A33522E7DF}"/>
                </a:ext>
              </a:extLst>
            </p:cNvPr>
            <p:cNvSpPr txBox="1"/>
            <p:nvPr/>
          </p:nvSpPr>
          <p:spPr>
            <a:xfrm>
              <a:off x="8884754" y="3416849"/>
              <a:ext cx="495649" cy="246221"/>
            </a:xfrm>
            <a:prstGeom prst="rect">
              <a:avLst/>
            </a:prstGeom>
            <a:noFill/>
          </p:spPr>
          <p:txBody>
            <a:bodyPr wrap="none" rtlCol="0">
              <a:spAutoFit/>
            </a:bodyPr>
            <a:lstStyle/>
            <a:p>
              <a:r>
                <a:rPr lang="es-ES" sz="1000">
                  <a:latin typeface="Arial" panose="020B0604020202020204" pitchFamily="34" charset="0"/>
                  <a:cs typeface="Arial" panose="020B0604020202020204" pitchFamily="34" charset="0"/>
                </a:rPr>
                <a:t>gasto</a:t>
              </a:r>
            </a:p>
          </p:txBody>
        </p:sp>
      </p:grpSp>
      <p:sp>
        <p:nvSpPr>
          <p:cNvPr id="215" name="CuadroTexto 214">
            <a:extLst>
              <a:ext uri="{FF2B5EF4-FFF2-40B4-BE49-F238E27FC236}">
                <a16:creationId xmlns:a16="http://schemas.microsoft.com/office/drawing/2014/main" id="{480BB0AC-C928-4C9D-BBE7-350D0A472238}"/>
              </a:ext>
            </a:extLst>
          </p:cNvPr>
          <p:cNvSpPr txBox="1"/>
          <p:nvPr/>
        </p:nvSpPr>
        <p:spPr>
          <a:xfrm>
            <a:off x="827584" y="1196752"/>
            <a:ext cx="3138423" cy="369332"/>
          </a:xfrm>
          <a:prstGeom prst="rect">
            <a:avLst/>
          </a:prstGeom>
          <a:noFill/>
        </p:spPr>
        <p:txBody>
          <a:bodyPr wrap="none" rtlCol="0">
            <a:spAutoFit/>
          </a:bodyPr>
          <a:lstStyle/>
          <a:p>
            <a:r>
              <a:rPr lang="es-ES" b="1">
                <a:latin typeface="Arial" panose="020B0604020202020204" pitchFamily="34" charset="0"/>
                <a:cs typeface="Arial" panose="020B0604020202020204" pitchFamily="34" charset="0"/>
              </a:rPr>
              <a:t>Avanzado, debajo de coste</a:t>
            </a:r>
          </a:p>
        </p:txBody>
      </p:sp>
      <p:sp>
        <p:nvSpPr>
          <p:cNvPr id="216" name="Rectángulo 215">
            <a:extLst>
              <a:ext uri="{FF2B5EF4-FFF2-40B4-BE49-F238E27FC236}">
                <a16:creationId xmlns:a16="http://schemas.microsoft.com/office/drawing/2014/main" id="{F5DC0A16-BCAF-4ED9-885E-37A36727EE2D}"/>
              </a:ext>
            </a:extLst>
          </p:cNvPr>
          <p:cNvSpPr/>
          <p:nvPr/>
        </p:nvSpPr>
        <p:spPr>
          <a:xfrm>
            <a:off x="733116" y="1146035"/>
            <a:ext cx="3255630" cy="36181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8" name="Rectángulo 217">
            <a:extLst>
              <a:ext uri="{FF2B5EF4-FFF2-40B4-BE49-F238E27FC236}">
                <a16:creationId xmlns:a16="http://schemas.microsoft.com/office/drawing/2014/main" id="{FC4E7C80-B922-4B81-8CF8-9EFBFAB57FC3}"/>
              </a:ext>
            </a:extLst>
          </p:cNvPr>
          <p:cNvSpPr/>
          <p:nvPr/>
        </p:nvSpPr>
        <p:spPr>
          <a:xfrm>
            <a:off x="3992152" y="1120401"/>
            <a:ext cx="3255630" cy="2193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9" name="CuadroTexto 218">
            <a:extLst>
              <a:ext uri="{FF2B5EF4-FFF2-40B4-BE49-F238E27FC236}">
                <a16:creationId xmlns:a16="http://schemas.microsoft.com/office/drawing/2014/main" id="{90064161-F2CC-4A91-A1EB-2CC36C5FE173}"/>
              </a:ext>
            </a:extLst>
          </p:cNvPr>
          <p:cNvSpPr txBox="1"/>
          <p:nvPr/>
        </p:nvSpPr>
        <p:spPr>
          <a:xfrm>
            <a:off x="4166275" y="1220871"/>
            <a:ext cx="2625462" cy="369332"/>
          </a:xfrm>
          <a:prstGeom prst="rect">
            <a:avLst/>
          </a:prstGeom>
          <a:noFill/>
        </p:spPr>
        <p:txBody>
          <a:bodyPr wrap="none" rtlCol="0">
            <a:spAutoFit/>
          </a:bodyPr>
          <a:lstStyle/>
          <a:p>
            <a:r>
              <a:rPr lang="es-ES" b="1">
                <a:latin typeface="Arial" panose="020B0604020202020204" pitchFamily="34" charset="0"/>
                <a:cs typeface="Arial" panose="020B0604020202020204" pitchFamily="34" charset="0"/>
              </a:rPr>
              <a:t>Avanzado, sobrecoste</a:t>
            </a:r>
          </a:p>
        </p:txBody>
      </p:sp>
      <p:sp>
        <p:nvSpPr>
          <p:cNvPr id="220" name="Rectángulo 219">
            <a:extLst>
              <a:ext uri="{FF2B5EF4-FFF2-40B4-BE49-F238E27FC236}">
                <a16:creationId xmlns:a16="http://schemas.microsoft.com/office/drawing/2014/main" id="{5931DD36-2F5B-41DD-918C-D14D1594888B}"/>
              </a:ext>
            </a:extLst>
          </p:cNvPr>
          <p:cNvSpPr/>
          <p:nvPr/>
        </p:nvSpPr>
        <p:spPr>
          <a:xfrm>
            <a:off x="741062" y="4747215"/>
            <a:ext cx="3255630" cy="19221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1" name="CuadroTexto 220">
            <a:extLst>
              <a:ext uri="{FF2B5EF4-FFF2-40B4-BE49-F238E27FC236}">
                <a16:creationId xmlns:a16="http://schemas.microsoft.com/office/drawing/2014/main" id="{4BEFCD1B-EBCD-4D47-A125-E8646D1B6045}"/>
              </a:ext>
            </a:extLst>
          </p:cNvPr>
          <p:cNvSpPr txBox="1"/>
          <p:nvPr/>
        </p:nvSpPr>
        <p:spPr>
          <a:xfrm>
            <a:off x="879133" y="4730936"/>
            <a:ext cx="3185487" cy="369332"/>
          </a:xfrm>
          <a:prstGeom prst="rect">
            <a:avLst/>
          </a:prstGeom>
          <a:noFill/>
        </p:spPr>
        <p:txBody>
          <a:bodyPr wrap="none" rtlCol="0">
            <a:spAutoFit/>
          </a:bodyPr>
          <a:lstStyle/>
          <a:p>
            <a:r>
              <a:rPr lang="es-ES" b="1">
                <a:latin typeface="Arial" panose="020B0604020202020204" pitchFamily="34" charset="0"/>
                <a:cs typeface="Arial" panose="020B0604020202020204" pitchFamily="34" charset="0"/>
              </a:rPr>
              <a:t>Retrasado, debajo de coste</a:t>
            </a:r>
          </a:p>
        </p:txBody>
      </p:sp>
      <p:sp>
        <p:nvSpPr>
          <p:cNvPr id="222" name="CuadroTexto 221">
            <a:extLst>
              <a:ext uri="{FF2B5EF4-FFF2-40B4-BE49-F238E27FC236}">
                <a16:creationId xmlns:a16="http://schemas.microsoft.com/office/drawing/2014/main" id="{1483945D-27B1-46C5-9029-51B4CFD1E261}"/>
              </a:ext>
            </a:extLst>
          </p:cNvPr>
          <p:cNvSpPr txBox="1"/>
          <p:nvPr/>
        </p:nvSpPr>
        <p:spPr>
          <a:xfrm>
            <a:off x="4217824" y="4755055"/>
            <a:ext cx="2672526" cy="369332"/>
          </a:xfrm>
          <a:prstGeom prst="rect">
            <a:avLst/>
          </a:prstGeom>
          <a:noFill/>
        </p:spPr>
        <p:txBody>
          <a:bodyPr wrap="none" rtlCol="0">
            <a:spAutoFit/>
          </a:bodyPr>
          <a:lstStyle/>
          <a:p>
            <a:r>
              <a:rPr lang="es-ES" b="1">
                <a:latin typeface="Arial" panose="020B0604020202020204" pitchFamily="34" charset="0"/>
                <a:cs typeface="Arial" panose="020B0604020202020204" pitchFamily="34" charset="0"/>
              </a:rPr>
              <a:t>Retrasado, sobrecoste</a:t>
            </a:r>
          </a:p>
        </p:txBody>
      </p:sp>
      <p:sp>
        <p:nvSpPr>
          <p:cNvPr id="223" name="Rectángulo 222">
            <a:extLst>
              <a:ext uri="{FF2B5EF4-FFF2-40B4-BE49-F238E27FC236}">
                <a16:creationId xmlns:a16="http://schemas.microsoft.com/office/drawing/2014/main" id="{69DDE6AE-3A82-4B8E-A3FF-22F823484988}"/>
              </a:ext>
            </a:extLst>
          </p:cNvPr>
          <p:cNvSpPr/>
          <p:nvPr/>
        </p:nvSpPr>
        <p:spPr>
          <a:xfrm>
            <a:off x="3995936" y="3321286"/>
            <a:ext cx="3255630" cy="335503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24" name="Conector recto de flecha 223">
            <a:extLst>
              <a:ext uri="{FF2B5EF4-FFF2-40B4-BE49-F238E27FC236}">
                <a16:creationId xmlns:a16="http://schemas.microsoft.com/office/drawing/2014/main" id="{B25E1929-F372-4CC9-B8F4-A758F41A12DA}"/>
              </a:ext>
            </a:extLst>
          </p:cNvPr>
          <p:cNvCxnSpPr>
            <a:cxnSpLocks/>
          </p:cNvCxnSpPr>
          <p:nvPr/>
        </p:nvCxnSpPr>
        <p:spPr>
          <a:xfrm>
            <a:off x="7620396" y="2030651"/>
            <a:ext cx="1173304" cy="0"/>
          </a:xfrm>
          <a:prstGeom prst="straightConnector1">
            <a:avLst/>
          </a:prstGeom>
          <a:ln w="76200">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26" name="Conector recto de flecha 225">
            <a:extLst>
              <a:ext uri="{FF2B5EF4-FFF2-40B4-BE49-F238E27FC236}">
                <a16:creationId xmlns:a16="http://schemas.microsoft.com/office/drawing/2014/main" id="{31DE3B3A-3A9F-4DA5-88FA-256FEB655A6D}"/>
              </a:ext>
            </a:extLst>
          </p:cNvPr>
          <p:cNvCxnSpPr>
            <a:cxnSpLocks/>
          </p:cNvCxnSpPr>
          <p:nvPr/>
        </p:nvCxnSpPr>
        <p:spPr>
          <a:xfrm>
            <a:off x="8191286" y="3145027"/>
            <a:ext cx="0" cy="1421116"/>
          </a:xfrm>
          <a:prstGeom prst="straightConnector1">
            <a:avLst/>
          </a:prstGeom>
          <a:ln w="76200">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27" name="CuadroTexto 226">
            <a:extLst>
              <a:ext uri="{FF2B5EF4-FFF2-40B4-BE49-F238E27FC236}">
                <a16:creationId xmlns:a16="http://schemas.microsoft.com/office/drawing/2014/main" id="{910DB895-3468-45DE-A3DC-5081FA516D07}"/>
              </a:ext>
            </a:extLst>
          </p:cNvPr>
          <p:cNvSpPr txBox="1"/>
          <p:nvPr/>
        </p:nvSpPr>
        <p:spPr>
          <a:xfrm>
            <a:off x="7668344" y="2138177"/>
            <a:ext cx="1206421" cy="369332"/>
          </a:xfrm>
          <a:prstGeom prst="rect">
            <a:avLst/>
          </a:prstGeom>
          <a:noFill/>
        </p:spPr>
        <p:txBody>
          <a:bodyPr wrap="none" rtlCol="0">
            <a:spAutoFit/>
          </a:bodyPr>
          <a:lstStyle/>
          <a:p>
            <a:r>
              <a:rPr lang="es-ES">
                <a:latin typeface="Arial" panose="020B0604020202020204" pitchFamily="34" charset="0"/>
                <a:cs typeface="Arial" panose="020B0604020202020204" pitchFamily="34" charset="0"/>
              </a:rPr>
              <a:t>Avanzado</a:t>
            </a:r>
          </a:p>
        </p:txBody>
      </p:sp>
      <p:sp>
        <p:nvSpPr>
          <p:cNvPr id="229" name="CuadroTexto 228">
            <a:extLst>
              <a:ext uri="{FF2B5EF4-FFF2-40B4-BE49-F238E27FC236}">
                <a16:creationId xmlns:a16="http://schemas.microsoft.com/office/drawing/2014/main" id="{9AE625FA-400D-4FDE-84B5-368FD1E109F1}"/>
              </a:ext>
            </a:extLst>
          </p:cNvPr>
          <p:cNvSpPr txBox="1"/>
          <p:nvPr/>
        </p:nvSpPr>
        <p:spPr>
          <a:xfrm>
            <a:off x="7497817" y="1530035"/>
            <a:ext cx="1249060" cy="369332"/>
          </a:xfrm>
          <a:prstGeom prst="rect">
            <a:avLst/>
          </a:prstGeom>
          <a:noFill/>
        </p:spPr>
        <p:txBody>
          <a:bodyPr wrap="none" rtlCol="0">
            <a:spAutoFit/>
          </a:bodyPr>
          <a:lstStyle/>
          <a:p>
            <a:r>
              <a:rPr lang="es-ES">
                <a:latin typeface="Arial" panose="020B0604020202020204" pitchFamily="34" charset="0"/>
                <a:cs typeface="Arial" panose="020B0604020202020204" pitchFamily="34" charset="0"/>
              </a:rPr>
              <a:t>Retrasado</a:t>
            </a:r>
          </a:p>
        </p:txBody>
      </p:sp>
      <p:sp>
        <p:nvSpPr>
          <p:cNvPr id="230" name="CuadroTexto 229">
            <a:extLst>
              <a:ext uri="{FF2B5EF4-FFF2-40B4-BE49-F238E27FC236}">
                <a16:creationId xmlns:a16="http://schemas.microsoft.com/office/drawing/2014/main" id="{0BE8104F-D207-4753-8A56-84AF18D09D42}"/>
              </a:ext>
            </a:extLst>
          </p:cNvPr>
          <p:cNvSpPr txBox="1"/>
          <p:nvPr/>
        </p:nvSpPr>
        <p:spPr>
          <a:xfrm>
            <a:off x="7579723" y="2815500"/>
            <a:ext cx="1351652" cy="369332"/>
          </a:xfrm>
          <a:prstGeom prst="rect">
            <a:avLst/>
          </a:prstGeom>
          <a:noFill/>
        </p:spPr>
        <p:txBody>
          <a:bodyPr wrap="none" rtlCol="0">
            <a:spAutoFit/>
          </a:bodyPr>
          <a:lstStyle/>
          <a:p>
            <a:r>
              <a:rPr lang="es-ES">
                <a:latin typeface="Arial" panose="020B0604020202020204" pitchFamily="34" charset="0"/>
                <a:cs typeface="Arial" panose="020B0604020202020204" pitchFamily="34" charset="0"/>
              </a:rPr>
              <a:t>Sobrecoste</a:t>
            </a:r>
          </a:p>
        </p:txBody>
      </p:sp>
      <p:sp>
        <p:nvSpPr>
          <p:cNvPr id="231" name="CuadroTexto 230">
            <a:extLst>
              <a:ext uri="{FF2B5EF4-FFF2-40B4-BE49-F238E27FC236}">
                <a16:creationId xmlns:a16="http://schemas.microsoft.com/office/drawing/2014/main" id="{AE1B562F-83E0-45E0-8F43-F2C442CA1488}"/>
              </a:ext>
            </a:extLst>
          </p:cNvPr>
          <p:cNvSpPr txBox="1"/>
          <p:nvPr/>
        </p:nvSpPr>
        <p:spPr>
          <a:xfrm>
            <a:off x="7281556" y="4711004"/>
            <a:ext cx="1851789" cy="369332"/>
          </a:xfrm>
          <a:prstGeom prst="rect">
            <a:avLst/>
          </a:prstGeom>
          <a:noFill/>
        </p:spPr>
        <p:txBody>
          <a:bodyPr wrap="none" rtlCol="0">
            <a:spAutoFit/>
          </a:bodyPr>
          <a:lstStyle/>
          <a:p>
            <a:r>
              <a:rPr lang="es-ES">
                <a:latin typeface="Arial" panose="020B0604020202020204" pitchFamily="34" charset="0"/>
                <a:cs typeface="Arial" panose="020B0604020202020204" pitchFamily="34" charset="0"/>
              </a:rPr>
              <a:t>Debajo de coste</a:t>
            </a:r>
          </a:p>
        </p:txBody>
      </p:sp>
      <p:cxnSp>
        <p:nvCxnSpPr>
          <p:cNvPr id="232" name="Conector recto de flecha 231">
            <a:extLst>
              <a:ext uri="{FF2B5EF4-FFF2-40B4-BE49-F238E27FC236}">
                <a16:creationId xmlns:a16="http://schemas.microsoft.com/office/drawing/2014/main" id="{A677E19A-596F-4FEC-9B4C-2BE5AF121543}"/>
              </a:ext>
            </a:extLst>
          </p:cNvPr>
          <p:cNvCxnSpPr>
            <a:cxnSpLocks/>
          </p:cNvCxnSpPr>
          <p:nvPr/>
        </p:nvCxnSpPr>
        <p:spPr>
          <a:xfrm flipH="1">
            <a:off x="7668344" y="2564904"/>
            <a:ext cx="1173304" cy="0"/>
          </a:xfrm>
          <a:prstGeom prst="straightConnector1">
            <a:avLst/>
          </a:prstGeom>
          <a:ln w="76200">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34" name="Conector recto de flecha 233">
            <a:extLst>
              <a:ext uri="{FF2B5EF4-FFF2-40B4-BE49-F238E27FC236}">
                <a16:creationId xmlns:a16="http://schemas.microsoft.com/office/drawing/2014/main" id="{E72C4B08-5D89-4397-9E90-EB88E94D5BAA}"/>
              </a:ext>
            </a:extLst>
          </p:cNvPr>
          <p:cNvCxnSpPr>
            <a:cxnSpLocks/>
          </p:cNvCxnSpPr>
          <p:nvPr/>
        </p:nvCxnSpPr>
        <p:spPr>
          <a:xfrm flipV="1">
            <a:off x="8191286" y="5124387"/>
            <a:ext cx="0" cy="1421116"/>
          </a:xfrm>
          <a:prstGeom prst="straightConnector1">
            <a:avLst/>
          </a:prstGeom>
          <a:ln w="76200">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1251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354069" y="-33159"/>
            <a:ext cx="5314275"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control de proyectos</a:t>
            </a:r>
          </a:p>
        </p:txBody>
      </p:sp>
      <p:sp>
        <p:nvSpPr>
          <p:cNvPr id="4" name="3 CuadroTexto"/>
          <p:cNvSpPr txBox="1"/>
          <p:nvPr/>
        </p:nvSpPr>
        <p:spPr>
          <a:xfrm>
            <a:off x="1331640" y="692696"/>
            <a:ext cx="7293984"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Método de control del valor añadido (</a:t>
            </a:r>
            <a:r>
              <a:rPr lang="es-ES" sz="2800" b="1" u="sng" dirty="0" err="1">
                <a:solidFill>
                  <a:schemeClr val="accent3">
                    <a:lumMod val="50000"/>
                  </a:schemeClr>
                </a:solidFill>
                <a:latin typeface="Arial" panose="020B0604020202020204" pitchFamily="34" charset="0"/>
                <a:cs typeface="Arial" panose="020B0604020202020204" pitchFamily="34" charset="0"/>
              </a:rPr>
              <a:t>AEI</a:t>
            </a:r>
            <a:r>
              <a:rPr lang="es-ES" sz="2800" b="1" u="sng" dirty="0">
                <a:solidFill>
                  <a:schemeClr val="accent3">
                    <a:lumMod val="50000"/>
                  </a:schemeClr>
                </a:solidFill>
                <a:latin typeface="Arial" panose="020B0604020202020204" pitchFamily="34" charset="0"/>
                <a:cs typeface="Arial" panose="020B0604020202020204" pitchFamily="34" charset="0"/>
              </a:rPr>
              <a:t>)</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34</a:t>
            </a:fld>
            <a:endParaRPr lang="en-US" sz="1600" dirty="0">
              <a:solidFill>
                <a:schemeClr val="bg1"/>
              </a:solidFill>
              <a:latin typeface="Arial" panose="020B0604020202020204" pitchFamily="34" charset="0"/>
              <a:cs typeface="Arial" panose="020B0604020202020204" pitchFamily="34" charset="0"/>
            </a:endParaRPr>
          </a:p>
        </p:txBody>
      </p:sp>
      <p:sp>
        <p:nvSpPr>
          <p:cNvPr id="164" name="CuadroTexto 1"/>
          <p:cNvSpPr txBox="1"/>
          <p:nvPr/>
        </p:nvSpPr>
        <p:spPr>
          <a:xfrm>
            <a:off x="683568" y="1214750"/>
            <a:ext cx="8737600" cy="2862322"/>
          </a:xfrm>
          <a:prstGeom prst="rect">
            <a:avLst/>
          </a:prstGeom>
          <a:noFill/>
        </p:spPr>
        <p:txBody>
          <a:bodyPr wrap="square" rtlCol="0">
            <a:spAutoFit/>
          </a:bodyPr>
          <a:lstStyle/>
          <a:p>
            <a:r>
              <a:rPr lang="es-ES" sz="1600" dirty="0">
                <a:latin typeface="Arial" panose="020B0604020202020204" pitchFamily="34" charset="0"/>
                <a:cs typeface="Arial" panose="020B0604020202020204" pitchFamily="34" charset="0"/>
              </a:rPr>
              <a:t>Al día de hoy el proyecto muestra que:</a:t>
            </a:r>
          </a:p>
          <a:p>
            <a:pPr marL="800100" lvl="1" indent="-342900">
              <a:buClr>
                <a:srgbClr val="008000"/>
              </a:buClr>
              <a:buFont typeface="+mj-lt"/>
              <a:buAutoNum type="arabicParenR"/>
            </a:pPr>
            <a:r>
              <a:rPr lang="es-ES" sz="1600" dirty="0">
                <a:latin typeface="Arial" panose="020B0604020202020204" pitchFamily="34" charset="0"/>
                <a:cs typeface="Arial" panose="020B0604020202020204" pitchFamily="34" charset="0"/>
              </a:rPr>
              <a:t>La planificación original muestra una duración y un coste </a:t>
            </a:r>
          </a:p>
          <a:p>
            <a:pPr marL="800100" lvl="1" indent="-342900">
              <a:buClr>
                <a:srgbClr val="008000"/>
              </a:buClr>
              <a:buFont typeface="+mj-lt"/>
              <a:buAutoNum type="arabicParenR"/>
            </a:pPr>
            <a:r>
              <a:rPr lang="es-ES" sz="1600" dirty="0">
                <a:latin typeface="Arial" panose="020B0604020202020204" pitchFamily="34" charset="0"/>
                <a:cs typeface="Arial" panose="020B0604020202020204" pitchFamily="34" charset="0"/>
              </a:rPr>
              <a:t>Hay un sobrecosto entre lo planificado y lo ejecutado</a:t>
            </a:r>
          </a:p>
          <a:p>
            <a:pPr marL="800100" lvl="1" indent="-342900">
              <a:buClr>
                <a:srgbClr val="008000"/>
              </a:buClr>
              <a:buFont typeface="+mj-lt"/>
              <a:buAutoNum type="arabicParenR"/>
            </a:pPr>
            <a:r>
              <a:rPr lang="es-ES" sz="1600" dirty="0">
                <a:latin typeface="Arial" panose="020B0604020202020204" pitchFamily="34" charset="0"/>
                <a:cs typeface="Arial" panose="020B0604020202020204" pitchFamily="34" charset="0"/>
              </a:rPr>
              <a:t>Hay un sobrecosto debido a que al día de hoy se ha realizado menos trabajo conforme lo planeado</a:t>
            </a:r>
          </a:p>
          <a:p>
            <a:pPr marL="800100" lvl="1" indent="-342900">
              <a:buClr>
                <a:srgbClr val="008000"/>
              </a:buClr>
              <a:buFont typeface="+mj-lt"/>
              <a:buAutoNum type="arabicParenR"/>
            </a:pPr>
            <a:r>
              <a:rPr lang="es-ES" sz="1600" dirty="0">
                <a:latin typeface="Arial" panose="020B0604020202020204" pitchFamily="34" charset="0"/>
                <a:cs typeface="Arial" panose="020B0604020202020204" pitchFamily="34" charset="0"/>
              </a:rPr>
              <a:t>Hay un sobrecoste total suma de   1) y 2)</a:t>
            </a:r>
          </a:p>
          <a:p>
            <a:pPr marL="800100" lvl="1" indent="-342900">
              <a:buClr>
                <a:srgbClr val="008000"/>
              </a:buClr>
              <a:buFont typeface="Wingdings" charset="2"/>
              <a:buAutoNum type="arabicParenR"/>
            </a:pPr>
            <a:r>
              <a:rPr lang="es-ES" sz="1600" dirty="0">
                <a:latin typeface="Arial" panose="020B0604020202020204" pitchFamily="34" charset="0"/>
                <a:cs typeface="Arial" panose="020B0604020202020204" pitchFamily="34" charset="0"/>
              </a:rPr>
              <a:t>Hay un retraso</a:t>
            </a:r>
          </a:p>
          <a:p>
            <a:pPr marL="800100" lvl="1" indent="-342900">
              <a:buClr>
                <a:srgbClr val="008000"/>
              </a:buClr>
              <a:buFont typeface="Wingdings" charset="2"/>
              <a:buAutoNum type="arabicParenR"/>
            </a:pPr>
            <a:r>
              <a:rPr lang="es-ES" sz="1600" dirty="0">
                <a:latin typeface="Arial" panose="020B0604020202020204" pitchFamily="34" charset="0"/>
                <a:cs typeface="Arial" panose="020B0604020202020204" pitchFamily="34" charset="0"/>
              </a:rPr>
              <a:t>Si a partir de hoy el trabajo se desarrollara como planificado el nuevo costo y plazo del proyecto será </a:t>
            </a:r>
          </a:p>
          <a:p>
            <a:pPr marL="742950" lvl="1" indent="-285750">
              <a:buClr>
                <a:srgbClr val="008000"/>
              </a:buClr>
              <a:buFont typeface="Wingdings" charset="2"/>
              <a:buChar char=""/>
            </a:pPr>
            <a:endParaRPr lang="es-ES"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endParaRPr lang="es-ES" dirty="0">
              <a:latin typeface="Arial" panose="020B0604020202020204" pitchFamily="34" charset="0"/>
              <a:cs typeface="Arial" panose="020B0604020202020204" pitchFamily="34" charset="0"/>
            </a:endParaRPr>
          </a:p>
        </p:txBody>
      </p:sp>
      <p:graphicFrame>
        <p:nvGraphicFramePr>
          <p:cNvPr id="165" name="Tabla 4"/>
          <p:cNvGraphicFramePr>
            <a:graphicFrameLocks noGrp="1"/>
          </p:cNvGraphicFramePr>
          <p:nvPr>
            <p:extLst>
              <p:ext uri="{D42A27DB-BD31-4B8C-83A1-F6EECF244321}">
                <p14:modId xmlns:p14="http://schemas.microsoft.com/office/powerpoint/2010/main" val="1692072308"/>
              </p:ext>
            </p:extLst>
          </p:nvPr>
        </p:nvGraphicFramePr>
        <p:xfrm>
          <a:off x="2013768" y="3701875"/>
          <a:ext cx="6096000" cy="2966720"/>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20000"/>
                    </a:ext>
                  </a:extLst>
                </a:gridCol>
              </a:tblGrid>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endParaRPr lang="es-ES"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cxnSp>
        <p:nvCxnSpPr>
          <p:cNvPr id="166" name="Conector recto 7"/>
          <p:cNvCxnSpPr/>
          <p:nvPr/>
        </p:nvCxnSpPr>
        <p:spPr>
          <a:xfrm flipV="1">
            <a:off x="2020118" y="4800425"/>
            <a:ext cx="2736850" cy="1866900"/>
          </a:xfrm>
          <a:prstGeom prst="line">
            <a:avLst/>
          </a:prstGeom>
          <a:ln>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67" name="Conector recto 10"/>
          <p:cNvCxnSpPr/>
          <p:nvPr/>
        </p:nvCxnSpPr>
        <p:spPr>
          <a:xfrm flipV="1">
            <a:off x="2013768" y="6057725"/>
            <a:ext cx="2711450" cy="596900"/>
          </a:xfrm>
          <a:prstGeom prst="line">
            <a:avLst/>
          </a:prstGeom>
          <a:ln>
            <a:solidFill>
              <a:srgbClr val="007700"/>
            </a:solidFill>
          </a:ln>
        </p:spPr>
        <p:style>
          <a:lnRef idx="2">
            <a:schemeClr val="accent1"/>
          </a:lnRef>
          <a:fillRef idx="0">
            <a:schemeClr val="accent1"/>
          </a:fillRef>
          <a:effectRef idx="1">
            <a:schemeClr val="accent1"/>
          </a:effectRef>
          <a:fontRef idx="minor">
            <a:schemeClr val="tx1"/>
          </a:fontRef>
        </p:style>
      </p:cxnSp>
      <p:cxnSp>
        <p:nvCxnSpPr>
          <p:cNvPr id="168" name="Conector recto 16"/>
          <p:cNvCxnSpPr/>
          <p:nvPr/>
        </p:nvCxnSpPr>
        <p:spPr>
          <a:xfrm flipV="1">
            <a:off x="2077268" y="4451175"/>
            <a:ext cx="4629150" cy="220980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9" name="Conector recto 19"/>
          <p:cNvCxnSpPr/>
          <p:nvPr/>
        </p:nvCxnSpPr>
        <p:spPr>
          <a:xfrm flipH="1">
            <a:off x="4737918" y="3479625"/>
            <a:ext cx="25400" cy="3327400"/>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70" name="CuadroTexto 20"/>
          <p:cNvSpPr txBox="1"/>
          <p:nvPr/>
        </p:nvSpPr>
        <p:spPr>
          <a:xfrm>
            <a:off x="5449118" y="6025975"/>
            <a:ext cx="1130300" cy="369332"/>
          </a:xfrm>
          <a:prstGeom prst="rect">
            <a:avLst/>
          </a:prstGeom>
          <a:solidFill>
            <a:srgbClr val="008000"/>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 dirty="0"/>
              <a:t>Estimado</a:t>
            </a:r>
          </a:p>
        </p:txBody>
      </p:sp>
      <p:sp>
        <p:nvSpPr>
          <p:cNvPr id="171" name="CuadroTexto 21"/>
          <p:cNvSpPr txBox="1"/>
          <p:nvPr/>
        </p:nvSpPr>
        <p:spPr>
          <a:xfrm>
            <a:off x="6014268" y="4832175"/>
            <a:ext cx="774700" cy="369332"/>
          </a:xfrm>
          <a:prstGeom prst="rect">
            <a:avLst/>
          </a:prstGeom>
          <a:solidFill>
            <a:schemeClr val="bg1">
              <a:lumMod val="50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 dirty="0"/>
              <a:t>Inicial</a:t>
            </a:r>
          </a:p>
        </p:txBody>
      </p:sp>
      <p:sp>
        <p:nvSpPr>
          <p:cNvPr id="172" name="CuadroTexto 22"/>
          <p:cNvSpPr txBox="1"/>
          <p:nvPr/>
        </p:nvSpPr>
        <p:spPr>
          <a:xfrm>
            <a:off x="3480618" y="4432125"/>
            <a:ext cx="1130300" cy="369332"/>
          </a:xfrm>
          <a:prstGeom prst="rect">
            <a:avLst/>
          </a:prstGeom>
          <a:solidFill>
            <a:srgbClr val="0000FF"/>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 dirty="0"/>
              <a:t>Actual</a:t>
            </a:r>
          </a:p>
        </p:txBody>
      </p:sp>
      <p:sp>
        <p:nvSpPr>
          <p:cNvPr id="173" name="CuadroTexto 23"/>
          <p:cNvSpPr txBox="1"/>
          <p:nvPr/>
        </p:nvSpPr>
        <p:spPr>
          <a:xfrm>
            <a:off x="4807768" y="6400625"/>
            <a:ext cx="698500" cy="276999"/>
          </a:xfrm>
          <a:prstGeom prst="rect">
            <a:avLst/>
          </a:prstGeom>
          <a:noFill/>
        </p:spPr>
        <p:txBody>
          <a:bodyPr wrap="square" rtlCol="0">
            <a:spAutoFit/>
          </a:bodyPr>
          <a:lstStyle/>
          <a:p>
            <a:pPr algn="ctr"/>
            <a:r>
              <a:rPr lang="es-ES" sz="1200" dirty="0"/>
              <a:t>hoy</a:t>
            </a:r>
          </a:p>
        </p:txBody>
      </p:sp>
      <p:sp>
        <p:nvSpPr>
          <p:cNvPr id="174" name="CuadroTexto 24"/>
          <p:cNvSpPr txBox="1"/>
          <p:nvPr/>
        </p:nvSpPr>
        <p:spPr>
          <a:xfrm>
            <a:off x="1143818" y="3581225"/>
            <a:ext cx="882650" cy="369332"/>
          </a:xfrm>
          <a:prstGeom prst="rect">
            <a:avLst/>
          </a:prstGeom>
          <a:noFill/>
        </p:spPr>
        <p:txBody>
          <a:bodyPr wrap="square" rtlCol="0">
            <a:spAutoFit/>
          </a:bodyPr>
          <a:lstStyle/>
          <a:p>
            <a:pPr algn="ctr"/>
            <a:r>
              <a:rPr lang="es-ES" dirty="0"/>
              <a:t>Gasto</a:t>
            </a:r>
          </a:p>
        </p:txBody>
      </p:sp>
      <p:sp>
        <p:nvSpPr>
          <p:cNvPr id="175" name="CuadroTexto 25"/>
          <p:cNvSpPr txBox="1"/>
          <p:nvPr/>
        </p:nvSpPr>
        <p:spPr>
          <a:xfrm>
            <a:off x="7884368" y="6362769"/>
            <a:ext cx="1263650" cy="378599"/>
          </a:xfrm>
          <a:prstGeom prst="rect">
            <a:avLst/>
          </a:prstGeom>
          <a:noFill/>
        </p:spPr>
        <p:txBody>
          <a:bodyPr wrap="square" rtlCol="0">
            <a:spAutoFit/>
          </a:bodyPr>
          <a:lstStyle/>
          <a:p>
            <a:pPr algn="ctr"/>
            <a:r>
              <a:rPr lang="es-ES" dirty="0"/>
              <a:t>Tiempo</a:t>
            </a:r>
          </a:p>
        </p:txBody>
      </p:sp>
      <p:cxnSp>
        <p:nvCxnSpPr>
          <p:cNvPr id="176" name="Conector recto 27"/>
          <p:cNvCxnSpPr/>
          <p:nvPr/>
        </p:nvCxnSpPr>
        <p:spPr>
          <a:xfrm flipV="1">
            <a:off x="4737918" y="3295475"/>
            <a:ext cx="3155950" cy="1524000"/>
          </a:xfrm>
          <a:prstGeom prst="line">
            <a:avLst/>
          </a:prstGeom>
          <a:ln>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177" name="Conector recto de flecha 11"/>
          <p:cNvCxnSpPr/>
          <p:nvPr/>
        </p:nvCxnSpPr>
        <p:spPr>
          <a:xfrm flipH="1">
            <a:off x="4756968" y="5371925"/>
            <a:ext cx="6350" cy="6604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78" name="Conector recto de flecha 29"/>
          <p:cNvCxnSpPr/>
          <p:nvPr/>
        </p:nvCxnSpPr>
        <p:spPr>
          <a:xfrm flipH="1">
            <a:off x="4756968" y="4800425"/>
            <a:ext cx="6350" cy="6604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79" name="Conector recto de flecha 33"/>
          <p:cNvCxnSpPr/>
          <p:nvPr/>
        </p:nvCxnSpPr>
        <p:spPr>
          <a:xfrm flipH="1">
            <a:off x="6547668" y="3905075"/>
            <a:ext cx="1377950" cy="19050"/>
          </a:xfrm>
          <a:prstGeom prst="straightConnector1">
            <a:avLst/>
          </a:prstGeom>
          <a:ln>
            <a:solidFill>
              <a:srgbClr val="0077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80" name="Conector recto de flecha 36"/>
          <p:cNvCxnSpPr/>
          <p:nvPr/>
        </p:nvCxnSpPr>
        <p:spPr>
          <a:xfrm flipH="1">
            <a:off x="2394768" y="4835350"/>
            <a:ext cx="3175" cy="1203325"/>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81" name="Conector recto 37"/>
          <p:cNvCxnSpPr/>
          <p:nvPr/>
        </p:nvCxnSpPr>
        <p:spPr>
          <a:xfrm flipH="1">
            <a:off x="3410768" y="3479625"/>
            <a:ext cx="25400" cy="3327400"/>
          </a:xfrm>
          <a:prstGeom prst="line">
            <a:avLst/>
          </a:prstGeom>
          <a:ln>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82" name="Conector recto de flecha 39"/>
          <p:cNvCxnSpPr/>
          <p:nvPr/>
        </p:nvCxnSpPr>
        <p:spPr>
          <a:xfrm flipH="1">
            <a:off x="3417119" y="6584775"/>
            <a:ext cx="1339849" cy="1"/>
          </a:xfrm>
          <a:prstGeom prst="straightConnector1">
            <a:avLst/>
          </a:prstGeom>
          <a:ln>
            <a:solidFill>
              <a:schemeClr val="bg1">
                <a:lumMod val="50000"/>
              </a:schemeClr>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83" name="CuadroTexto 46"/>
          <p:cNvSpPr txBox="1"/>
          <p:nvPr/>
        </p:nvSpPr>
        <p:spPr>
          <a:xfrm>
            <a:off x="3772718" y="6432375"/>
            <a:ext cx="698500" cy="276999"/>
          </a:xfrm>
          <a:prstGeom prst="rect">
            <a:avLst/>
          </a:prstGeom>
          <a:noFill/>
        </p:spPr>
        <p:txBody>
          <a:bodyPr wrap="square" rtlCol="0">
            <a:spAutoFit/>
          </a:bodyPr>
          <a:lstStyle/>
          <a:p>
            <a:pPr algn="ctr"/>
            <a:r>
              <a:rPr lang="es-ES" sz="1200" dirty="0"/>
              <a:t>retraso</a:t>
            </a:r>
          </a:p>
        </p:txBody>
      </p:sp>
      <p:cxnSp>
        <p:nvCxnSpPr>
          <p:cNvPr id="184" name="Conector recto 48"/>
          <p:cNvCxnSpPr/>
          <p:nvPr/>
        </p:nvCxnSpPr>
        <p:spPr>
          <a:xfrm flipH="1" flipV="1">
            <a:off x="1759768" y="6038675"/>
            <a:ext cx="3368675" cy="3175"/>
          </a:xfrm>
          <a:prstGeom prst="line">
            <a:avLst/>
          </a:prstGeom>
          <a:ln>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85" name="Conector recto de flecha 51"/>
          <p:cNvCxnSpPr/>
          <p:nvPr/>
        </p:nvCxnSpPr>
        <p:spPr>
          <a:xfrm flipH="1">
            <a:off x="3401243" y="6025975"/>
            <a:ext cx="1352550" cy="12700"/>
          </a:xfrm>
          <a:prstGeom prst="straightConnector1">
            <a:avLst/>
          </a:prstGeom>
          <a:ln>
            <a:solidFill>
              <a:srgbClr val="0077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86" name="Conector recto 53"/>
          <p:cNvCxnSpPr/>
          <p:nvPr/>
        </p:nvCxnSpPr>
        <p:spPr>
          <a:xfrm flipH="1" flipV="1">
            <a:off x="1759768" y="4816300"/>
            <a:ext cx="3368675" cy="3175"/>
          </a:xfrm>
          <a:prstGeom prst="line">
            <a:avLst/>
          </a:prstGeom>
          <a:ln>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187" name="CuadroTexto 56"/>
          <p:cNvSpPr txBox="1"/>
          <p:nvPr/>
        </p:nvSpPr>
        <p:spPr>
          <a:xfrm>
            <a:off x="2436042" y="5149675"/>
            <a:ext cx="911225" cy="461665"/>
          </a:xfrm>
          <a:prstGeom prst="rect">
            <a:avLst/>
          </a:prstGeom>
          <a:noFill/>
        </p:spPr>
        <p:txBody>
          <a:bodyPr wrap="square" rtlCol="0">
            <a:spAutoFit/>
          </a:bodyPr>
          <a:lstStyle/>
          <a:p>
            <a:pPr algn="ctr"/>
            <a:r>
              <a:rPr lang="es-ES" sz="1200" dirty="0"/>
              <a:t>Sobrecosto total</a:t>
            </a:r>
          </a:p>
        </p:txBody>
      </p:sp>
      <p:cxnSp>
        <p:nvCxnSpPr>
          <p:cNvPr id="188" name="Conector recto de flecha 57"/>
          <p:cNvCxnSpPr/>
          <p:nvPr/>
        </p:nvCxnSpPr>
        <p:spPr>
          <a:xfrm flipH="1">
            <a:off x="7906568" y="3273250"/>
            <a:ext cx="3175" cy="1203325"/>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189" name="Elipse 64"/>
          <p:cNvSpPr/>
          <p:nvPr/>
        </p:nvSpPr>
        <p:spPr>
          <a:xfrm>
            <a:off x="6550843" y="4270200"/>
            <a:ext cx="342900" cy="342900"/>
          </a:xfrm>
          <a:prstGeom prst="ellipse">
            <a:avLst/>
          </a:prstGeom>
          <a:solidFill>
            <a:srgbClr val="7F7F7F"/>
          </a:solidFill>
          <a:ln>
            <a:solidFill>
              <a:srgbClr val="7F7F7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 b="1" dirty="0"/>
              <a:t>1</a:t>
            </a:r>
          </a:p>
        </p:txBody>
      </p:sp>
      <p:sp>
        <p:nvSpPr>
          <p:cNvPr id="190" name="Elipse 65"/>
          <p:cNvSpPr/>
          <p:nvPr/>
        </p:nvSpPr>
        <p:spPr>
          <a:xfrm>
            <a:off x="7719243" y="3133550"/>
            <a:ext cx="342900" cy="342900"/>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 b="1" dirty="0"/>
              <a:t>2</a:t>
            </a:r>
          </a:p>
        </p:txBody>
      </p:sp>
      <p:sp>
        <p:nvSpPr>
          <p:cNvPr id="191" name="Elipse 66"/>
          <p:cNvSpPr/>
          <p:nvPr/>
        </p:nvSpPr>
        <p:spPr>
          <a:xfrm>
            <a:off x="6893743" y="1450800"/>
            <a:ext cx="342900" cy="342900"/>
          </a:xfrm>
          <a:prstGeom prst="ellipse">
            <a:avLst/>
          </a:prstGeom>
          <a:solidFill>
            <a:srgbClr val="7F7F7F"/>
          </a:solidFill>
          <a:ln>
            <a:solidFill>
              <a:srgbClr val="7F7F7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 b="1" dirty="0"/>
              <a:t>1</a:t>
            </a:r>
          </a:p>
        </p:txBody>
      </p:sp>
      <p:sp>
        <p:nvSpPr>
          <p:cNvPr id="192" name="Elipse 68"/>
          <p:cNvSpPr/>
          <p:nvPr/>
        </p:nvSpPr>
        <p:spPr>
          <a:xfrm>
            <a:off x="3264718" y="3151440"/>
            <a:ext cx="342900" cy="342900"/>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 b="1" dirty="0"/>
              <a:t>2</a:t>
            </a:r>
          </a:p>
        </p:txBody>
      </p:sp>
      <p:sp>
        <p:nvSpPr>
          <p:cNvPr id="5" name="Elipse 65">
            <a:extLst>
              <a:ext uri="{FF2B5EF4-FFF2-40B4-BE49-F238E27FC236}">
                <a16:creationId xmlns:a16="http://schemas.microsoft.com/office/drawing/2014/main" id="{96B35A71-778E-ED26-D242-DF224D5E8BA9}"/>
              </a:ext>
            </a:extLst>
          </p:cNvPr>
          <p:cNvSpPr/>
          <p:nvPr/>
        </p:nvSpPr>
        <p:spPr>
          <a:xfrm>
            <a:off x="4837943" y="5508450"/>
            <a:ext cx="342900" cy="342900"/>
          </a:xfrm>
          <a:prstGeom prst="ellipse">
            <a:avLst/>
          </a:prstGeom>
          <a:solidFill>
            <a:srgbClr val="00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 b="1" dirty="0"/>
              <a:t>3</a:t>
            </a:r>
          </a:p>
        </p:txBody>
      </p:sp>
      <p:sp>
        <p:nvSpPr>
          <p:cNvPr id="6" name="Elipse 65">
            <a:extLst>
              <a:ext uri="{FF2B5EF4-FFF2-40B4-BE49-F238E27FC236}">
                <a16:creationId xmlns:a16="http://schemas.microsoft.com/office/drawing/2014/main" id="{FA975EEF-F637-325B-8667-C8F0E0CF5031}"/>
              </a:ext>
            </a:extLst>
          </p:cNvPr>
          <p:cNvSpPr/>
          <p:nvPr/>
        </p:nvSpPr>
        <p:spPr>
          <a:xfrm>
            <a:off x="4838314" y="4870275"/>
            <a:ext cx="342900" cy="342900"/>
          </a:xfrm>
          <a:prstGeom prst="ellipse">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 b="1" dirty="0"/>
              <a:t>4</a:t>
            </a:r>
          </a:p>
        </p:txBody>
      </p:sp>
      <p:sp>
        <p:nvSpPr>
          <p:cNvPr id="8" name="Elipse 65">
            <a:extLst>
              <a:ext uri="{FF2B5EF4-FFF2-40B4-BE49-F238E27FC236}">
                <a16:creationId xmlns:a16="http://schemas.microsoft.com/office/drawing/2014/main" id="{F7E14C21-8318-CB6E-52DF-2CE614E1639F}"/>
              </a:ext>
            </a:extLst>
          </p:cNvPr>
          <p:cNvSpPr/>
          <p:nvPr/>
        </p:nvSpPr>
        <p:spPr>
          <a:xfrm>
            <a:off x="5078149" y="2413892"/>
            <a:ext cx="342900" cy="342900"/>
          </a:xfrm>
          <a:prstGeom prst="ellipse">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 b="1" dirty="0"/>
              <a:t>4</a:t>
            </a:r>
          </a:p>
        </p:txBody>
      </p:sp>
      <p:sp>
        <p:nvSpPr>
          <p:cNvPr id="9" name="Elipse 65">
            <a:extLst>
              <a:ext uri="{FF2B5EF4-FFF2-40B4-BE49-F238E27FC236}">
                <a16:creationId xmlns:a16="http://schemas.microsoft.com/office/drawing/2014/main" id="{D59A0125-99AD-6CF6-E834-F2C4DD324A18}"/>
              </a:ext>
            </a:extLst>
          </p:cNvPr>
          <p:cNvSpPr/>
          <p:nvPr/>
        </p:nvSpPr>
        <p:spPr>
          <a:xfrm>
            <a:off x="4579168" y="2411538"/>
            <a:ext cx="342900" cy="342900"/>
          </a:xfrm>
          <a:prstGeom prst="ellipse">
            <a:avLst/>
          </a:prstGeom>
          <a:solidFill>
            <a:srgbClr val="00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 b="1" dirty="0"/>
              <a:t>3</a:t>
            </a:r>
          </a:p>
        </p:txBody>
      </p:sp>
    </p:spTree>
    <p:extLst>
      <p:ext uri="{BB962C8B-B14F-4D97-AF65-F5344CB8AC3E}">
        <p14:creationId xmlns:p14="http://schemas.microsoft.com/office/powerpoint/2010/main" val="849288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3705168" y="-33159"/>
            <a:ext cx="1518364"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Índice</a:t>
            </a:r>
          </a:p>
        </p:txBody>
      </p:sp>
      <p:sp>
        <p:nvSpPr>
          <p:cNvPr id="4" name="3 CuadroTexto"/>
          <p:cNvSpPr txBox="1"/>
          <p:nvPr/>
        </p:nvSpPr>
        <p:spPr>
          <a:xfrm>
            <a:off x="954023" y="1052736"/>
            <a:ext cx="3553152"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Tema 3. 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5 Rectángulo"/>
          <p:cNvSpPr/>
          <p:nvPr/>
        </p:nvSpPr>
        <p:spPr>
          <a:xfrm>
            <a:off x="1259632" y="1916832"/>
            <a:ext cx="7992888" cy="1723549"/>
          </a:xfrm>
          <a:prstGeom prst="rect">
            <a:avLst/>
          </a:prstGeom>
        </p:spPr>
        <p:txBody>
          <a:bodyPr wrap="square">
            <a:spAutoFit/>
          </a:bodyPr>
          <a:lstStyle/>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3.1. La ejecución de proyectos industriales</a:t>
            </a:r>
          </a:p>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3.2. La validación de proyectos industriales</a:t>
            </a:r>
          </a:p>
          <a:p>
            <a:pPr lvl="0">
              <a:spcBef>
                <a:spcPts val="400"/>
              </a:spcBef>
            </a:pPr>
            <a:r>
              <a:rPr lang="es-ES" sz="2400" dirty="0">
                <a:solidFill>
                  <a:schemeClr val="bg1">
                    <a:lumMod val="95000"/>
                  </a:schemeClr>
                </a:solidFill>
                <a:latin typeface="Arial" panose="020B0604020202020204" pitchFamily="34" charset="0"/>
                <a:cs typeface="Arial" panose="020B0604020202020204" pitchFamily="34" charset="0"/>
              </a:rPr>
              <a:t>3.3. El control de proyectos</a:t>
            </a:r>
          </a:p>
          <a:p>
            <a:pPr lvl="0">
              <a:spcBef>
                <a:spcPts val="400"/>
              </a:spcBef>
            </a:pPr>
            <a:r>
              <a:rPr lang="es-ES" sz="2400" dirty="0">
                <a:latin typeface="Arial" panose="020B0604020202020204" pitchFamily="34" charset="0"/>
                <a:cs typeface="Arial" panose="020B0604020202020204" pitchFamily="34" charset="0"/>
              </a:rPr>
              <a:t>3.4. El cierre del proyecto</a:t>
            </a:r>
          </a:p>
        </p:txBody>
      </p:sp>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35</a:t>
            </a:fld>
            <a:endParaRPr lang="en-US"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89098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070005" y="-33159"/>
            <a:ext cx="487825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cierre del proyecto</a:t>
            </a:r>
          </a:p>
        </p:txBody>
      </p:sp>
      <p:sp>
        <p:nvSpPr>
          <p:cNvPr id="4" name="3 CuadroTexto"/>
          <p:cNvSpPr txBox="1"/>
          <p:nvPr/>
        </p:nvSpPr>
        <p:spPr>
          <a:xfrm>
            <a:off x="1966820" y="692696"/>
            <a:ext cx="5411994" cy="523220"/>
          </a:xfrm>
          <a:prstGeom prst="rect">
            <a:avLst/>
          </a:prstGeom>
          <a:noFill/>
        </p:spPr>
        <p:txBody>
          <a:bodyPr wrap="none" rtlCol="0">
            <a:spAutoFit/>
          </a:bodyPr>
          <a:lstStyle/>
          <a:p>
            <a:r>
              <a:rPr lang="es-ES" sz="2800" b="1" u="sng">
                <a:solidFill>
                  <a:schemeClr val="accent3">
                    <a:lumMod val="50000"/>
                  </a:schemeClr>
                </a:solidFill>
                <a:latin typeface="Arial" panose="020B0604020202020204" pitchFamily="34" charset="0"/>
                <a:cs typeface="Arial" panose="020B0604020202020204" pitchFamily="34" charset="0"/>
              </a:rPr>
              <a:t>Tipos de cierre de un proyecto</a:t>
            </a:r>
            <a:endParaRPr lang="es-ES" sz="2800" b="1" u="sng" dirty="0">
              <a:solidFill>
                <a:schemeClr val="accent3">
                  <a:lumMod val="50000"/>
                </a:schemeClr>
              </a:solidFill>
              <a:latin typeface="Arial" panose="020B0604020202020204" pitchFamily="34" charset="0"/>
              <a:cs typeface="Arial" panose="020B0604020202020204" pitchFamily="34" charset="0"/>
            </a:endParaRP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36</a:t>
            </a:fld>
            <a:endParaRPr lang="en-US" sz="1600" dirty="0">
              <a:solidFill>
                <a:schemeClr val="bg1"/>
              </a:solidFill>
              <a:latin typeface="Arial" panose="020B0604020202020204" pitchFamily="34" charset="0"/>
              <a:cs typeface="Arial" panose="020B0604020202020204" pitchFamily="34" charset="0"/>
            </a:endParaRPr>
          </a:p>
        </p:txBody>
      </p:sp>
      <p:sp>
        <p:nvSpPr>
          <p:cNvPr id="14" name="CuadroTexto 13">
            <a:extLst>
              <a:ext uri="{FF2B5EF4-FFF2-40B4-BE49-F238E27FC236}">
                <a16:creationId xmlns:a16="http://schemas.microsoft.com/office/drawing/2014/main" id="{D6FBB8DF-0784-4EF9-9ECB-EAC34B4AA22F}"/>
              </a:ext>
            </a:extLst>
          </p:cNvPr>
          <p:cNvSpPr txBox="1"/>
          <p:nvPr/>
        </p:nvSpPr>
        <p:spPr>
          <a:xfrm>
            <a:off x="676779" y="1199585"/>
            <a:ext cx="8215701" cy="5262979"/>
          </a:xfrm>
          <a:prstGeom prst="rect">
            <a:avLst/>
          </a:prstGeom>
          <a:noFill/>
        </p:spPr>
        <p:txBody>
          <a:bodyPr wrap="square" rtlCol="0">
            <a:spAutoFit/>
          </a:bodyPr>
          <a:lstStyle/>
          <a:p>
            <a:r>
              <a:rPr lang="es-ES" sz="1600" b="1" dirty="0">
                <a:solidFill>
                  <a:schemeClr val="accent2">
                    <a:lumMod val="75000"/>
                  </a:schemeClr>
                </a:solidFill>
                <a:latin typeface="Arial" panose="020B0604020202020204" pitchFamily="34" charset="0"/>
                <a:cs typeface="Arial" panose="020B0604020202020204" pitchFamily="34" charset="0"/>
              </a:rPr>
              <a:t>NORMAL: </a:t>
            </a:r>
            <a:r>
              <a:rPr lang="es-ES" sz="1600" dirty="0">
                <a:latin typeface="Arial" panose="020B0604020202020204" pitchFamily="34" charset="0"/>
                <a:cs typeface="Arial" panose="020B0604020202020204" pitchFamily="34" charset="0"/>
              </a:rPr>
              <a:t>el proyecto se haya completado o finalizado. El proyecto es transferido al cliente, y se da por cerrado.</a:t>
            </a:r>
          </a:p>
          <a:p>
            <a:endParaRPr lang="es-ES" sz="1600" dirty="0">
              <a:latin typeface="Arial" panose="020B0604020202020204" pitchFamily="34" charset="0"/>
              <a:cs typeface="Arial" panose="020B0604020202020204" pitchFamily="34" charset="0"/>
            </a:endParaRPr>
          </a:p>
          <a:p>
            <a:r>
              <a:rPr lang="es-ES" sz="1600" b="1" dirty="0">
                <a:solidFill>
                  <a:srgbClr val="953735"/>
                </a:solidFill>
                <a:latin typeface="Arial" panose="020B0604020202020204" pitchFamily="34" charset="0"/>
                <a:cs typeface="Arial" panose="020B0604020202020204" pitchFamily="34" charset="0"/>
              </a:rPr>
              <a:t>PREMATURO: </a:t>
            </a:r>
            <a:r>
              <a:rPr lang="es-ES" sz="1600" dirty="0">
                <a:latin typeface="Arial" panose="020B0604020202020204" pitchFamily="34" charset="0"/>
                <a:cs typeface="Arial" panose="020B0604020202020204" pitchFamily="34" charset="0"/>
              </a:rPr>
              <a:t>el proyecto puede finalizarse antes de tiempo, eliminando algunas partes del proyecto. </a:t>
            </a:r>
            <a:r>
              <a:rPr lang="es-ES" sz="1600" i="1" dirty="0">
                <a:latin typeface="Arial" panose="020B0604020202020204" pitchFamily="34" charset="0"/>
                <a:cs typeface="Arial" panose="020B0604020202020204" pitchFamily="34" charset="0"/>
              </a:rPr>
              <a:t>“Dadme el producto ahora, como esté. Una entrada anticipada en el mercado significa grandes beneficios”</a:t>
            </a:r>
            <a:r>
              <a:rPr lang="es-ES" sz="1600" dirty="0">
                <a:latin typeface="Arial" panose="020B0604020202020204" pitchFamily="34" charset="0"/>
                <a:cs typeface="Arial" panose="020B0604020202020204" pitchFamily="34" charset="0"/>
              </a:rPr>
              <a:t>. Esta situación presiona sobre el fin del proyecto y lo envía a producción.</a:t>
            </a:r>
          </a:p>
          <a:p>
            <a:endParaRPr lang="es-ES" sz="1600" dirty="0">
              <a:latin typeface="Arial" panose="020B0604020202020204" pitchFamily="34" charset="0"/>
              <a:cs typeface="Arial" panose="020B0604020202020204" pitchFamily="34" charset="0"/>
            </a:endParaRPr>
          </a:p>
          <a:p>
            <a:r>
              <a:rPr lang="es-ES" sz="1600" b="1" dirty="0">
                <a:solidFill>
                  <a:srgbClr val="953735"/>
                </a:solidFill>
                <a:latin typeface="Arial" panose="020B0604020202020204" pitchFamily="34" charset="0"/>
                <a:cs typeface="Arial" panose="020B0604020202020204" pitchFamily="34" charset="0"/>
              </a:rPr>
              <a:t>CAMBIO EN PRIORIDADES: </a:t>
            </a:r>
            <a:r>
              <a:rPr lang="es-ES" sz="1600" dirty="0">
                <a:latin typeface="Arial" panose="020B0604020202020204" pitchFamily="34" charset="0"/>
                <a:cs typeface="Arial" panose="020B0604020202020204" pitchFamily="34" charset="0"/>
              </a:rPr>
              <a:t>su prioridad es alterada durante el ciclo de vida al cambiar las situaciones que </a:t>
            </a:r>
            <a:r>
              <a:rPr lang="es-ES" sz="1600">
                <a:latin typeface="Arial" panose="020B0604020202020204" pitchFamily="34" charset="0"/>
                <a:cs typeface="Arial" panose="020B0604020202020204" pitchFamily="34" charset="0"/>
              </a:rPr>
              <a:t>lo rodean</a:t>
            </a:r>
            <a:r>
              <a:rPr lang="es-ES" sz="1600" dirty="0">
                <a:latin typeface="Arial" panose="020B0604020202020204" pitchFamily="34" charset="0"/>
                <a:cs typeface="Arial" panose="020B0604020202020204" pitchFamily="34" charset="0"/>
              </a:rPr>
              <a:t>.</a:t>
            </a:r>
          </a:p>
          <a:p>
            <a:endParaRPr lang="es-ES" sz="1600" dirty="0">
              <a:latin typeface="Arial" panose="020B0604020202020204" pitchFamily="34" charset="0"/>
              <a:cs typeface="Arial" panose="020B0604020202020204" pitchFamily="34" charset="0"/>
            </a:endParaRPr>
          </a:p>
          <a:p>
            <a:r>
              <a:rPr lang="es-ES" sz="1600" b="1" dirty="0">
                <a:solidFill>
                  <a:srgbClr val="953735"/>
                </a:solidFill>
                <a:latin typeface="Arial" panose="020B0604020202020204" pitchFamily="34" charset="0"/>
                <a:cs typeface="Arial" panose="020B0604020202020204" pitchFamily="34" charset="0"/>
              </a:rPr>
              <a:t>PERPETUO: </a:t>
            </a:r>
            <a:r>
              <a:rPr lang="es-ES" sz="1600" dirty="0">
                <a:latin typeface="Arial" panose="020B0604020202020204" pitchFamily="34" charset="0"/>
                <a:cs typeface="Arial" panose="020B0604020202020204" pitchFamily="34" charset="0"/>
              </a:rPr>
              <a:t>Algunos proyectos nunca parecen finalizar. La principal característica de esta clase de proyecto es la constante “adición” de cambios. Continuamente se requiere nuevos pequeños cambios que mejorarán la salida del proyecto. Un proyecto, por definición no puede perpetuarse y el gestor de proyecto necesita cerrarlo. Se suele redefinir el final o alcance del proyecto de forma que se fuerce el cierre.</a:t>
            </a:r>
          </a:p>
          <a:p>
            <a:endParaRPr lang="es-ES" sz="1600" dirty="0">
              <a:latin typeface="Arial" panose="020B0604020202020204" pitchFamily="34" charset="0"/>
              <a:cs typeface="Arial" panose="020B0604020202020204" pitchFamily="34" charset="0"/>
            </a:endParaRPr>
          </a:p>
          <a:p>
            <a:pPr algn="just"/>
            <a:r>
              <a:rPr lang="es-ES" sz="1600" b="1" dirty="0">
                <a:solidFill>
                  <a:srgbClr val="953735"/>
                </a:solidFill>
                <a:latin typeface="Arial" panose="020B0604020202020204" pitchFamily="34" charset="0"/>
                <a:cs typeface="Arial" panose="020B0604020202020204" pitchFamily="34" charset="0"/>
              </a:rPr>
              <a:t>PROYECTO FALLIDO: </a:t>
            </a:r>
            <a:r>
              <a:rPr lang="es-ES" sz="1600" dirty="0">
                <a:latin typeface="Arial" panose="020B0604020202020204" pitchFamily="34" charset="0"/>
                <a:cs typeface="Arial" panose="020B0604020202020204" pitchFamily="34" charset="0"/>
              </a:rPr>
              <a:t>Cuando un proyecto no ha sido correctamente definido durante la fase de definición y/o no se han evaluado los riesgos del mismos, puede fallar. En esos casos es, lo antes posible dar por concluido el proyecto a fin de no seguir invirtiendo tiempo y dinero en un proyecto inviable.</a:t>
            </a:r>
          </a:p>
        </p:txBody>
      </p:sp>
    </p:spTree>
    <p:extLst>
      <p:ext uri="{BB962C8B-B14F-4D97-AF65-F5344CB8AC3E}">
        <p14:creationId xmlns:p14="http://schemas.microsoft.com/office/powerpoint/2010/main" val="3403326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070005" y="-33159"/>
            <a:ext cx="487825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cierre del proyecto</a:t>
            </a:r>
          </a:p>
        </p:txBody>
      </p:sp>
      <p:sp>
        <p:nvSpPr>
          <p:cNvPr id="4" name="3 CuadroTexto"/>
          <p:cNvSpPr txBox="1"/>
          <p:nvPr/>
        </p:nvSpPr>
        <p:spPr>
          <a:xfrm>
            <a:off x="1966820" y="819103"/>
            <a:ext cx="5693162"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Tareas en el cierre del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37</a:t>
            </a:fld>
            <a:endParaRPr lang="en-US" sz="1600" dirty="0">
              <a:solidFill>
                <a:schemeClr val="bg1"/>
              </a:solidFill>
              <a:latin typeface="Arial" panose="020B0604020202020204" pitchFamily="34" charset="0"/>
              <a:cs typeface="Arial" panose="020B0604020202020204" pitchFamily="34" charset="0"/>
            </a:endParaRPr>
          </a:p>
        </p:txBody>
      </p:sp>
      <p:grpSp>
        <p:nvGrpSpPr>
          <p:cNvPr id="8" name="Agrupar 4"/>
          <p:cNvGrpSpPr/>
          <p:nvPr/>
        </p:nvGrpSpPr>
        <p:grpSpPr>
          <a:xfrm>
            <a:off x="1115616" y="1756402"/>
            <a:ext cx="7416824" cy="4408902"/>
            <a:chOff x="3005666" y="1888069"/>
            <a:chExt cx="5909735" cy="4408902"/>
          </a:xfrm>
        </p:grpSpPr>
        <p:sp>
          <p:nvSpPr>
            <p:cNvPr id="9" name="CuadroTexto 1"/>
            <p:cNvSpPr txBox="1"/>
            <p:nvPr/>
          </p:nvSpPr>
          <p:spPr>
            <a:xfrm>
              <a:off x="3026833" y="5958417"/>
              <a:ext cx="5871633" cy="338554"/>
            </a:xfrm>
            <a:prstGeom prst="rect">
              <a:avLst/>
            </a:prstGeom>
            <a:solidFill>
              <a:srgbClr val="D9D9D9"/>
            </a:solidFill>
          </p:spPr>
          <p:txBody>
            <a:bodyPr wrap="square" rtlCol="0">
              <a:spAutoFit/>
            </a:bodyPr>
            <a:lstStyle/>
            <a:p>
              <a:r>
                <a:rPr lang="es-ES" sz="1600" dirty="0">
                  <a:latin typeface="Arial" panose="020B0604020202020204" pitchFamily="34" charset="0"/>
                  <a:cs typeface="Arial" panose="020B0604020202020204" pitchFamily="34" charset="0"/>
                </a:rPr>
                <a:t>Reasignación de recursos y cierre contable del proyecto. </a:t>
              </a:r>
            </a:p>
          </p:txBody>
        </p:sp>
        <p:sp>
          <p:nvSpPr>
            <p:cNvPr id="10" name="CuadroTexto 8"/>
            <p:cNvSpPr txBox="1"/>
            <p:nvPr/>
          </p:nvSpPr>
          <p:spPr>
            <a:xfrm>
              <a:off x="3014134" y="1888069"/>
              <a:ext cx="5892800" cy="2308324"/>
            </a:xfrm>
            <a:prstGeom prst="rect">
              <a:avLst/>
            </a:prstGeom>
            <a:solidFill>
              <a:schemeClr val="bg1">
                <a:lumMod val="85000"/>
              </a:schemeClr>
            </a:solidFill>
          </p:spPr>
          <p:txBody>
            <a:bodyPr wrap="square" rtlCol="0">
              <a:spAutoFit/>
            </a:bodyPr>
            <a:lstStyle/>
            <a:p>
              <a:pPr algn="just">
                <a:buClr>
                  <a:srgbClr val="007700"/>
                </a:buClr>
              </a:pPr>
              <a:r>
                <a:rPr lang="es-ES" sz="1600" b="1" dirty="0">
                  <a:solidFill>
                    <a:schemeClr val="accent2">
                      <a:lumMod val="75000"/>
                    </a:schemeClr>
                  </a:solidFill>
                  <a:latin typeface="Arial" panose="020B0604020202020204" pitchFamily="34" charset="0"/>
                  <a:cs typeface="Arial" panose="020B0604020202020204" pitchFamily="34" charset="0"/>
                </a:rPr>
                <a:t>Revisar y actualizar la documentación para</a:t>
              </a:r>
              <a:r>
                <a:rPr lang="es-ES" sz="1600" dirty="0">
                  <a:latin typeface="Arial" panose="020B0604020202020204" pitchFamily="34" charset="0"/>
                  <a:cs typeface="Arial" panose="020B0604020202020204" pitchFamily="34" charset="0"/>
                </a:rPr>
                <a:t>:</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Facilitar posteriores modificaciones o ampliaciones del proyecto.</a:t>
              </a:r>
            </a:p>
            <a:p>
              <a:pPr marL="0" lvl="1" algn="just">
                <a:buClr>
                  <a:srgbClr val="007700"/>
                </a:buClr>
              </a:pPr>
              <a:r>
                <a:rPr lang="es-ES" sz="1600" b="1" dirty="0">
                  <a:solidFill>
                    <a:srgbClr val="953735"/>
                  </a:solidFill>
                  <a:latin typeface="Arial" panose="020B0604020202020204" pitchFamily="34" charset="0"/>
                  <a:cs typeface="Arial" panose="020B0604020202020204" pitchFamily="34" charset="0"/>
                </a:rPr>
                <a:t>Elaborar la documentación del proyecto </a:t>
              </a:r>
              <a:r>
                <a:rPr lang="es-ES" sz="1600" dirty="0">
                  <a:latin typeface="Arial" panose="020B0604020202020204" pitchFamily="34" charset="0"/>
                  <a:cs typeface="Arial" panose="020B0604020202020204" pitchFamily="34" charset="0"/>
                </a:rPr>
                <a:t>para:</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Aprovisionamiento de materiales</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Fabricación</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Servicio de Asistencia Técnica y Post-venta</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 Departamento Comercial y Marketing</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Cliente o Usuario Final</a:t>
              </a:r>
            </a:p>
          </p:txBody>
        </p:sp>
        <p:sp>
          <p:nvSpPr>
            <p:cNvPr id="11" name="CuadroTexto 9"/>
            <p:cNvSpPr txBox="1"/>
            <p:nvPr/>
          </p:nvSpPr>
          <p:spPr>
            <a:xfrm>
              <a:off x="3022601" y="4207933"/>
              <a:ext cx="5892800" cy="584776"/>
            </a:xfrm>
            <a:prstGeom prst="rect">
              <a:avLst/>
            </a:prstGeom>
            <a:solidFill>
              <a:srgbClr val="EEECE1"/>
            </a:solidFill>
          </p:spPr>
          <p:txBody>
            <a:bodyPr wrap="square" rtlCol="0">
              <a:spAutoFit/>
            </a:bodyPr>
            <a:lstStyle/>
            <a:p>
              <a:r>
                <a:rPr lang="es-ES" sz="1600" dirty="0">
                  <a:latin typeface="Arial" panose="020B0604020202020204" pitchFamily="34" charset="0"/>
                  <a:cs typeface="Arial" panose="020B0604020202020204" pitchFamily="34" charset="0"/>
                </a:rPr>
                <a:t>Aprovechar las soluciones técnicas para otros proyectos de la empresa.</a:t>
              </a:r>
            </a:p>
          </p:txBody>
        </p:sp>
        <p:sp>
          <p:nvSpPr>
            <p:cNvPr id="12" name="CuadroTexto 10"/>
            <p:cNvSpPr txBox="1"/>
            <p:nvPr/>
          </p:nvSpPr>
          <p:spPr>
            <a:xfrm>
              <a:off x="3014132" y="4775202"/>
              <a:ext cx="5892800" cy="584776"/>
            </a:xfrm>
            <a:prstGeom prst="rect">
              <a:avLst/>
            </a:prstGeom>
            <a:solidFill>
              <a:srgbClr val="D9D9D9"/>
            </a:solidFill>
          </p:spPr>
          <p:txBody>
            <a:bodyPr wrap="square" rtlCol="0">
              <a:spAutoFit/>
            </a:bodyPr>
            <a:lstStyle/>
            <a:p>
              <a:r>
                <a:rPr lang="es-ES" sz="1600" b="1" dirty="0">
                  <a:solidFill>
                    <a:srgbClr val="953735"/>
                  </a:solidFill>
                  <a:latin typeface="Arial" panose="020B0604020202020204" pitchFamily="34" charset="0"/>
                  <a:cs typeface="Arial" panose="020B0604020202020204" pitchFamily="34" charset="0"/>
                </a:rPr>
                <a:t>Realizar un informe de conclusiones </a:t>
              </a:r>
              <a:r>
                <a:rPr lang="es-ES" sz="1600" dirty="0">
                  <a:latin typeface="Arial" panose="020B0604020202020204" pitchFamily="34" charset="0"/>
                  <a:cs typeface="Arial" panose="020B0604020202020204" pitchFamily="34" charset="0"/>
                </a:rPr>
                <a:t>con lo aprendido (errores y aciertos) durante la ejecución del proyecto. </a:t>
              </a:r>
            </a:p>
          </p:txBody>
        </p:sp>
        <p:sp>
          <p:nvSpPr>
            <p:cNvPr id="13" name="CuadroTexto 11"/>
            <p:cNvSpPr txBox="1"/>
            <p:nvPr/>
          </p:nvSpPr>
          <p:spPr>
            <a:xfrm>
              <a:off x="3005666" y="5367869"/>
              <a:ext cx="5892800" cy="584776"/>
            </a:xfrm>
            <a:prstGeom prst="rect">
              <a:avLst/>
            </a:prstGeom>
            <a:solidFill>
              <a:srgbClr val="EEECE1"/>
            </a:solidFill>
          </p:spPr>
          <p:txBody>
            <a:bodyPr wrap="square" rtlCol="0">
              <a:spAutoFit/>
            </a:bodyPr>
            <a:lstStyle/>
            <a:p>
              <a:r>
                <a:rPr lang="es-ES" sz="1600" b="1" dirty="0">
                  <a:solidFill>
                    <a:srgbClr val="953735"/>
                  </a:solidFill>
                  <a:latin typeface="Arial" panose="020B0604020202020204" pitchFamily="34" charset="0"/>
                  <a:cs typeface="Arial" panose="020B0604020202020204" pitchFamily="34" charset="0"/>
                </a:rPr>
                <a:t>Archivo del proyecto </a:t>
              </a:r>
              <a:r>
                <a:rPr lang="es-ES" sz="1600" dirty="0">
                  <a:latin typeface="Arial" panose="020B0604020202020204" pitchFamily="34" charset="0"/>
                  <a:cs typeface="Arial" panose="020B0604020202020204" pitchFamily="34" charset="0"/>
                </a:rPr>
                <a:t>para que la información esté disponible para toda la empresa. </a:t>
              </a:r>
            </a:p>
          </p:txBody>
        </p:sp>
      </p:grpSp>
    </p:spTree>
    <p:extLst>
      <p:ext uri="{BB962C8B-B14F-4D97-AF65-F5344CB8AC3E}">
        <p14:creationId xmlns:p14="http://schemas.microsoft.com/office/powerpoint/2010/main" val="3389022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070005" y="-33159"/>
            <a:ext cx="487825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cierre del proyecto</a:t>
            </a:r>
          </a:p>
        </p:txBody>
      </p:sp>
      <p:sp>
        <p:nvSpPr>
          <p:cNvPr id="4" name="3 CuadroTexto"/>
          <p:cNvSpPr txBox="1"/>
          <p:nvPr/>
        </p:nvSpPr>
        <p:spPr>
          <a:xfrm>
            <a:off x="1966820" y="819103"/>
            <a:ext cx="5693162"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Tareas en el cierre del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38</a:t>
            </a:fld>
            <a:endParaRPr lang="en-US" sz="1600" dirty="0">
              <a:solidFill>
                <a:schemeClr val="bg1"/>
              </a:solidFill>
              <a:latin typeface="Arial" panose="020B0604020202020204" pitchFamily="34" charset="0"/>
              <a:cs typeface="Arial" panose="020B0604020202020204" pitchFamily="34" charset="0"/>
            </a:endParaRPr>
          </a:p>
        </p:txBody>
      </p:sp>
      <p:grpSp>
        <p:nvGrpSpPr>
          <p:cNvPr id="8" name="Agrupar 4"/>
          <p:cNvGrpSpPr/>
          <p:nvPr/>
        </p:nvGrpSpPr>
        <p:grpSpPr>
          <a:xfrm>
            <a:off x="1115616" y="1756402"/>
            <a:ext cx="7416824" cy="4408902"/>
            <a:chOff x="3005666" y="1888069"/>
            <a:chExt cx="5909735" cy="4408902"/>
          </a:xfrm>
        </p:grpSpPr>
        <p:sp>
          <p:nvSpPr>
            <p:cNvPr id="9" name="CuadroTexto 1"/>
            <p:cNvSpPr txBox="1"/>
            <p:nvPr/>
          </p:nvSpPr>
          <p:spPr>
            <a:xfrm>
              <a:off x="3014132" y="5958417"/>
              <a:ext cx="5884334" cy="338554"/>
            </a:xfrm>
            <a:prstGeom prst="rect">
              <a:avLst/>
            </a:prstGeom>
            <a:solidFill>
              <a:srgbClr val="D9D9D9"/>
            </a:solidFill>
          </p:spPr>
          <p:txBody>
            <a:bodyPr wrap="square" rtlCol="0">
              <a:spAutoFit/>
            </a:bodyPr>
            <a:lstStyle/>
            <a:p>
              <a:r>
                <a:rPr lang="es-ES" sz="1600" dirty="0">
                  <a:latin typeface="Arial" panose="020B0604020202020204" pitchFamily="34" charset="0"/>
                  <a:cs typeface="Arial" panose="020B0604020202020204" pitchFamily="34" charset="0"/>
                </a:rPr>
                <a:t>Reasignación de recursos y cierre contable del proyecto. </a:t>
              </a:r>
            </a:p>
          </p:txBody>
        </p:sp>
        <p:sp>
          <p:nvSpPr>
            <p:cNvPr id="10" name="CuadroTexto 8"/>
            <p:cNvSpPr txBox="1"/>
            <p:nvPr/>
          </p:nvSpPr>
          <p:spPr>
            <a:xfrm>
              <a:off x="3014134" y="1888069"/>
              <a:ext cx="5892800" cy="2062103"/>
            </a:xfrm>
            <a:prstGeom prst="rect">
              <a:avLst/>
            </a:prstGeom>
            <a:solidFill>
              <a:schemeClr val="bg1">
                <a:lumMod val="85000"/>
              </a:schemeClr>
            </a:solidFill>
          </p:spPr>
          <p:txBody>
            <a:bodyPr wrap="square" rtlCol="0">
              <a:spAutoFit/>
            </a:bodyPr>
            <a:lstStyle/>
            <a:p>
              <a:pPr algn="just">
                <a:buClr>
                  <a:srgbClr val="007700"/>
                </a:buClr>
              </a:pPr>
              <a:r>
                <a:rPr lang="es-ES" sz="1600" b="1" dirty="0">
                  <a:solidFill>
                    <a:schemeClr val="accent2">
                      <a:lumMod val="75000"/>
                    </a:schemeClr>
                  </a:solidFill>
                  <a:latin typeface="Arial" panose="020B0604020202020204" pitchFamily="34" charset="0"/>
                  <a:cs typeface="Arial" panose="020B0604020202020204" pitchFamily="34" charset="0"/>
                </a:rPr>
                <a:t>Revisar y actualizar la documentación para</a:t>
              </a:r>
              <a:r>
                <a:rPr lang="es-ES" sz="1600" dirty="0">
                  <a:latin typeface="Arial" panose="020B0604020202020204" pitchFamily="34" charset="0"/>
                  <a:cs typeface="Arial" panose="020B0604020202020204" pitchFamily="34" charset="0"/>
                </a:rPr>
                <a:t>:</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Facilitar posteriores modificaciones o ampliaciones del proyecto.</a:t>
              </a:r>
            </a:p>
            <a:p>
              <a:pPr marL="0" lvl="1" algn="just">
                <a:buClr>
                  <a:srgbClr val="007700"/>
                </a:buClr>
              </a:pPr>
              <a:r>
                <a:rPr lang="es-ES" sz="1600" b="1" dirty="0">
                  <a:solidFill>
                    <a:srgbClr val="953735"/>
                  </a:solidFill>
                  <a:latin typeface="Arial" panose="020B0604020202020204" pitchFamily="34" charset="0"/>
                  <a:cs typeface="Arial" panose="020B0604020202020204" pitchFamily="34" charset="0"/>
                </a:rPr>
                <a:t>Elaborar la documentación del proyecto </a:t>
              </a:r>
              <a:r>
                <a:rPr lang="es-ES" sz="1600" dirty="0">
                  <a:latin typeface="Arial" panose="020B0604020202020204" pitchFamily="34" charset="0"/>
                  <a:cs typeface="Arial" panose="020B0604020202020204" pitchFamily="34" charset="0"/>
                </a:rPr>
                <a:t>para:</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Aprovisionamiento de materiales</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Fabricación</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Servicio de Asistencia Técnica y Post-venta</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Departamento Comercial y Marketing</a:t>
              </a:r>
            </a:p>
            <a:p>
              <a:pPr marL="742950" lvl="1" indent="-285750" algn="just">
                <a:buClr>
                  <a:srgbClr val="007700"/>
                </a:buClr>
                <a:buFont typeface="Wingdings" charset="2"/>
                <a:buChar char="§"/>
              </a:pPr>
              <a:r>
                <a:rPr lang="es-ES" sz="1600" dirty="0">
                  <a:latin typeface="Arial" panose="020B0604020202020204" pitchFamily="34" charset="0"/>
                  <a:cs typeface="Arial" panose="020B0604020202020204" pitchFamily="34" charset="0"/>
                </a:rPr>
                <a:t>Cliente o Usuario Final</a:t>
              </a:r>
            </a:p>
          </p:txBody>
        </p:sp>
        <p:sp>
          <p:nvSpPr>
            <p:cNvPr id="11" name="CuadroTexto 9"/>
            <p:cNvSpPr txBox="1"/>
            <p:nvPr/>
          </p:nvSpPr>
          <p:spPr>
            <a:xfrm>
              <a:off x="3022601" y="4207933"/>
              <a:ext cx="5892800" cy="584776"/>
            </a:xfrm>
            <a:prstGeom prst="rect">
              <a:avLst/>
            </a:prstGeom>
            <a:solidFill>
              <a:srgbClr val="EEECE1"/>
            </a:solidFill>
          </p:spPr>
          <p:txBody>
            <a:bodyPr wrap="square" rtlCol="0">
              <a:spAutoFit/>
            </a:bodyPr>
            <a:lstStyle/>
            <a:p>
              <a:r>
                <a:rPr lang="es-ES" sz="1600" dirty="0">
                  <a:latin typeface="Arial" panose="020B0604020202020204" pitchFamily="34" charset="0"/>
                  <a:cs typeface="Arial" panose="020B0604020202020204" pitchFamily="34" charset="0"/>
                </a:rPr>
                <a:t>Aprovechar las soluciones técnicas para otros proyectos de la empresa.</a:t>
              </a:r>
            </a:p>
          </p:txBody>
        </p:sp>
        <p:sp>
          <p:nvSpPr>
            <p:cNvPr id="12" name="CuadroTexto 10"/>
            <p:cNvSpPr txBox="1"/>
            <p:nvPr/>
          </p:nvSpPr>
          <p:spPr>
            <a:xfrm>
              <a:off x="3014132" y="4775202"/>
              <a:ext cx="5892800" cy="584776"/>
            </a:xfrm>
            <a:prstGeom prst="rect">
              <a:avLst/>
            </a:prstGeom>
            <a:solidFill>
              <a:srgbClr val="D9D9D9"/>
            </a:solidFill>
          </p:spPr>
          <p:txBody>
            <a:bodyPr wrap="square" rtlCol="0">
              <a:spAutoFit/>
            </a:bodyPr>
            <a:lstStyle/>
            <a:p>
              <a:r>
                <a:rPr lang="es-ES" sz="1600" b="1" dirty="0">
                  <a:solidFill>
                    <a:srgbClr val="953735"/>
                  </a:solidFill>
                  <a:latin typeface="Arial" panose="020B0604020202020204" pitchFamily="34" charset="0"/>
                  <a:cs typeface="Arial" panose="020B0604020202020204" pitchFamily="34" charset="0"/>
                </a:rPr>
                <a:t>Realizar un informe de conclusiones </a:t>
              </a:r>
              <a:r>
                <a:rPr lang="es-ES" sz="1600" dirty="0">
                  <a:latin typeface="Arial" panose="020B0604020202020204" pitchFamily="34" charset="0"/>
                  <a:cs typeface="Arial" panose="020B0604020202020204" pitchFamily="34" charset="0"/>
                </a:rPr>
                <a:t>con lo aprendido (errores y aciertos) durante la ejecución del proyecto. </a:t>
              </a:r>
            </a:p>
          </p:txBody>
        </p:sp>
        <p:sp>
          <p:nvSpPr>
            <p:cNvPr id="13" name="CuadroTexto 11"/>
            <p:cNvSpPr txBox="1"/>
            <p:nvPr/>
          </p:nvSpPr>
          <p:spPr>
            <a:xfrm>
              <a:off x="3005666" y="5367869"/>
              <a:ext cx="5892800" cy="584776"/>
            </a:xfrm>
            <a:prstGeom prst="rect">
              <a:avLst/>
            </a:prstGeom>
            <a:solidFill>
              <a:srgbClr val="EEECE1"/>
            </a:solidFill>
          </p:spPr>
          <p:txBody>
            <a:bodyPr wrap="square" rtlCol="0">
              <a:spAutoFit/>
            </a:bodyPr>
            <a:lstStyle/>
            <a:p>
              <a:r>
                <a:rPr lang="es-ES" sz="1600" b="1" dirty="0">
                  <a:solidFill>
                    <a:srgbClr val="953735"/>
                  </a:solidFill>
                  <a:latin typeface="Arial" panose="020B0604020202020204" pitchFamily="34" charset="0"/>
                  <a:cs typeface="Arial" panose="020B0604020202020204" pitchFamily="34" charset="0"/>
                </a:rPr>
                <a:t>Archivo del proyecto </a:t>
              </a:r>
              <a:r>
                <a:rPr lang="es-ES" sz="1600" dirty="0">
                  <a:latin typeface="Arial" panose="020B0604020202020204" pitchFamily="34" charset="0"/>
                  <a:cs typeface="Arial" panose="020B0604020202020204" pitchFamily="34" charset="0"/>
                </a:rPr>
                <a:t>para que la información esté disponible para toda la empresa. </a:t>
              </a:r>
            </a:p>
          </p:txBody>
        </p:sp>
      </p:grpSp>
    </p:spTree>
    <p:extLst>
      <p:ext uri="{BB962C8B-B14F-4D97-AF65-F5344CB8AC3E}">
        <p14:creationId xmlns:p14="http://schemas.microsoft.com/office/powerpoint/2010/main" val="2190108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070005" y="-33159"/>
            <a:ext cx="487825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cierre del proyecto</a:t>
            </a:r>
          </a:p>
        </p:txBody>
      </p:sp>
      <p:sp>
        <p:nvSpPr>
          <p:cNvPr id="4" name="3 CuadroTexto"/>
          <p:cNvSpPr txBox="1"/>
          <p:nvPr/>
        </p:nvSpPr>
        <p:spPr>
          <a:xfrm>
            <a:off x="1475656" y="819103"/>
            <a:ext cx="7117654"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Documentación en el cierre del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39</a:t>
            </a:fld>
            <a:endParaRPr lang="en-US" sz="1600" dirty="0">
              <a:solidFill>
                <a:schemeClr val="bg1"/>
              </a:solidFill>
              <a:latin typeface="Arial" panose="020B0604020202020204" pitchFamily="34" charset="0"/>
              <a:cs typeface="Arial" panose="020B0604020202020204" pitchFamily="34" charset="0"/>
            </a:endParaRPr>
          </a:p>
        </p:txBody>
      </p:sp>
      <p:sp>
        <p:nvSpPr>
          <p:cNvPr id="14" name="CuadroTexto 1"/>
          <p:cNvSpPr txBox="1"/>
          <p:nvPr/>
        </p:nvSpPr>
        <p:spPr>
          <a:xfrm>
            <a:off x="1043608" y="1726939"/>
            <a:ext cx="7823796" cy="2246769"/>
          </a:xfrm>
          <a:prstGeom prst="rect">
            <a:avLst/>
          </a:prstGeom>
          <a:solidFill>
            <a:schemeClr val="bg2"/>
          </a:solidFill>
          <a:effectLst>
            <a:outerShdw blurRad="50800" dist="38100" dir="2700000" sx="101000" sy="101000" algn="tl" rotWithShape="0">
              <a:srgbClr val="000000">
                <a:alpha val="43000"/>
              </a:srgbClr>
            </a:outerShdw>
          </a:effectLst>
        </p:spPr>
        <p:txBody>
          <a:bodyPr wrap="square" rtlCol="0">
            <a:spAutoFit/>
          </a:bodyPr>
          <a:lstStyle/>
          <a:p>
            <a:pPr marL="800100" lvl="1" indent="-342900">
              <a:buClr>
                <a:srgbClr val="007700"/>
              </a:buClr>
              <a:buFont typeface="Wingdings" charset="2"/>
              <a:buChar char=""/>
            </a:pPr>
            <a:r>
              <a:rPr lang="es-ES" sz="2000" dirty="0">
                <a:latin typeface="Arial" panose="020B0604020202020204" pitchFamily="34" charset="0"/>
                <a:cs typeface="Arial" panose="020B0604020202020204" pitchFamily="34" charset="0"/>
              </a:rPr>
              <a:t>Documentación para el Departamento de Producción</a:t>
            </a:r>
          </a:p>
          <a:p>
            <a:pPr marL="800100" lvl="1" indent="-342900">
              <a:buClr>
                <a:srgbClr val="007700"/>
              </a:buClr>
              <a:buFont typeface="Wingdings" charset="2"/>
              <a:buChar char=""/>
            </a:pPr>
            <a:r>
              <a:rPr lang="es-ES" sz="2000" dirty="0">
                <a:latin typeface="Arial" panose="020B0604020202020204" pitchFamily="34" charset="0"/>
                <a:cs typeface="Arial" panose="020B0604020202020204" pitchFamily="34" charset="0"/>
              </a:rPr>
              <a:t>Documentación para el Departamento de Compras</a:t>
            </a:r>
          </a:p>
          <a:p>
            <a:pPr marL="800100" lvl="1" indent="-342900">
              <a:buClr>
                <a:srgbClr val="007700"/>
              </a:buClr>
              <a:buFont typeface="Wingdings" charset="2"/>
              <a:buChar char=""/>
            </a:pPr>
            <a:r>
              <a:rPr lang="es-ES" sz="2000" dirty="0">
                <a:latin typeface="Arial" panose="020B0604020202020204" pitchFamily="34" charset="0"/>
                <a:cs typeface="Arial" panose="020B0604020202020204" pitchFamily="34" charset="0"/>
              </a:rPr>
              <a:t>Documentación para el Departamento de Comercial, Marketing y Ventas</a:t>
            </a:r>
          </a:p>
          <a:p>
            <a:pPr marL="800100" lvl="1" indent="-342900">
              <a:buClr>
                <a:srgbClr val="007700"/>
              </a:buClr>
              <a:buFont typeface="Wingdings" charset="2"/>
              <a:buChar char=""/>
            </a:pPr>
            <a:r>
              <a:rPr lang="es-ES" sz="2000" dirty="0">
                <a:latin typeface="Arial" panose="020B0604020202020204" pitchFamily="34" charset="0"/>
                <a:cs typeface="Arial" panose="020B0604020202020204" pitchFamily="34" charset="0"/>
              </a:rPr>
              <a:t>Documentación para los Servicios de Asistencia Técnica (SAT)</a:t>
            </a:r>
          </a:p>
          <a:p>
            <a:pPr marL="800100" lvl="1" indent="-342900">
              <a:buClr>
                <a:srgbClr val="007700"/>
              </a:buClr>
              <a:buFont typeface="Wingdings" charset="2"/>
              <a:buChar char=""/>
            </a:pPr>
            <a:r>
              <a:rPr lang="es-ES" sz="2000" dirty="0">
                <a:latin typeface="Arial" panose="020B0604020202020204" pitchFamily="34" charset="0"/>
                <a:cs typeface="Arial" panose="020B0604020202020204" pitchFamily="34" charset="0"/>
              </a:rPr>
              <a:t>Documentación para el cliente o usuario final</a:t>
            </a:r>
          </a:p>
        </p:txBody>
      </p:sp>
    </p:spTree>
    <p:extLst>
      <p:ext uri="{BB962C8B-B14F-4D97-AF65-F5344CB8AC3E}">
        <p14:creationId xmlns:p14="http://schemas.microsoft.com/office/powerpoint/2010/main" val="34114341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070005" y="-33159"/>
            <a:ext cx="487825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cierre del proyecto</a:t>
            </a:r>
          </a:p>
        </p:txBody>
      </p:sp>
      <p:sp>
        <p:nvSpPr>
          <p:cNvPr id="4" name="3 CuadroTexto"/>
          <p:cNvSpPr txBox="1"/>
          <p:nvPr/>
        </p:nvSpPr>
        <p:spPr>
          <a:xfrm>
            <a:off x="1475656" y="819103"/>
            <a:ext cx="7117654"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Documentación en el cierre del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40</a:t>
            </a:fld>
            <a:endParaRPr lang="en-US" sz="1600" dirty="0">
              <a:solidFill>
                <a:schemeClr val="bg1"/>
              </a:solidFill>
              <a:latin typeface="Arial" panose="020B0604020202020204" pitchFamily="34" charset="0"/>
              <a:cs typeface="Arial" panose="020B0604020202020204" pitchFamily="34" charset="0"/>
            </a:endParaRPr>
          </a:p>
        </p:txBody>
      </p:sp>
      <p:sp>
        <p:nvSpPr>
          <p:cNvPr id="8" name="CuadroTexto 1"/>
          <p:cNvSpPr txBox="1"/>
          <p:nvPr/>
        </p:nvSpPr>
        <p:spPr>
          <a:xfrm>
            <a:off x="755576" y="1589886"/>
            <a:ext cx="8208912" cy="4647426"/>
          </a:xfrm>
          <a:prstGeom prst="rect">
            <a:avLst/>
          </a:prstGeom>
          <a:solidFill>
            <a:srgbClr val="EEECE1"/>
          </a:solidFill>
        </p:spPr>
        <p:txBody>
          <a:bodyPr wrap="square" rtlCol="0">
            <a:spAutoFit/>
          </a:bodyPr>
          <a:lstStyle/>
          <a:p>
            <a:r>
              <a:rPr lang="es-ES_tradnl" sz="1400" b="1" dirty="0">
                <a:solidFill>
                  <a:srgbClr val="953735"/>
                </a:solidFill>
                <a:latin typeface="Arial" panose="020B0604020202020204" pitchFamily="34" charset="0"/>
                <a:cs typeface="Arial" panose="020B0604020202020204" pitchFamily="34" charset="0"/>
              </a:rPr>
              <a:t>DOCUMENTACIÓN PARA FABRICACIÓN Y PUESTA EN MARCHA DEL EQUIPO</a:t>
            </a:r>
            <a:endParaRPr lang="es-ES" sz="1400" b="1" dirty="0">
              <a:solidFill>
                <a:srgbClr val="953735"/>
              </a:solidFill>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i="1" dirty="0">
                <a:solidFill>
                  <a:srgbClr val="008000"/>
                </a:solidFill>
                <a:latin typeface="Arial" panose="020B0604020202020204" pitchFamily="34" charset="0"/>
                <a:cs typeface="Arial" panose="020B0604020202020204" pitchFamily="34" charset="0"/>
              </a:rPr>
              <a:t>Documentación mecánica</a:t>
            </a:r>
            <a:endParaRPr lang="es-ES" sz="1400" dirty="0">
              <a:solidFill>
                <a:srgbClr val="008000"/>
              </a:solidFill>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Planos mecánicos con el consiguiente despiece</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Secuencia de operaciones de montaje con indicaciones de tiempos de operaciones.</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Listado y codificación del despiece.</a:t>
            </a:r>
            <a:endParaRPr lang="es-ES" sz="1400" dirty="0">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i="1" dirty="0">
                <a:solidFill>
                  <a:srgbClr val="008000"/>
                </a:solidFill>
                <a:latin typeface="Arial" panose="020B0604020202020204" pitchFamily="34" charset="0"/>
                <a:cs typeface="Arial" panose="020B0604020202020204" pitchFamily="34" charset="0"/>
              </a:rPr>
              <a:t>Documentación eléctrica</a:t>
            </a:r>
            <a:endParaRPr lang="es-ES" sz="1400" dirty="0">
              <a:solidFill>
                <a:srgbClr val="008000"/>
              </a:solidFill>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Planos eléctricos normalmente elaborados en EPLAN.</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Listado y  codificación de los diferentes elementos eléctricos del equipo.</a:t>
            </a:r>
            <a:endParaRPr lang="es-ES" sz="1400" dirty="0">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i="1" dirty="0">
                <a:solidFill>
                  <a:srgbClr val="008000"/>
                </a:solidFill>
                <a:latin typeface="Arial" panose="020B0604020202020204" pitchFamily="34" charset="0"/>
                <a:cs typeface="Arial" panose="020B0604020202020204" pitchFamily="34" charset="0"/>
              </a:rPr>
              <a:t>Documentación de control</a:t>
            </a:r>
            <a:endParaRPr lang="es-ES" sz="1400" dirty="0">
              <a:solidFill>
                <a:srgbClr val="008000"/>
              </a:solidFill>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 sz="1400" dirty="0">
                <a:latin typeface="Arial" panose="020B0604020202020204" pitchFamily="34" charset="0"/>
                <a:cs typeface="Arial" panose="020B0604020202020204" pitchFamily="34" charset="0"/>
              </a:rPr>
              <a:t>Esquemáticos, planos de las tarjetas de circuito (de serigrafías, de taladros, de las capas de rutado)</a:t>
            </a: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Planos de implantación de componentes.</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err="1">
                <a:latin typeface="Arial" panose="020B0604020202020204" pitchFamily="34" charset="0"/>
                <a:cs typeface="Arial" panose="020B0604020202020204" pitchFamily="34" charset="0"/>
              </a:rPr>
              <a:t>Gerber</a:t>
            </a:r>
            <a:r>
              <a:rPr lang="es-ES_tradnl" sz="1400" dirty="0">
                <a:latin typeface="Arial" panose="020B0604020202020204" pitchFamily="34" charset="0"/>
                <a:cs typeface="Arial" panose="020B0604020202020204" pitchFamily="34" charset="0"/>
              </a:rPr>
              <a:t> de las </a:t>
            </a:r>
            <a:r>
              <a:rPr lang="es-ES_tradnl" sz="1400" dirty="0" err="1">
                <a:latin typeface="Arial" panose="020B0604020202020204" pitchFamily="34" charset="0"/>
                <a:cs typeface="Arial" panose="020B0604020202020204" pitchFamily="34" charset="0"/>
              </a:rPr>
              <a:t>PCB´s</a:t>
            </a:r>
            <a:r>
              <a:rPr lang="es-ES_tradnl" sz="1400" dirty="0">
                <a:latin typeface="Arial" panose="020B0604020202020204" pitchFamily="34" charset="0"/>
                <a:cs typeface="Arial" panose="020B0604020202020204" pitchFamily="34" charset="0"/>
              </a:rPr>
              <a:t>.</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Listado y codificación de las diferentes cartas de control.</a:t>
            </a:r>
            <a:endParaRPr lang="es-ES" sz="1400" dirty="0">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i="1" dirty="0">
                <a:solidFill>
                  <a:srgbClr val="008000"/>
                </a:solidFill>
                <a:latin typeface="Arial" panose="020B0604020202020204" pitchFamily="34" charset="0"/>
                <a:cs typeface="Arial" panose="020B0604020202020204" pitchFamily="34" charset="0"/>
              </a:rPr>
              <a:t>Documentación para pruebas</a:t>
            </a:r>
            <a:endParaRPr lang="es-ES" sz="1400" dirty="0">
              <a:solidFill>
                <a:srgbClr val="008000"/>
              </a:solidFill>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Protocolos valorados para el ajuste y verificación del control.</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Protocolos valorados para la puesta en marcha del equipo.</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Equipos necesarios para pruebas.</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Infraestructura necesaria para pruebas.</a:t>
            </a:r>
            <a:endParaRPr lang="es-ES" sz="1400" dirty="0">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i="1" dirty="0">
                <a:solidFill>
                  <a:srgbClr val="008000"/>
                </a:solidFill>
                <a:latin typeface="Arial" panose="020B0604020202020204" pitchFamily="34" charset="0"/>
                <a:cs typeface="Arial" panose="020B0604020202020204" pitchFamily="34" charset="0"/>
              </a:rPr>
              <a:t>Documentación para aseguramiento de la Calidad</a:t>
            </a:r>
            <a:endParaRPr lang="es-ES" sz="1400" dirty="0">
              <a:solidFill>
                <a:srgbClr val="008000"/>
              </a:solidFill>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Protocolos de inspección para certificación de la calidad de los equipos suministrados.</a:t>
            </a:r>
            <a:endParaRPr lang="es-E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14664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070005" y="-33159"/>
            <a:ext cx="487825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cierre del proyecto</a:t>
            </a:r>
          </a:p>
        </p:txBody>
      </p:sp>
      <p:sp>
        <p:nvSpPr>
          <p:cNvPr id="4" name="3 CuadroTexto"/>
          <p:cNvSpPr txBox="1"/>
          <p:nvPr/>
        </p:nvSpPr>
        <p:spPr>
          <a:xfrm>
            <a:off x="1475656" y="819103"/>
            <a:ext cx="7117654"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Documentación en el cierre del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41</a:t>
            </a:fld>
            <a:endParaRPr lang="en-US" sz="1600" dirty="0">
              <a:solidFill>
                <a:schemeClr val="bg1"/>
              </a:solidFill>
              <a:latin typeface="Arial" panose="020B0604020202020204" pitchFamily="34" charset="0"/>
              <a:cs typeface="Arial" panose="020B0604020202020204" pitchFamily="34" charset="0"/>
            </a:endParaRPr>
          </a:p>
        </p:txBody>
      </p:sp>
      <p:grpSp>
        <p:nvGrpSpPr>
          <p:cNvPr id="10" name="Agrupar 4"/>
          <p:cNvGrpSpPr/>
          <p:nvPr/>
        </p:nvGrpSpPr>
        <p:grpSpPr>
          <a:xfrm>
            <a:off x="743322" y="1340768"/>
            <a:ext cx="4044702" cy="5349498"/>
            <a:chOff x="4896222" y="1347118"/>
            <a:chExt cx="4044702" cy="5349498"/>
          </a:xfrm>
        </p:grpSpPr>
        <p:sp>
          <p:nvSpPr>
            <p:cNvPr id="11" name="CuadroTexto 6"/>
            <p:cNvSpPr txBox="1"/>
            <p:nvPr/>
          </p:nvSpPr>
          <p:spPr>
            <a:xfrm>
              <a:off x="4921622" y="1347118"/>
              <a:ext cx="4019302" cy="1600438"/>
            </a:xfrm>
            <a:prstGeom prst="rect">
              <a:avLst/>
            </a:prstGeom>
            <a:solidFill>
              <a:schemeClr val="bg2"/>
            </a:solidFill>
          </p:spPr>
          <p:txBody>
            <a:bodyPr wrap="square" rtlCol="0">
              <a:spAutoFit/>
            </a:bodyPr>
            <a:lstStyle/>
            <a:p>
              <a:r>
                <a:rPr lang="es-ES_tradnl" sz="1400" b="1" dirty="0">
                  <a:solidFill>
                    <a:schemeClr val="accent2">
                      <a:lumMod val="75000"/>
                    </a:schemeClr>
                  </a:solidFill>
                  <a:latin typeface="Arial" panose="020B0604020202020204" pitchFamily="34" charset="0"/>
                  <a:cs typeface="Arial" panose="020B0604020202020204" pitchFamily="34" charset="0"/>
                </a:rPr>
                <a:t>DOCUMENTACIÓN PARA APROVISIONAMIENTO DE MATERIALES</a:t>
              </a:r>
            </a:p>
            <a:p>
              <a:pPr marL="285750" lvl="0" indent="-285750">
                <a:buClr>
                  <a:srgbClr val="008000"/>
                </a:buClr>
                <a:buFont typeface="Wingdings" charset="2"/>
                <a:buChar char=""/>
              </a:pPr>
              <a:r>
                <a:rPr lang="es-ES" sz="1400" dirty="0">
                  <a:latin typeface="Arial" panose="020B0604020202020204" pitchFamily="34" charset="0"/>
                  <a:cs typeface="Arial" panose="020B0604020202020204" pitchFamily="34" charset="0"/>
                </a:rPr>
                <a:t>Listado completo de materiales y componentes</a:t>
              </a:r>
            </a:p>
            <a:p>
              <a:pPr marL="285750" lvl="0" indent="-285750">
                <a:buClr>
                  <a:srgbClr val="008000"/>
                </a:buClr>
                <a:buFont typeface="Wingdings" charset="2"/>
                <a:buChar char=""/>
              </a:pPr>
              <a:r>
                <a:rPr lang="es-ES" sz="1400" dirty="0">
                  <a:latin typeface="Arial" panose="020B0604020202020204" pitchFamily="34" charset="0"/>
                  <a:cs typeface="Arial" panose="020B0604020202020204" pitchFamily="34" charset="0"/>
                </a:rPr>
                <a:t>Memoria de calidades</a:t>
              </a:r>
            </a:p>
            <a:p>
              <a:pPr marL="285750" lvl="0" indent="-285750">
                <a:buClr>
                  <a:srgbClr val="008000"/>
                </a:buClr>
                <a:buFont typeface="Wingdings" charset="2"/>
                <a:buChar char=""/>
              </a:pPr>
              <a:r>
                <a:rPr lang="es-ES" sz="1400" dirty="0">
                  <a:latin typeface="Arial" panose="020B0604020202020204" pitchFamily="34" charset="0"/>
                  <a:cs typeface="Arial" panose="020B0604020202020204" pitchFamily="34" charset="0"/>
                </a:rPr>
                <a:t>Tabla de componentes alternativos homologados</a:t>
              </a:r>
            </a:p>
          </p:txBody>
        </p:sp>
        <p:sp>
          <p:nvSpPr>
            <p:cNvPr id="12" name="CuadroTexto 8"/>
            <p:cNvSpPr txBox="1"/>
            <p:nvPr/>
          </p:nvSpPr>
          <p:spPr>
            <a:xfrm>
              <a:off x="4896222" y="3070081"/>
              <a:ext cx="4044702" cy="1877437"/>
            </a:xfrm>
            <a:prstGeom prst="rect">
              <a:avLst/>
            </a:prstGeom>
            <a:solidFill>
              <a:srgbClr val="EEECE1"/>
            </a:solidFill>
          </p:spPr>
          <p:txBody>
            <a:bodyPr wrap="square" rtlCol="0">
              <a:spAutoFit/>
            </a:bodyPr>
            <a:lstStyle/>
            <a:p>
              <a:r>
                <a:rPr lang="es-ES_tradnl" sz="1400" b="1" dirty="0">
                  <a:solidFill>
                    <a:srgbClr val="953735"/>
                  </a:solidFill>
                  <a:latin typeface="Arial" panose="020B0604020202020204" pitchFamily="34" charset="0"/>
                  <a:cs typeface="Arial" panose="020B0604020202020204" pitchFamily="34" charset="0"/>
                </a:rPr>
                <a:t>DOCUMENTACIÓN PARA EL SERVICIO DE ASISTENCIA TÉCNICA-SAT</a:t>
              </a:r>
              <a:endParaRPr lang="es-ES" sz="1400" b="1" dirty="0">
                <a:solidFill>
                  <a:srgbClr val="953735"/>
                </a:solidFill>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 sz="1400" dirty="0">
                  <a:latin typeface="Arial" panose="020B0604020202020204" pitchFamily="34" charset="0"/>
                  <a:cs typeface="Arial" panose="020B0604020202020204" pitchFamily="34" charset="0"/>
                </a:rPr>
                <a:t>Guía de diagnóstico y reparación</a:t>
              </a:r>
            </a:p>
            <a:p>
              <a:pPr marL="285750" lvl="0" indent="-285750">
                <a:buClr>
                  <a:srgbClr val="008000"/>
                </a:buClr>
                <a:buFont typeface="Wingdings" charset="2"/>
                <a:buChar char=""/>
              </a:pPr>
              <a:r>
                <a:rPr lang="es-ES" sz="1400" dirty="0">
                  <a:latin typeface="Arial" panose="020B0604020202020204" pitchFamily="34" charset="0"/>
                  <a:cs typeface="Arial" panose="020B0604020202020204" pitchFamily="34" charset="0"/>
                </a:rPr>
                <a:t>Planos de cableado</a:t>
              </a:r>
            </a:p>
            <a:p>
              <a:pPr marL="285750" lvl="0" indent="-285750">
                <a:buClr>
                  <a:srgbClr val="008000"/>
                </a:buClr>
                <a:buFont typeface="Wingdings" charset="2"/>
                <a:buChar char=""/>
              </a:pPr>
              <a:r>
                <a:rPr lang="es-ES" sz="1400" dirty="0">
                  <a:latin typeface="Arial" panose="020B0604020202020204" pitchFamily="34" charset="0"/>
                  <a:cs typeface="Arial" panose="020B0604020202020204" pitchFamily="34" charset="0"/>
                </a:rPr>
                <a:t>Planos de instalación</a:t>
              </a:r>
            </a:p>
            <a:p>
              <a:pPr marL="285750" lvl="0" indent="-285750">
                <a:buClr>
                  <a:srgbClr val="008000"/>
                </a:buClr>
                <a:buFont typeface="Wingdings" charset="2"/>
                <a:buChar char=""/>
              </a:pPr>
              <a:r>
                <a:rPr lang="es-ES" sz="1400" dirty="0">
                  <a:latin typeface="Arial" panose="020B0604020202020204" pitchFamily="34" charset="0"/>
                  <a:cs typeface="Arial" panose="020B0604020202020204" pitchFamily="34" charset="0"/>
                </a:rPr>
                <a:t>Planos de PCB, esquemáticos, etc.</a:t>
              </a:r>
            </a:p>
            <a:p>
              <a:pPr marL="285750" lvl="0" indent="-285750">
                <a:buClr>
                  <a:srgbClr val="008000"/>
                </a:buClr>
                <a:buFont typeface="Wingdings" charset="2"/>
                <a:buChar char=""/>
              </a:pPr>
              <a:r>
                <a:rPr lang="es-ES" sz="1400" dirty="0">
                  <a:latin typeface="Arial" panose="020B0604020202020204" pitchFamily="34" charset="0"/>
                  <a:cs typeface="Arial" panose="020B0604020202020204" pitchFamily="34" charset="0"/>
                </a:rPr>
                <a:t>Protocolos de puesta en marcha, ajuste y verificación</a:t>
              </a:r>
            </a:p>
          </p:txBody>
        </p:sp>
        <p:sp>
          <p:nvSpPr>
            <p:cNvPr id="13" name="CuadroTexto 9"/>
            <p:cNvSpPr txBox="1"/>
            <p:nvPr/>
          </p:nvSpPr>
          <p:spPr>
            <a:xfrm>
              <a:off x="4908922" y="5065400"/>
              <a:ext cx="4032002" cy="1631216"/>
            </a:xfrm>
            <a:prstGeom prst="rect">
              <a:avLst/>
            </a:prstGeom>
            <a:solidFill>
              <a:srgbClr val="EEECE1"/>
            </a:solidFill>
          </p:spPr>
          <p:txBody>
            <a:bodyPr wrap="square" rtlCol="0">
              <a:spAutoFit/>
            </a:bodyPr>
            <a:lstStyle/>
            <a:p>
              <a:r>
                <a:rPr lang="es-ES_tradnl" sz="1400" b="1" dirty="0">
                  <a:solidFill>
                    <a:srgbClr val="953735"/>
                  </a:solidFill>
                  <a:latin typeface="Arial" panose="020B0604020202020204" pitchFamily="34" charset="0"/>
                  <a:cs typeface="Arial" panose="020B0604020202020204" pitchFamily="34" charset="0"/>
                </a:rPr>
                <a:t>DOCUMENTACIÓN PARA EL DEPARTAMENTO COMERCIAL y MARKETING</a:t>
              </a:r>
            </a:p>
            <a:p>
              <a:pPr marL="285750" lvl="0"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Manual descriptivo del producto.</a:t>
              </a:r>
              <a:endParaRPr lang="es-ES" sz="1400" dirty="0">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Tríptico esquemático del producto.</a:t>
              </a:r>
              <a:endParaRPr lang="es-ES" sz="1400" dirty="0">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Presentación del producto.</a:t>
              </a:r>
              <a:endParaRPr lang="es-ES" sz="1400" dirty="0">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dirty="0">
                  <a:latin typeface="Arial" panose="020B0604020202020204" pitchFamily="34" charset="0"/>
                  <a:cs typeface="Arial" panose="020B0604020202020204" pitchFamily="34" charset="0"/>
                </a:rPr>
                <a:t>Video de presentación si fuere necesario</a:t>
              </a:r>
              <a:r>
                <a:rPr lang="es-ES_tradnl" sz="1600" dirty="0">
                  <a:latin typeface="Arial" panose="020B0604020202020204" pitchFamily="34" charset="0"/>
                  <a:cs typeface="Arial" panose="020B0604020202020204" pitchFamily="34" charset="0"/>
                </a:rPr>
                <a:t>.</a:t>
              </a:r>
              <a:endParaRPr lang="es-ES" sz="1600" dirty="0">
                <a:latin typeface="Arial" panose="020B0604020202020204" pitchFamily="34" charset="0"/>
                <a:cs typeface="Arial" panose="020B0604020202020204" pitchFamily="34" charset="0"/>
              </a:endParaRPr>
            </a:p>
          </p:txBody>
        </p:sp>
      </p:grpSp>
      <p:sp>
        <p:nvSpPr>
          <p:cNvPr id="14" name="CuadroTexto 11"/>
          <p:cNvSpPr txBox="1"/>
          <p:nvPr/>
        </p:nvSpPr>
        <p:spPr>
          <a:xfrm>
            <a:off x="4942904" y="1484784"/>
            <a:ext cx="4165600" cy="4893647"/>
          </a:xfrm>
          <a:prstGeom prst="rect">
            <a:avLst/>
          </a:prstGeom>
          <a:solidFill>
            <a:srgbClr val="EEECE1"/>
          </a:solidFill>
        </p:spPr>
        <p:txBody>
          <a:bodyPr wrap="square" rtlCol="0">
            <a:spAutoFit/>
          </a:bodyPr>
          <a:lstStyle/>
          <a:p>
            <a:r>
              <a:rPr lang="es-ES" sz="1400" b="1" dirty="0">
                <a:solidFill>
                  <a:srgbClr val="953735"/>
                </a:solidFill>
                <a:latin typeface="Arial" panose="020B0604020202020204" pitchFamily="34" charset="0"/>
                <a:cs typeface="Arial" panose="020B0604020202020204" pitchFamily="34" charset="0"/>
              </a:rPr>
              <a:t>DOCUMENTACIÓN PARA EL CLIENTE O USUARIO FINAL</a:t>
            </a:r>
          </a:p>
          <a:p>
            <a:pPr marL="285750" lvl="0" indent="-285750">
              <a:buClr>
                <a:srgbClr val="008000"/>
              </a:buClr>
              <a:buFont typeface="Wingdings" charset="2"/>
              <a:buChar char=""/>
            </a:pPr>
            <a:r>
              <a:rPr lang="es-ES_tradnl" sz="1400" i="1" dirty="0">
                <a:latin typeface="Arial" panose="020B0604020202020204" pitchFamily="34" charset="0"/>
                <a:cs typeface="Arial" panose="020B0604020202020204" pitchFamily="34" charset="0"/>
              </a:rPr>
              <a:t>Manual descriptivo del equipo</a:t>
            </a:r>
            <a:r>
              <a:rPr lang="es-ES_tradnl" sz="1400" dirty="0">
                <a:latin typeface="Arial" panose="020B0604020202020204" pitchFamily="34" charset="0"/>
                <a:cs typeface="Arial" panose="020B0604020202020204" pitchFamily="34" charset="0"/>
              </a:rPr>
              <a:t>:</a:t>
            </a:r>
            <a:r>
              <a:rPr lang="es-ES" sz="1400" dirty="0">
                <a:latin typeface="Arial" panose="020B0604020202020204" pitchFamily="34" charset="0"/>
                <a:cs typeface="Arial" panose="020B0604020202020204" pitchFamily="34" charset="0"/>
              </a:rPr>
              <a:t> Descripción del equipo, especificaciones, </a:t>
            </a:r>
            <a:r>
              <a:rPr lang="es-ES" sz="1400" dirty="0" err="1">
                <a:latin typeface="Arial" panose="020B0604020202020204" pitchFamily="34" charset="0"/>
                <a:cs typeface="Arial" panose="020B0604020202020204" pitchFamily="34" charset="0"/>
              </a:rPr>
              <a:t>etc</a:t>
            </a:r>
            <a:endParaRPr lang="es-ES" sz="1400" dirty="0">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i="1" dirty="0">
                <a:latin typeface="Arial" panose="020B0604020202020204" pitchFamily="34" charset="0"/>
                <a:cs typeface="Arial" panose="020B0604020202020204" pitchFamily="34" charset="0"/>
              </a:rPr>
              <a:t>Planos eléctricos.</a:t>
            </a:r>
            <a:endParaRPr lang="es-ES" sz="1400" dirty="0">
              <a:latin typeface="Arial" panose="020B0604020202020204" pitchFamily="34" charset="0"/>
              <a:cs typeface="Arial" panose="020B0604020202020204" pitchFamily="34" charset="0"/>
            </a:endParaRPr>
          </a:p>
          <a:p>
            <a:pPr marL="285750" lvl="0" indent="-285750">
              <a:buClr>
                <a:srgbClr val="008000"/>
              </a:buClr>
              <a:buFont typeface="Wingdings" charset="2"/>
              <a:buChar char=""/>
            </a:pPr>
            <a:r>
              <a:rPr lang="es-ES_tradnl" sz="1400" i="1" dirty="0">
                <a:latin typeface="Arial" panose="020B0604020202020204" pitchFamily="34" charset="0"/>
                <a:cs typeface="Arial" panose="020B0604020202020204" pitchFamily="34" charset="0"/>
              </a:rPr>
              <a:t>Manual de instalación:</a:t>
            </a:r>
            <a:r>
              <a:rPr lang="es-ES" sz="1400" dirty="0">
                <a:latin typeface="Arial" panose="020B0604020202020204" pitchFamily="34" charset="0"/>
                <a:cs typeface="Arial" panose="020B0604020202020204" pitchFamily="34" charset="0"/>
              </a:rPr>
              <a:t> Planos de instalación (si procede) ,datos de acometida, especificaciones ,guía de puesta en marcha</a:t>
            </a:r>
          </a:p>
          <a:p>
            <a:pPr marL="285750" lvl="0" indent="-285750">
              <a:buClr>
                <a:srgbClr val="008000"/>
              </a:buClr>
              <a:buFont typeface="Wingdings" charset="2"/>
              <a:buChar char=""/>
            </a:pPr>
            <a:r>
              <a:rPr lang="es-ES_tradnl" sz="1400" i="1" dirty="0">
                <a:latin typeface="Arial" panose="020B0604020202020204" pitchFamily="34" charset="0"/>
                <a:cs typeface="Arial" panose="020B0604020202020204" pitchFamily="34" charset="0"/>
              </a:rPr>
              <a:t>Manual de Instalación, Uso y Mantenimiento</a:t>
            </a:r>
            <a:r>
              <a:rPr lang="es-ES_tradnl" sz="1400" dirty="0">
                <a:latin typeface="Arial" panose="020B0604020202020204" pitchFamily="34" charset="0"/>
                <a:cs typeface="Arial" panose="020B0604020202020204" pitchFamily="34" charset="0"/>
              </a:rPr>
              <a:t>. El manual describe, para el cliente, las características generales del equipo, su puesta en marcha, y las operaciones de mantenimiento sugeridas por el fabricante así como infraestructura necesaria para su instalación y seguridades.</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 sz="1400" dirty="0">
                <a:latin typeface="Arial" panose="020B0604020202020204" pitchFamily="34" charset="0"/>
                <a:cs typeface="Arial" panose="020B0604020202020204" pitchFamily="34" charset="0"/>
              </a:rPr>
              <a:t>Guía de instalación</a:t>
            </a:r>
          </a:p>
          <a:p>
            <a:pPr marL="742950" lvl="1" indent="-285750">
              <a:buClr>
                <a:srgbClr val="008000"/>
              </a:buClr>
              <a:buFont typeface="Wingdings" charset="2"/>
              <a:buChar char="§"/>
            </a:pPr>
            <a:r>
              <a:rPr lang="es-ES" sz="1400" dirty="0">
                <a:latin typeface="Arial" panose="020B0604020202020204" pitchFamily="34" charset="0"/>
                <a:cs typeface="Arial" panose="020B0604020202020204" pitchFamily="34" charset="0"/>
              </a:rPr>
              <a:t>Guía de uso y mantenimiento</a:t>
            </a:r>
          </a:p>
          <a:p>
            <a:pPr marL="742950" lvl="1" indent="-285750">
              <a:buClr>
                <a:srgbClr val="008000"/>
              </a:buClr>
              <a:buFont typeface="Wingdings" charset="2"/>
              <a:buChar char="§"/>
            </a:pPr>
            <a:r>
              <a:rPr lang="es-ES" sz="1400" dirty="0">
                <a:latin typeface="Arial" panose="020B0604020202020204" pitchFamily="34" charset="0"/>
                <a:cs typeface="Arial" panose="020B0604020202020204" pitchFamily="34" charset="0"/>
              </a:rPr>
              <a:t>Guía de detección de averías</a:t>
            </a:r>
          </a:p>
          <a:p>
            <a:pPr marL="742950" lvl="1" indent="-285750">
              <a:buClr>
                <a:srgbClr val="008000"/>
              </a:buClr>
              <a:buFont typeface="Wingdings" charset="2"/>
              <a:buChar char="§"/>
            </a:pPr>
            <a:r>
              <a:rPr lang="es-ES" sz="1400" dirty="0">
                <a:latin typeface="Arial" panose="020B0604020202020204" pitchFamily="34" charset="0"/>
                <a:cs typeface="Arial" panose="020B0604020202020204" pitchFamily="34" charset="0"/>
              </a:rPr>
              <a:t>Lista de repuestos</a:t>
            </a:r>
          </a:p>
          <a:p>
            <a:pPr marL="742950" lvl="1" indent="-285750">
              <a:buClr>
                <a:srgbClr val="008000"/>
              </a:buClr>
              <a:buFont typeface="Wingdings" charset="2"/>
              <a:buChar char="§"/>
            </a:pPr>
            <a:r>
              <a:rPr lang="es-ES" sz="1400" dirty="0">
                <a:latin typeface="Arial" panose="020B0604020202020204" pitchFamily="34" charset="0"/>
                <a:cs typeface="Arial" panose="020B0604020202020204" pitchFamily="34" charset="0"/>
              </a:rPr>
              <a:t>Lista de distribuidores y </a:t>
            </a:r>
            <a:r>
              <a:rPr lang="es-ES" sz="1400" dirty="0" err="1">
                <a:latin typeface="Arial" panose="020B0604020202020204" pitchFamily="34" charset="0"/>
                <a:cs typeface="Arial" panose="020B0604020202020204" pitchFamily="34" charset="0"/>
              </a:rPr>
              <a:t>SATs</a:t>
            </a:r>
            <a:endParaRPr lang="es-ES" sz="1400" dirty="0">
              <a:latin typeface="Arial" panose="020B0604020202020204" pitchFamily="34" charset="0"/>
              <a:cs typeface="Arial" panose="020B0604020202020204" pitchFamily="34" charset="0"/>
            </a:endParaRPr>
          </a:p>
          <a:p>
            <a:pPr marL="742950" lvl="1" indent="-285750">
              <a:buClr>
                <a:srgbClr val="008000"/>
              </a:buClr>
              <a:buFont typeface="Wingdings" charset="2"/>
              <a:buChar char="§"/>
            </a:pPr>
            <a:r>
              <a:rPr lang="es-ES" sz="1400" dirty="0">
                <a:latin typeface="Arial" panose="020B0604020202020204" pitchFamily="34" charset="0"/>
                <a:cs typeface="Arial" panose="020B0604020202020204" pitchFamily="34" charset="0"/>
              </a:rPr>
              <a:t>Garantía, certificación de conformidad CE, y otros</a:t>
            </a:r>
          </a:p>
        </p:txBody>
      </p:sp>
    </p:spTree>
    <p:extLst>
      <p:ext uri="{BB962C8B-B14F-4D97-AF65-F5344CB8AC3E}">
        <p14:creationId xmlns:p14="http://schemas.microsoft.com/office/powerpoint/2010/main" val="14429907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070005" y="-33159"/>
            <a:ext cx="487825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cierre del proyecto</a:t>
            </a:r>
          </a:p>
        </p:txBody>
      </p:sp>
      <p:sp>
        <p:nvSpPr>
          <p:cNvPr id="4" name="3 CuadroTexto"/>
          <p:cNvSpPr txBox="1"/>
          <p:nvPr/>
        </p:nvSpPr>
        <p:spPr>
          <a:xfrm>
            <a:off x="1815205" y="692696"/>
            <a:ext cx="5598007" cy="523220"/>
          </a:xfrm>
          <a:prstGeom prst="rect">
            <a:avLst/>
          </a:prstGeom>
          <a:noFill/>
        </p:spPr>
        <p:txBody>
          <a:bodyPr wrap="none" rtlCol="0">
            <a:spAutoFit/>
          </a:bodyPr>
          <a:lstStyle/>
          <a:p>
            <a:r>
              <a:rPr lang="es-ES" sz="2800" b="1" u="sng">
                <a:solidFill>
                  <a:schemeClr val="accent3">
                    <a:lumMod val="50000"/>
                  </a:schemeClr>
                </a:solidFill>
                <a:latin typeface="Arial" panose="020B0604020202020204" pitchFamily="34" charset="0"/>
                <a:cs typeface="Arial" panose="020B0604020202020204" pitchFamily="34" charset="0"/>
              </a:rPr>
              <a:t>Auditoría de cierre </a:t>
            </a:r>
            <a:r>
              <a:rPr lang="es-ES" sz="2800" b="1" u="sng" dirty="0">
                <a:solidFill>
                  <a:schemeClr val="accent3">
                    <a:lumMod val="50000"/>
                  </a:schemeClr>
                </a:solidFill>
                <a:latin typeface="Arial" panose="020B0604020202020204" pitchFamily="34" charset="0"/>
                <a:cs typeface="Arial" panose="020B0604020202020204" pitchFamily="34" charset="0"/>
              </a:rPr>
              <a:t>del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42</a:t>
            </a:fld>
            <a:endParaRPr lang="en-US" sz="1600" dirty="0">
              <a:solidFill>
                <a:schemeClr val="bg1"/>
              </a:solidFill>
              <a:latin typeface="Arial" panose="020B0604020202020204" pitchFamily="34" charset="0"/>
              <a:cs typeface="Arial" panose="020B0604020202020204" pitchFamily="34" charset="0"/>
            </a:endParaRPr>
          </a:p>
        </p:txBody>
      </p:sp>
      <p:sp>
        <p:nvSpPr>
          <p:cNvPr id="15" name="CuadroTexto 1"/>
          <p:cNvSpPr txBox="1"/>
          <p:nvPr/>
        </p:nvSpPr>
        <p:spPr>
          <a:xfrm>
            <a:off x="1138741" y="1844824"/>
            <a:ext cx="4153339" cy="2846933"/>
          </a:xfrm>
          <a:prstGeom prst="rect">
            <a:avLst/>
          </a:prstGeom>
          <a:noFill/>
        </p:spPr>
        <p:txBody>
          <a:bodyPr wrap="square" rtlCol="0">
            <a:spAutoFit/>
          </a:bodyPr>
          <a:lstStyle/>
          <a:p>
            <a:pPr algn="just">
              <a:spcAft>
                <a:spcPts val="600"/>
              </a:spcAft>
              <a:buClr>
                <a:srgbClr val="007700"/>
              </a:buClr>
            </a:pPr>
            <a:r>
              <a:rPr lang="es-ES" sz="1600" b="1" dirty="0">
                <a:latin typeface="Arial" panose="020B0604020202020204" pitchFamily="34" charset="0"/>
                <a:cs typeface="Arial" panose="020B0604020202020204" pitchFamily="34" charset="0"/>
              </a:rPr>
              <a:t>APOYO DE LA ALTA DIRECCIÓN</a:t>
            </a:r>
          </a:p>
          <a:p>
            <a:pPr algn="just">
              <a:spcAft>
                <a:spcPts val="600"/>
              </a:spcAft>
              <a:buClr>
                <a:srgbClr val="007700"/>
              </a:buClr>
            </a:pPr>
            <a:r>
              <a:rPr lang="es-ES" sz="1600" b="1" dirty="0">
                <a:latin typeface="Arial" panose="020B0604020202020204" pitchFamily="34" charset="0"/>
                <a:cs typeface="Arial" panose="020B0604020202020204" pitchFamily="34" charset="0"/>
              </a:rPr>
              <a:t>CUMPLIMIENTO DE OBJETIVOS</a:t>
            </a:r>
          </a:p>
          <a:p>
            <a:pPr algn="just">
              <a:spcAft>
                <a:spcPts val="600"/>
              </a:spcAft>
              <a:buClr>
                <a:srgbClr val="007700"/>
              </a:buClr>
            </a:pPr>
            <a:r>
              <a:rPr lang="es-ES" sz="1600" b="1" dirty="0">
                <a:latin typeface="Arial" panose="020B0604020202020204" pitchFamily="34" charset="0"/>
                <a:cs typeface="Arial" panose="020B0604020202020204" pitchFamily="34" charset="0"/>
              </a:rPr>
              <a:t>DEFINICIÓN DEL PROYECTO</a:t>
            </a:r>
          </a:p>
          <a:p>
            <a:pPr algn="just">
              <a:spcAft>
                <a:spcPts val="600"/>
              </a:spcAft>
              <a:buClr>
                <a:srgbClr val="007700"/>
              </a:buClr>
            </a:pPr>
            <a:r>
              <a:rPr lang="es-ES" sz="1600" b="1" dirty="0">
                <a:latin typeface="Arial" panose="020B0604020202020204" pitchFamily="34" charset="0"/>
                <a:cs typeface="Arial" panose="020B0604020202020204" pitchFamily="34" charset="0"/>
              </a:rPr>
              <a:t>ANÁLISIS DE VIABILIDAD Y RIESGOS</a:t>
            </a:r>
          </a:p>
          <a:p>
            <a:pPr>
              <a:spcAft>
                <a:spcPts val="600"/>
              </a:spcAft>
              <a:buClr>
                <a:srgbClr val="008000"/>
              </a:buClr>
            </a:pPr>
            <a:r>
              <a:rPr lang="es-ES" sz="1600" b="1" dirty="0">
                <a:latin typeface="Arial" panose="020B0604020202020204" pitchFamily="34" charset="0"/>
                <a:cs typeface="Arial" panose="020B0604020202020204" pitchFamily="34" charset="0"/>
              </a:rPr>
              <a:t>PLANIFICACIÓN DEL PROYECTO</a:t>
            </a:r>
          </a:p>
          <a:p>
            <a:pPr algn="just">
              <a:spcAft>
                <a:spcPts val="600"/>
              </a:spcAft>
              <a:buClr>
                <a:srgbClr val="007700"/>
              </a:buClr>
            </a:pPr>
            <a:r>
              <a:rPr lang="es-ES" sz="1600" b="1" dirty="0">
                <a:latin typeface="Arial" panose="020B0604020202020204" pitchFamily="34" charset="0"/>
                <a:cs typeface="Arial" panose="020B0604020202020204" pitchFamily="34" charset="0"/>
              </a:rPr>
              <a:t>EQUIPO DEL PROYECTO</a:t>
            </a:r>
          </a:p>
          <a:p>
            <a:pPr algn="just">
              <a:spcAft>
                <a:spcPts val="600"/>
              </a:spcAft>
              <a:buClr>
                <a:srgbClr val="007700"/>
              </a:buClr>
            </a:pPr>
            <a:r>
              <a:rPr lang="es-ES" sz="1600" b="1" dirty="0">
                <a:latin typeface="Arial" panose="020B0604020202020204" pitchFamily="34" charset="0"/>
                <a:cs typeface="Arial" panose="020B0604020202020204" pitchFamily="34" charset="0"/>
              </a:rPr>
              <a:t>SUBCONTRATACIONES</a:t>
            </a:r>
          </a:p>
          <a:p>
            <a:pPr algn="just">
              <a:buClr>
                <a:srgbClr val="007700"/>
              </a:buClr>
            </a:pPr>
            <a:endParaRPr lang="es-ES" sz="1600" b="1" dirty="0">
              <a:latin typeface="Arial" panose="020B0604020202020204" pitchFamily="34" charset="0"/>
              <a:cs typeface="Arial" panose="020B0604020202020204" pitchFamily="34" charset="0"/>
            </a:endParaRPr>
          </a:p>
          <a:p>
            <a:pPr algn="just">
              <a:buClr>
                <a:srgbClr val="007700"/>
              </a:buClr>
            </a:pPr>
            <a:endParaRPr lang="es-ES" sz="1600" b="1" dirty="0">
              <a:latin typeface="Arial" panose="020B0604020202020204" pitchFamily="34" charset="0"/>
              <a:cs typeface="Arial" panose="020B0604020202020204" pitchFamily="34" charset="0"/>
            </a:endParaRPr>
          </a:p>
        </p:txBody>
      </p:sp>
      <p:sp>
        <p:nvSpPr>
          <p:cNvPr id="16" name="CuadroTexto 1"/>
          <p:cNvSpPr txBox="1"/>
          <p:nvPr/>
        </p:nvSpPr>
        <p:spPr>
          <a:xfrm>
            <a:off x="5539375" y="2420888"/>
            <a:ext cx="2921057" cy="1308050"/>
          </a:xfrm>
          <a:prstGeom prst="rect">
            <a:avLst/>
          </a:prstGeom>
          <a:solidFill>
            <a:srgbClr val="D9D9D9"/>
          </a:solidFill>
        </p:spPr>
        <p:txBody>
          <a:bodyPr wrap="square" rtlCol="0">
            <a:spAutoFit/>
          </a:bodyPr>
          <a:lstStyle/>
          <a:p>
            <a:pPr algn="just">
              <a:spcAft>
                <a:spcPts val="600"/>
              </a:spcAft>
            </a:pPr>
            <a:r>
              <a:rPr lang="es-ES" sz="1600" b="1" dirty="0">
                <a:solidFill>
                  <a:srgbClr val="C00000"/>
                </a:solidFill>
                <a:latin typeface="Arial" panose="020B0604020202020204" pitchFamily="34" charset="0"/>
                <a:cs typeface="Arial" panose="020B0604020202020204" pitchFamily="34" charset="0"/>
              </a:rPr>
              <a:t>RECOMENDACIONES </a:t>
            </a:r>
          </a:p>
          <a:p>
            <a:pPr algn="just">
              <a:spcAft>
                <a:spcPts val="600"/>
              </a:spcAft>
            </a:pPr>
            <a:r>
              <a:rPr lang="es-ES" sz="1600" b="1" dirty="0">
                <a:solidFill>
                  <a:srgbClr val="C00000"/>
                </a:solidFill>
                <a:latin typeface="Arial" panose="020B0604020202020204" pitchFamily="34" charset="0"/>
                <a:cs typeface="Arial" panose="020B0604020202020204" pitchFamily="34" charset="0"/>
              </a:rPr>
              <a:t>LECCIONES APRENDIDAS </a:t>
            </a:r>
          </a:p>
          <a:p>
            <a:pPr algn="just">
              <a:spcAft>
                <a:spcPts val="600"/>
              </a:spcAft>
            </a:pPr>
            <a:r>
              <a:rPr lang="es-ES" sz="1600" b="1" dirty="0">
                <a:solidFill>
                  <a:srgbClr val="C00000"/>
                </a:solidFill>
                <a:latin typeface="Arial" panose="020B0604020202020204" pitchFamily="34" charset="0"/>
                <a:cs typeface="Arial" panose="020B0604020202020204" pitchFamily="34" charset="0"/>
              </a:rPr>
              <a:t>APÉNDICES</a:t>
            </a:r>
          </a:p>
          <a:p>
            <a:pPr algn="just">
              <a:spcAft>
                <a:spcPts val="600"/>
              </a:spcAft>
            </a:pPr>
            <a:r>
              <a:rPr lang="es-ES" sz="1600" b="1" dirty="0">
                <a:solidFill>
                  <a:srgbClr val="C00000"/>
                </a:solidFill>
                <a:latin typeface="Arial" panose="020B0604020202020204" pitchFamily="34" charset="0"/>
                <a:cs typeface="Arial" panose="020B0604020202020204" pitchFamily="34" charset="0"/>
              </a:rPr>
              <a:t>DOCUMENTO RESUMEN</a:t>
            </a:r>
          </a:p>
        </p:txBody>
      </p:sp>
      <p:sp>
        <p:nvSpPr>
          <p:cNvPr id="5" name="4 Cerrar llave"/>
          <p:cNvSpPr/>
          <p:nvPr/>
        </p:nvSpPr>
        <p:spPr>
          <a:xfrm>
            <a:off x="4813782" y="1700808"/>
            <a:ext cx="478298" cy="2880320"/>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474100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Forma en L"/>
          <p:cNvSpPr/>
          <p:nvPr/>
        </p:nvSpPr>
        <p:spPr>
          <a:xfrm rot="5400000">
            <a:off x="1108166" y="-1177835"/>
            <a:ext cx="6891161" cy="9180514"/>
          </a:xfrm>
          <a:prstGeom prst="corner">
            <a:avLst>
              <a:gd name="adj1" fmla="val 9937"/>
              <a:gd name="adj2" fmla="val 10583"/>
            </a:avLst>
          </a:prstGeom>
          <a:gradFill flip="none" rotWithShape="1">
            <a:gsLst>
              <a:gs pos="100000">
                <a:srgbClr val="83A62A"/>
              </a:gs>
              <a:gs pos="0">
                <a:schemeClr val="tx1"/>
              </a:gs>
              <a:gs pos="9000">
                <a:schemeClr val="tx1"/>
              </a:gs>
              <a:gs pos="24000">
                <a:schemeClr val="accent3">
                  <a:lumMod val="50000"/>
                </a:schemeClr>
              </a:gs>
              <a:gs pos="61000">
                <a:srgbClr val="83A62A"/>
              </a:gs>
            </a:gsLst>
            <a:path path="rect">
              <a:fillToRect t="100000" r="100000"/>
            </a:path>
            <a:tileRect l="-100000" b="-100000"/>
          </a:gradFill>
          <a:ln>
            <a:noFill/>
          </a:ln>
          <a:effectLst>
            <a:innerShdw blurRad="63500" dist="1016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CuadroTexto"/>
          <p:cNvSpPr txBox="1"/>
          <p:nvPr/>
        </p:nvSpPr>
        <p:spPr>
          <a:xfrm>
            <a:off x="2070005" y="-33159"/>
            <a:ext cx="4878259" cy="646331"/>
          </a:xfrm>
          <a:prstGeom prst="rect">
            <a:avLst/>
          </a:prstGeom>
          <a:noFill/>
        </p:spPr>
        <p:txBody>
          <a:bodyPr wrap="none" rtlCol="0">
            <a:spAutoFit/>
          </a:bodyPr>
          <a:lstStyle/>
          <a:p>
            <a:r>
              <a:rPr lang="es-ES" sz="3600" b="1" dirty="0">
                <a:solidFill>
                  <a:schemeClr val="bg1"/>
                </a:solidFill>
                <a:latin typeface="Arial" panose="020B0604020202020204" pitchFamily="34" charset="0"/>
                <a:cs typeface="Arial" panose="020B0604020202020204" pitchFamily="34" charset="0"/>
              </a:rPr>
              <a:t>El cierre del proyecto</a:t>
            </a:r>
          </a:p>
        </p:txBody>
      </p:sp>
      <p:sp>
        <p:nvSpPr>
          <p:cNvPr id="4" name="3 CuadroTexto"/>
          <p:cNvSpPr txBox="1"/>
          <p:nvPr/>
        </p:nvSpPr>
        <p:spPr>
          <a:xfrm>
            <a:off x="2554812" y="692696"/>
            <a:ext cx="4033412" cy="523220"/>
          </a:xfrm>
          <a:prstGeom prst="rect">
            <a:avLst/>
          </a:prstGeom>
          <a:noFill/>
        </p:spPr>
        <p:txBody>
          <a:bodyPr wrap="none" rtlCol="0">
            <a:spAutoFit/>
          </a:bodyPr>
          <a:lstStyle/>
          <a:p>
            <a:r>
              <a:rPr lang="es-ES" sz="2800" b="1" u="sng" dirty="0">
                <a:solidFill>
                  <a:schemeClr val="accent3">
                    <a:lumMod val="50000"/>
                  </a:schemeClr>
                </a:solidFill>
                <a:latin typeface="Arial" panose="020B0604020202020204" pitchFamily="34" charset="0"/>
                <a:cs typeface="Arial" panose="020B0604020202020204" pitchFamily="34" charset="0"/>
              </a:rPr>
              <a:t>Visado de un proyecto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1" y="1"/>
            <a:ext cx="713290" cy="705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Marcador de número de diapositiva"/>
          <p:cNvSpPr>
            <a:spLocks noGrp="1"/>
          </p:cNvSpPr>
          <p:nvPr>
            <p:ph type="sldNum" sz="quarter" idx="12"/>
          </p:nvPr>
        </p:nvSpPr>
        <p:spPr>
          <a:xfrm>
            <a:off x="16178" y="6309320"/>
            <a:ext cx="523374" cy="365125"/>
          </a:xfrm>
        </p:spPr>
        <p:txBody>
          <a:bodyPr/>
          <a:lstStyle/>
          <a:p>
            <a:fld id="{DAD8BA2F-E335-4939-99DC-A7E50E548284}" type="slidenum">
              <a:rPr lang="en-US" sz="1600" smtClean="0">
                <a:solidFill>
                  <a:schemeClr val="bg1"/>
                </a:solidFill>
                <a:latin typeface="Arial" panose="020B0604020202020204" pitchFamily="34" charset="0"/>
                <a:cs typeface="Arial" panose="020B0604020202020204" pitchFamily="34" charset="0"/>
              </a:rPr>
              <a:t>43</a:t>
            </a:fld>
            <a:endParaRPr lang="en-US" sz="1600" dirty="0">
              <a:solidFill>
                <a:schemeClr val="bg1"/>
              </a:solidFill>
              <a:latin typeface="Arial" panose="020B0604020202020204" pitchFamily="34" charset="0"/>
              <a:cs typeface="Arial" panose="020B0604020202020204" pitchFamily="34" charset="0"/>
            </a:endParaRPr>
          </a:p>
        </p:txBody>
      </p:sp>
      <p:pic>
        <p:nvPicPr>
          <p:cNvPr id="10" name="Imagen 1"/>
          <p:cNvPicPr>
            <a:picLocks noChangeAspect="1"/>
          </p:cNvPicPr>
          <p:nvPr/>
        </p:nvPicPr>
        <p:blipFill>
          <a:blip r:embed="rId4"/>
          <a:stretch>
            <a:fillRect/>
          </a:stretch>
        </p:blipFill>
        <p:spPr>
          <a:xfrm>
            <a:off x="919276" y="1556792"/>
            <a:ext cx="8023967" cy="5021808"/>
          </a:xfrm>
          <a:prstGeom prst="rect">
            <a:avLst/>
          </a:prstGeom>
        </p:spPr>
      </p:pic>
    </p:spTree>
    <p:extLst>
      <p:ext uri="{BB962C8B-B14F-4D97-AF65-F5344CB8AC3E}">
        <p14:creationId xmlns:p14="http://schemas.microsoft.com/office/powerpoint/2010/main" val="128493763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2655</TotalTime>
  <Words>3431</Words>
  <Application>Microsoft Office PowerPoint</Application>
  <PresentationFormat>Presentación en pantalla (4:3)</PresentationFormat>
  <Paragraphs>570</Paragraphs>
  <Slides>43</Slides>
  <Notes>42</Notes>
  <HiddenSlides>0</HiddenSlides>
  <MMClips>0</MMClips>
  <ScaleCrop>false</ScaleCrop>
  <HeadingPairs>
    <vt:vector size="8" baseType="variant">
      <vt:variant>
        <vt:lpstr>Fuentes usadas</vt:lpstr>
      </vt:variant>
      <vt:variant>
        <vt:i4>3</vt:i4>
      </vt:variant>
      <vt:variant>
        <vt:lpstr>Tema</vt:lpstr>
      </vt:variant>
      <vt:variant>
        <vt:i4>1</vt:i4>
      </vt:variant>
      <vt:variant>
        <vt:lpstr>Servidores OLE incrustados</vt:lpstr>
      </vt:variant>
      <vt:variant>
        <vt:i4>1</vt:i4>
      </vt:variant>
      <vt:variant>
        <vt:lpstr>Títulos de diapositiva</vt:lpstr>
      </vt:variant>
      <vt:variant>
        <vt:i4>43</vt:i4>
      </vt:variant>
    </vt:vector>
  </HeadingPairs>
  <TitlesOfParts>
    <vt:vector size="48" baseType="lpstr">
      <vt:lpstr>Arial</vt:lpstr>
      <vt:lpstr>Calibri</vt:lpstr>
      <vt:lpstr>Wingdings</vt:lpstr>
      <vt:lpstr>Tema de Office</vt:lpstr>
      <vt:lpstr>Documento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Isaac</dc:creator>
  <cp:lastModifiedBy>Alejandro Laguna Sanz</cp:lastModifiedBy>
  <cp:revision>147</cp:revision>
  <dcterms:created xsi:type="dcterms:W3CDTF">2018-12-24T14:35:07Z</dcterms:created>
  <dcterms:modified xsi:type="dcterms:W3CDTF">2025-03-09T20:06:46Z</dcterms:modified>
</cp:coreProperties>
</file>